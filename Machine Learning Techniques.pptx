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 id="265" r:id="rId10"/>
    <p:sldId id="266" r:id="rId11"/>
    <p:sldId id="273" r:id="rId12"/>
    <p:sldId id="275" r:id="rId13"/>
    <p:sldId id="276" r:id="rId14"/>
    <p:sldId id="277"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D52DAE-3ABD-DDAB-2A53-F0552F188D8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3E4F877-E7E7-B940-7B9E-6675B7F7BE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9272E7B-BBAB-0599-5377-4F6ACAA05AFB}"/>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5" name="Espace réservé du pied de page 4">
            <a:extLst>
              <a:ext uri="{FF2B5EF4-FFF2-40B4-BE49-F238E27FC236}">
                <a16:creationId xmlns:a16="http://schemas.microsoft.com/office/drawing/2014/main" id="{30F14D93-133A-31E1-C13E-406D8FB2E37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D4956DB-A103-BC97-93DD-BD3FD6B5E005}"/>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4210475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6BF38F-FFF7-755F-1771-1C63643811C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FF05309-3257-EF7B-CF7D-9C45BDC5F56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BE7A385-9272-B432-1CA5-799B93CC20BC}"/>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5" name="Espace réservé du pied de page 4">
            <a:extLst>
              <a:ext uri="{FF2B5EF4-FFF2-40B4-BE49-F238E27FC236}">
                <a16:creationId xmlns:a16="http://schemas.microsoft.com/office/drawing/2014/main" id="{BAD11FB6-F9DA-6C80-A900-D70465C2E67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C308646-A349-952F-786E-4D6DEC85777C}"/>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1721576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29A96B-5E61-1669-280C-963227DD1EF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858C178-048F-620A-9E54-DED5C4763F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A3E1994-E523-C299-9F47-73983581DC93}"/>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5" name="Espace réservé du pied de page 4">
            <a:extLst>
              <a:ext uri="{FF2B5EF4-FFF2-40B4-BE49-F238E27FC236}">
                <a16:creationId xmlns:a16="http://schemas.microsoft.com/office/drawing/2014/main" id="{E1921B82-5FE0-4C66-3671-8C3A427A664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07B3817-5819-C30E-7465-F590150799A6}"/>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747899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E77962-F3D4-B7C8-41C3-E0732DCE1EA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9B5B8E5-B381-9837-4351-7DFEC1F1228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872F81A-0E49-163A-252D-FAD96F198B6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0FD76E7-0407-2D5E-6C5B-F40DF59F85D4}"/>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6" name="Espace réservé du pied de page 5">
            <a:extLst>
              <a:ext uri="{FF2B5EF4-FFF2-40B4-BE49-F238E27FC236}">
                <a16:creationId xmlns:a16="http://schemas.microsoft.com/office/drawing/2014/main" id="{A058B5B7-C0A9-84A8-9376-D90A56BAFD7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6A0F5A1-8223-B21D-248C-C469AF4ECEF9}"/>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3462339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8517B1-A2EB-BC5E-93DA-68A6A1A799F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E3DE6C0-AD7C-352A-2D4E-C188C3672F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4DAFCA1-685F-5326-DB00-A236FF73F3C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7C02420-939A-FAB5-C054-AABEF13B88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6F5BEA0-5463-DC9E-C5B7-343F1B688D4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078E3E8D-CB22-620B-29A9-025DF74F413D}"/>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8" name="Espace réservé du pied de page 7">
            <a:extLst>
              <a:ext uri="{FF2B5EF4-FFF2-40B4-BE49-F238E27FC236}">
                <a16:creationId xmlns:a16="http://schemas.microsoft.com/office/drawing/2014/main" id="{F08C2C9E-175C-CC75-391C-F529685E666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8059841-D57F-FB33-5446-DD11F53E03FD}"/>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1874176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48E4E8-810C-81E5-D05C-CF65631B787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B73E290-46D2-7871-1968-48BDCC955A1E}"/>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4" name="Espace réservé du pied de page 3">
            <a:extLst>
              <a:ext uri="{FF2B5EF4-FFF2-40B4-BE49-F238E27FC236}">
                <a16:creationId xmlns:a16="http://schemas.microsoft.com/office/drawing/2014/main" id="{E269F8B3-8F9A-D2E3-C357-0C3DBC5F95D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B69C252-4AB5-0F06-E0CF-A1D4DA26DEBA}"/>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2691504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A52D154-58EC-5E5C-6CB8-3E62CA18D9CB}"/>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3" name="Espace réservé du pied de page 2">
            <a:extLst>
              <a:ext uri="{FF2B5EF4-FFF2-40B4-BE49-F238E27FC236}">
                <a16:creationId xmlns:a16="http://schemas.microsoft.com/office/drawing/2014/main" id="{BEF10663-37FA-34F9-0609-E799DD392C1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ABCCAE7-D606-03E4-EF6F-F21DB363C8A6}"/>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1121888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30CABB-7C04-BD5D-2698-71CB014ADCE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AC6E3B9-9505-1538-8C2B-1010BE9206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A56EE62-C220-2C36-17AA-28E939ACA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EBD002E-F6B1-11E5-D31F-1F1DA37DD907}"/>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6" name="Espace réservé du pied de page 5">
            <a:extLst>
              <a:ext uri="{FF2B5EF4-FFF2-40B4-BE49-F238E27FC236}">
                <a16:creationId xmlns:a16="http://schemas.microsoft.com/office/drawing/2014/main" id="{E3DD3267-748D-BA84-11C3-BD3ED67E2C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AD575A-2270-F309-CB24-5428971100DF}"/>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347874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1C271E-D50B-579C-9D2A-C4772D9A32E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EA91EC0-AEEC-3C40-D102-AE85D0A9A1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926EA40-21A8-F52B-F056-5A311FA8C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3C0C8FB-4DA7-3393-CE2C-EA555F4CD78C}"/>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6" name="Espace réservé du pied de page 5">
            <a:extLst>
              <a:ext uri="{FF2B5EF4-FFF2-40B4-BE49-F238E27FC236}">
                <a16:creationId xmlns:a16="http://schemas.microsoft.com/office/drawing/2014/main" id="{755BFE4E-CAD1-8FA6-88B0-5CF78D20520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2FB4F8B-72D3-937D-7B7D-0AA59FFA3F2D}"/>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3060622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4CAEA5-B770-046A-ACD4-53D134E6531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A593F1A-A907-363A-E645-889A27DDEEB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9C553D-DBF7-2202-C4FA-3621D5B7DF12}"/>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5" name="Espace réservé du pied de page 4">
            <a:extLst>
              <a:ext uri="{FF2B5EF4-FFF2-40B4-BE49-F238E27FC236}">
                <a16:creationId xmlns:a16="http://schemas.microsoft.com/office/drawing/2014/main" id="{CA97A7BE-4803-9A22-128B-E03735BF9AB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7667B1C-8362-2354-8861-3369DEA28DFF}"/>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1661394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6DE7B4F-FD2A-2312-0A1F-D092F3AEC3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FC4D0AE-C878-0CFC-6756-A2856DAD15E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B9F8AA6-879C-4B85-2693-011D8AC2A058}"/>
              </a:ext>
            </a:extLst>
          </p:cNvPr>
          <p:cNvSpPr>
            <a:spLocks noGrp="1"/>
          </p:cNvSpPr>
          <p:nvPr>
            <p:ph type="dt" sz="half" idx="10"/>
          </p:nvPr>
        </p:nvSpPr>
        <p:spPr/>
        <p:txBody>
          <a:bodyPr/>
          <a:lstStyle/>
          <a:p>
            <a:fld id="{31B722E6-FD5E-4A26-A5BB-45AC2C35873F}" type="datetimeFigureOut">
              <a:rPr lang="fr-FR" smtClean="0"/>
              <a:t>15/08/2026</a:t>
            </a:fld>
            <a:endParaRPr lang="fr-FR"/>
          </a:p>
        </p:txBody>
      </p:sp>
      <p:sp>
        <p:nvSpPr>
          <p:cNvPr id="5" name="Espace réservé du pied de page 4">
            <a:extLst>
              <a:ext uri="{FF2B5EF4-FFF2-40B4-BE49-F238E27FC236}">
                <a16:creationId xmlns:a16="http://schemas.microsoft.com/office/drawing/2014/main" id="{C05C5F37-D38D-0839-BD7E-3B2D95A81C1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EE899AC-9DCC-49D1-6FDC-1A41198A536A}"/>
              </a:ext>
            </a:extLst>
          </p:cNvPr>
          <p:cNvSpPr>
            <a:spLocks noGrp="1"/>
          </p:cNvSpPr>
          <p:nvPr>
            <p:ph type="sldNum" sz="quarter" idx="12"/>
          </p:nvPr>
        </p:nvSpPr>
        <p:spPr/>
        <p:txBody>
          <a:bodyPr/>
          <a:lstStyle/>
          <a:p>
            <a:fld id="{261487B4-4D3A-435C-84EA-09A7DED7C6ED}" type="slidenum">
              <a:rPr lang="fr-FR" smtClean="0"/>
              <a:t>‹N°›</a:t>
            </a:fld>
            <a:endParaRPr lang="fr-FR"/>
          </a:p>
        </p:txBody>
      </p:sp>
    </p:spTree>
    <p:extLst>
      <p:ext uri="{BB962C8B-B14F-4D97-AF65-F5344CB8AC3E}">
        <p14:creationId xmlns:p14="http://schemas.microsoft.com/office/powerpoint/2010/main" val="3270022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137CD14-B465-413F-D719-8EAB94F10D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36C34A0-2130-B586-C941-0CEFB30719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6FA55E-525C-79F9-680E-7F1F30CA55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B722E6-FD5E-4A26-A5BB-45AC2C35873F}" type="datetimeFigureOut">
              <a:rPr lang="fr-FR" smtClean="0"/>
              <a:t>15/08/2026</a:t>
            </a:fld>
            <a:endParaRPr lang="fr-FR"/>
          </a:p>
        </p:txBody>
      </p:sp>
      <p:sp>
        <p:nvSpPr>
          <p:cNvPr id="5" name="Espace réservé du pied de page 4">
            <a:extLst>
              <a:ext uri="{FF2B5EF4-FFF2-40B4-BE49-F238E27FC236}">
                <a16:creationId xmlns:a16="http://schemas.microsoft.com/office/drawing/2014/main" id="{24FCB5AF-F3C0-B06E-2E5F-5BE8FDF454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43C61A2-B4B4-1A6B-822A-84771F3D74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1487B4-4D3A-435C-84EA-09A7DED7C6ED}" type="slidenum">
              <a:rPr lang="fr-FR" smtClean="0"/>
              <a:t>‹N°›</a:t>
            </a:fld>
            <a:endParaRPr lang="fr-FR"/>
          </a:p>
        </p:txBody>
      </p:sp>
    </p:spTree>
    <p:extLst>
      <p:ext uri="{BB962C8B-B14F-4D97-AF65-F5344CB8AC3E}">
        <p14:creationId xmlns:p14="http://schemas.microsoft.com/office/powerpoint/2010/main" val="1834931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0284E5-3188-D5B6-43D4-B8E5D4C7FA8C}"/>
              </a:ext>
            </a:extLst>
          </p:cNvPr>
          <p:cNvSpPr>
            <a:spLocks noGrp="1"/>
          </p:cNvSpPr>
          <p:nvPr>
            <p:ph type="ctrTitle"/>
          </p:nvPr>
        </p:nvSpPr>
        <p:spPr/>
        <p:txBody>
          <a:bodyPr/>
          <a:lstStyle/>
          <a:p>
            <a:r>
              <a:rPr lang="fr-FR" dirty="0"/>
              <a:t>Machine Learning Techniques</a:t>
            </a:r>
          </a:p>
        </p:txBody>
      </p:sp>
    </p:spTree>
    <p:extLst>
      <p:ext uri="{BB962C8B-B14F-4D97-AF65-F5344CB8AC3E}">
        <p14:creationId xmlns:p14="http://schemas.microsoft.com/office/powerpoint/2010/main" val="43134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C4FECC-9EE6-E1DE-D200-1E021FC00D93}"/>
              </a:ext>
            </a:extLst>
          </p:cNvPr>
          <p:cNvSpPr>
            <a:spLocks noGrp="1"/>
          </p:cNvSpPr>
          <p:nvPr>
            <p:ph type="title"/>
          </p:nvPr>
        </p:nvSpPr>
        <p:spPr/>
        <p:txBody>
          <a:bodyPr/>
          <a:lstStyle/>
          <a:p>
            <a:r>
              <a:rPr lang="fr-FR" dirty="0"/>
              <a:t>Machine Learning Techniques</a:t>
            </a:r>
          </a:p>
        </p:txBody>
      </p:sp>
      <p:sp>
        <p:nvSpPr>
          <p:cNvPr id="4" name="Rectangle 3">
            <a:extLst>
              <a:ext uri="{FF2B5EF4-FFF2-40B4-BE49-F238E27FC236}">
                <a16:creationId xmlns:a16="http://schemas.microsoft.com/office/drawing/2014/main" id="{E386FD6C-411F-626B-D96F-CA3F45836EBF}"/>
              </a:ext>
            </a:extLst>
          </p:cNvPr>
          <p:cNvSpPr/>
          <p:nvPr/>
        </p:nvSpPr>
        <p:spPr>
          <a:xfrm>
            <a:off x="4667250" y="1909763"/>
            <a:ext cx="2628900" cy="8810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Times New Roman" panose="02020603050405020304" pitchFamily="18" charset="0"/>
                <a:cs typeface="Times New Roman" panose="02020603050405020304" pitchFamily="18" charset="0"/>
              </a:rPr>
              <a:t>ML Techniques</a:t>
            </a:r>
          </a:p>
        </p:txBody>
      </p:sp>
      <p:sp>
        <p:nvSpPr>
          <p:cNvPr id="5" name="Rectangle 4">
            <a:extLst>
              <a:ext uri="{FF2B5EF4-FFF2-40B4-BE49-F238E27FC236}">
                <a16:creationId xmlns:a16="http://schemas.microsoft.com/office/drawing/2014/main" id="{CFCFF80F-38A9-BB81-8636-03517F32A022}"/>
              </a:ext>
            </a:extLst>
          </p:cNvPr>
          <p:cNvSpPr/>
          <p:nvPr/>
        </p:nvSpPr>
        <p:spPr>
          <a:xfrm>
            <a:off x="8496300" y="4233863"/>
            <a:ext cx="2628900" cy="8810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Times New Roman" panose="02020603050405020304" pitchFamily="18" charset="0"/>
                <a:cs typeface="Times New Roman" panose="02020603050405020304" pitchFamily="18" charset="0"/>
              </a:rPr>
              <a:t>Cross Validation</a:t>
            </a:r>
          </a:p>
          <a:p>
            <a:pPr algn="ctr"/>
            <a:endParaRPr lang="en-GB" b="1"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D89B67F5-B669-4B8D-2620-0C9B2C5E1FF5}"/>
              </a:ext>
            </a:extLst>
          </p:cNvPr>
          <p:cNvSpPr/>
          <p:nvPr/>
        </p:nvSpPr>
        <p:spPr>
          <a:xfrm>
            <a:off x="4667250" y="4233863"/>
            <a:ext cx="2628900" cy="8810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latin typeface="Times New Roman" panose="02020603050405020304" pitchFamily="18" charset="0"/>
                <a:cs typeface="Times New Roman" panose="02020603050405020304" pitchFamily="18" charset="0"/>
              </a:rPr>
              <a:t>Bagging and Boosting</a:t>
            </a:r>
            <a:endParaRPr lang="en-GB" b="1"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D57A7864-FF53-D5EF-50B4-E7996CE647F1}"/>
              </a:ext>
            </a:extLst>
          </p:cNvPr>
          <p:cNvSpPr/>
          <p:nvPr/>
        </p:nvSpPr>
        <p:spPr>
          <a:xfrm>
            <a:off x="838200" y="4233863"/>
            <a:ext cx="2628900" cy="8810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Times New Roman" panose="02020603050405020304" pitchFamily="18" charset="0"/>
                <a:cs typeface="Times New Roman" panose="02020603050405020304" pitchFamily="18" charset="0"/>
              </a:rPr>
              <a:t>Regularization</a:t>
            </a:r>
          </a:p>
        </p:txBody>
      </p:sp>
      <p:cxnSp>
        <p:nvCxnSpPr>
          <p:cNvPr id="9" name="Connecteur droit avec flèche 8">
            <a:extLst>
              <a:ext uri="{FF2B5EF4-FFF2-40B4-BE49-F238E27FC236}">
                <a16:creationId xmlns:a16="http://schemas.microsoft.com/office/drawing/2014/main" id="{7E771B49-FB02-348D-F65D-76D1A90804F7}"/>
              </a:ext>
            </a:extLst>
          </p:cNvPr>
          <p:cNvCxnSpPr>
            <a:stCxn id="4" idx="1"/>
            <a:endCxn id="7" idx="0"/>
          </p:cNvCxnSpPr>
          <p:nvPr/>
        </p:nvCxnSpPr>
        <p:spPr>
          <a:xfrm flipH="1">
            <a:off x="2152650" y="2350294"/>
            <a:ext cx="2514600" cy="18835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EB0FDC86-281B-C05D-A747-A6C140370D78}"/>
              </a:ext>
            </a:extLst>
          </p:cNvPr>
          <p:cNvCxnSpPr>
            <a:stCxn id="4" idx="2"/>
            <a:endCxn id="6" idx="0"/>
          </p:cNvCxnSpPr>
          <p:nvPr/>
        </p:nvCxnSpPr>
        <p:spPr>
          <a:xfrm>
            <a:off x="5981700" y="2790825"/>
            <a:ext cx="0" cy="1443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00404FB9-098E-50A9-18AC-A9A384CFAE60}"/>
              </a:ext>
            </a:extLst>
          </p:cNvPr>
          <p:cNvCxnSpPr>
            <a:stCxn id="4" idx="3"/>
            <a:endCxn id="5" idx="0"/>
          </p:cNvCxnSpPr>
          <p:nvPr/>
        </p:nvCxnSpPr>
        <p:spPr>
          <a:xfrm>
            <a:off x="7296150" y="2350294"/>
            <a:ext cx="2514600" cy="18835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952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D282A6-AFDB-9BBD-EDA2-FB40DDB16EFE}"/>
              </a:ext>
            </a:extLst>
          </p:cNvPr>
          <p:cNvSpPr>
            <a:spLocks noGrp="1"/>
          </p:cNvSpPr>
          <p:nvPr>
            <p:ph type="title"/>
          </p:nvPr>
        </p:nvSpPr>
        <p:spPr/>
        <p:txBody>
          <a:bodyPr/>
          <a:lstStyle/>
          <a:p>
            <a:r>
              <a:rPr lang="fr-FR" dirty="0"/>
              <a:t>Ensemble Techniques : Bagging and </a:t>
            </a:r>
            <a:r>
              <a:rPr lang="fr-FR" dirty="0" err="1"/>
              <a:t>Boosting</a:t>
            </a:r>
            <a:endParaRPr lang="fr-FR" dirty="0"/>
          </a:p>
        </p:txBody>
      </p:sp>
      <p:sp>
        <p:nvSpPr>
          <p:cNvPr id="7" name="Espace réservé du contenu 6">
            <a:extLst>
              <a:ext uri="{FF2B5EF4-FFF2-40B4-BE49-F238E27FC236}">
                <a16:creationId xmlns:a16="http://schemas.microsoft.com/office/drawing/2014/main" id="{10653C88-ED0A-C220-2A4B-8B9C9029D517}"/>
              </a:ext>
            </a:extLst>
          </p:cNvPr>
          <p:cNvSpPr>
            <a:spLocks noGrp="1"/>
          </p:cNvSpPr>
          <p:nvPr>
            <p:ph idx="1"/>
          </p:nvPr>
        </p:nvSpPr>
        <p:spPr/>
        <p:txBody>
          <a:bodyPr/>
          <a:lstStyle/>
          <a:p>
            <a:pPr algn="l" rtl="0" fontAlgn="base"/>
            <a:r>
              <a:rPr lang="en-US" b="0" i="0" dirty="0">
                <a:solidFill>
                  <a:srgbClr val="273239"/>
                </a:solidFill>
                <a:effectLst/>
                <a:latin typeface="Nunito" pitchFamily="2" charset="0"/>
              </a:rPr>
              <a:t>Bagging and Boosting are both ensemble learning techniques used to improve model performance by combining multiple models. The main difference is that:</a:t>
            </a:r>
          </a:p>
          <a:p>
            <a:pPr algn="l" fontAlgn="base">
              <a:buFont typeface="Arial" panose="020B0604020202020204" pitchFamily="34" charset="0"/>
              <a:buChar char="•"/>
            </a:pPr>
            <a:r>
              <a:rPr lang="en-US" b="0" i="0" dirty="0">
                <a:solidFill>
                  <a:srgbClr val="273239"/>
                </a:solidFill>
                <a:effectLst/>
                <a:latin typeface="Nunito" pitchFamily="2" charset="0"/>
              </a:rPr>
              <a:t>Bagging reduces variance by training models independently.</a:t>
            </a:r>
          </a:p>
          <a:p>
            <a:pPr algn="l" fontAlgn="base">
              <a:buFont typeface="Arial" panose="020B0604020202020204" pitchFamily="34" charset="0"/>
              <a:buChar char="•"/>
            </a:pPr>
            <a:r>
              <a:rPr lang="en-US" b="0" i="0" dirty="0">
                <a:solidFill>
                  <a:srgbClr val="273239"/>
                </a:solidFill>
                <a:effectLst/>
                <a:latin typeface="Nunito" pitchFamily="2" charset="0"/>
              </a:rPr>
              <a:t>Boosting reduces bias by training models sequentially, focusing on previous errors.</a:t>
            </a:r>
          </a:p>
          <a:p>
            <a:pPr marL="0" indent="0">
              <a:buNone/>
            </a:pPr>
            <a:endParaRPr lang="fr-FR" dirty="0"/>
          </a:p>
        </p:txBody>
      </p:sp>
    </p:spTree>
    <p:extLst>
      <p:ext uri="{BB962C8B-B14F-4D97-AF65-F5344CB8AC3E}">
        <p14:creationId xmlns:p14="http://schemas.microsoft.com/office/powerpoint/2010/main" val="2281937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D282A6-AFDB-9BBD-EDA2-FB40DDB16EFE}"/>
              </a:ext>
            </a:extLst>
          </p:cNvPr>
          <p:cNvSpPr>
            <a:spLocks noGrp="1"/>
          </p:cNvSpPr>
          <p:nvPr>
            <p:ph type="title"/>
          </p:nvPr>
        </p:nvSpPr>
        <p:spPr/>
        <p:txBody>
          <a:bodyPr/>
          <a:lstStyle/>
          <a:p>
            <a:r>
              <a:rPr lang="fr-FR" dirty="0"/>
              <a:t>Ensemble Techniques : Bagging</a:t>
            </a:r>
          </a:p>
        </p:txBody>
      </p:sp>
      <p:sp>
        <p:nvSpPr>
          <p:cNvPr id="4" name="Espace réservé du contenu 3">
            <a:extLst>
              <a:ext uri="{FF2B5EF4-FFF2-40B4-BE49-F238E27FC236}">
                <a16:creationId xmlns:a16="http://schemas.microsoft.com/office/drawing/2014/main" id="{D4FF5C39-4184-2990-B242-EDED95CDD8F2}"/>
              </a:ext>
            </a:extLst>
          </p:cNvPr>
          <p:cNvSpPr>
            <a:spLocks noGrp="1"/>
          </p:cNvSpPr>
          <p:nvPr>
            <p:ph idx="1"/>
          </p:nvPr>
        </p:nvSpPr>
        <p:spPr/>
        <p:txBody>
          <a:bodyPr/>
          <a:lstStyle/>
          <a:p>
            <a:pPr algn="l" rtl="0" fontAlgn="base"/>
            <a:r>
              <a:rPr lang="en-US" b="0" i="0" u="sng" dirty="0">
                <a:solidFill>
                  <a:srgbClr val="357960"/>
                </a:solidFill>
                <a:effectLst/>
                <a:latin typeface="Nunito" pitchFamily="2" charset="0"/>
              </a:rPr>
              <a:t>Bagging (Bootstrap Aggregating)</a:t>
            </a:r>
            <a:r>
              <a:rPr lang="en-US" b="0" i="0" dirty="0">
                <a:solidFill>
                  <a:srgbClr val="273239"/>
                </a:solidFill>
                <a:effectLst/>
                <a:latin typeface="Nunito" pitchFamily="2" charset="0"/>
              </a:rPr>
              <a:t> aims to reduce model variance by training multiple models on different random subsets of the dataset. These subsets are created using bootstrapping, where data points are sampled with replacement.</a:t>
            </a:r>
          </a:p>
          <a:p>
            <a:pPr algn="l" rtl="0" fontAlgn="base"/>
            <a:r>
              <a:rPr lang="en-US" b="0" i="0" dirty="0">
                <a:solidFill>
                  <a:srgbClr val="273239"/>
                </a:solidFill>
                <a:effectLst/>
                <a:latin typeface="Nunito" pitchFamily="2" charset="0"/>
              </a:rPr>
              <a:t>Each model is trained independently, and their predictions are combined using voting for classification or averaging for regression. As models are trained independently, Bagging works well with </a:t>
            </a:r>
            <a:r>
              <a:rPr lang="en-US" b="1" i="0" dirty="0">
                <a:solidFill>
                  <a:srgbClr val="273239"/>
                </a:solidFill>
                <a:effectLst/>
                <a:latin typeface="Nunito" pitchFamily="2" charset="0"/>
              </a:rPr>
              <a:t>high-variance models like decision trees</a:t>
            </a:r>
            <a:r>
              <a:rPr lang="en-US" b="0" i="0" dirty="0">
                <a:solidFill>
                  <a:srgbClr val="273239"/>
                </a:solidFill>
                <a:effectLst/>
                <a:latin typeface="Nunito" pitchFamily="2" charset="0"/>
              </a:rPr>
              <a:t>.</a:t>
            </a:r>
          </a:p>
          <a:p>
            <a:endParaRPr lang="fr-FR" dirty="0"/>
          </a:p>
        </p:txBody>
      </p:sp>
    </p:spTree>
    <p:extLst>
      <p:ext uri="{BB962C8B-B14F-4D97-AF65-F5344CB8AC3E}">
        <p14:creationId xmlns:p14="http://schemas.microsoft.com/office/powerpoint/2010/main" val="3651712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D282A6-AFDB-9BBD-EDA2-FB40DDB16EFE}"/>
              </a:ext>
            </a:extLst>
          </p:cNvPr>
          <p:cNvSpPr>
            <a:spLocks noGrp="1"/>
          </p:cNvSpPr>
          <p:nvPr>
            <p:ph type="title"/>
          </p:nvPr>
        </p:nvSpPr>
        <p:spPr/>
        <p:txBody>
          <a:bodyPr/>
          <a:lstStyle/>
          <a:p>
            <a:r>
              <a:rPr lang="fr-FR" dirty="0"/>
              <a:t>Ensemble Techniques : Bagging</a:t>
            </a:r>
          </a:p>
        </p:txBody>
      </p:sp>
      <p:pic>
        <p:nvPicPr>
          <p:cNvPr id="5" name="Espace réservé du contenu 4">
            <a:extLst>
              <a:ext uri="{FF2B5EF4-FFF2-40B4-BE49-F238E27FC236}">
                <a16:creationId xmlns:a16="http://schemas.microsoft.com/office/drawing/2014/main" id="{2CFA42A9-1647-A549-53BC-37DEF33814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4662" y="1816100"/>
            <a:ext cx="8702675" cy="4351338"/>
          </a:xfrm>
        </p:spPr>
      </p:pic>
    </p:spTree>
    <p:extLst>
      <p:ext uri="{BB962C8B-B14F-4D97-AF65-F5344CB8AC3E}">
        <p14:creationId xmlns:p14="http://schemas.microsoft.com/office/powerpoint/2010/main" val="35643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D282A6-AFDB-9BBD-EDA2-FB40DDB16EFE}"/>
              </a:ext>
            </a:extLst>
          </p:cNvPr>
          <p:cNvSpPr>
            <a:spLocks noGrp="1"/>
          </p:cNvSpPr>
          <p:nvPr>
            <p:ph type="title"/>
          </p:nvPr>
        </p:nvSpPr>
        <p:spPr/>
        <p:txBody>
          <a:bodyPr/>
          <a:lstStyle/>
          <a:p>
            <a:r>
              <a:rPr lang="fr-FR" dirty="0"/>
              <a:t>Ensemble Techniques : </a:t>
            </a:r>
            <a:r>
              <a:rPr lang="fr-FR" dirty="0" err="1"/>
              <a:t>Boosting</a:t>
            </a:r>
            <a:endParaRPr lang="fr-FR" dirty="0"/>
          </a:p>
        </p:txBody>
      </p:sp>
      <p:sp>
        <p:nvSpPr>
          <p:cNvPr id="4" name="Espace réservé du contenu 3">
            <a:extLst>
              <a:ext uri="{FF2B5EF4-FFF2-40B4-BE49-F238E27FC236}">
                <a16:creationId xmlns:a16="http://schemas.microsoft.com/office/drawing/2014/main" id="{D4FF5C39-4184-2990-B242-EDED95CDD8F2}"/>
              </a:ext>
            </a:extLst>
          </p:cNvPr>
          <p:cNvSpPr>
            <a:spLocks noGrp="1"/>
          </p:cNvSpPr>
          <p:nvPr>
            <p:ph idx="1"/>
          </p:nvPr>
        </p:nvSpPr>
        <p:spPr/>
        <p:txBody>
          <a:bodyPr/>
          <a:lstStyle/>
          <a:p>
            <a:pPr algn="l" rtl="0" fontAlgn="base"/>
            <a:r>
              <a:rPr lang="en-US" b="0" i="0" u="sng" dirty="0">
                <a:solidFill>
                  <a:srgbClr val="357960"/>
                </a:solidFill>
                <a:effectLst/>
                <a:latin typeface="Nunito" pitchFamily="2" charset="0"/>
              </a:rPr>
              <a:t>Boosting </a:t>
            </a:r>
            <a:r>
              <a:rPr lang="en-US" b="0" i="0" dirty="0">
                <a:solidFill>
                  <a:srgbClr val="273239"/>
                </a:solidFill>
                <a:effectLst/>
                <a:latin typeface="Nunito" pitchFamily="2" charset="0"/>
              </a:rPr>
              <a:t>focuses on improving model accuracy by training models sequentially. Each new model pays more attention to the data points that were misclassified by previous models. Over time, the ensemble becomes better at handling difficult cases.</a:t>
            </a:r>
          </a:p>
          <a:p>
            <a:pPr algn="l" rtl="0" fontAlgn="base"/>
            <a:r>
              <a:rPr lang="en-US" b="0" i="0" dirty="0">
                <a:solidFill>
                  <a:srgbClr val="273239"/>
                </a:solidFill>
                <a:effectLst/>
                <a:latin typeface="Nunito" pitchFamily="2" charset="0"/>
              </a:rPr>
              <a:t>Boosting is effective for reducing bias and works well even with weak learners.</a:t>
            </a:r>
          </a:p>
        </p:txBody>
      </p:sp>
    </p:spTree>
    <p:extLst>
      <p:ext uri="{BB962C8B-B14F-4D97-AF65-F5344CB8AC3E}">
        <p14:creationId xmlns:p14="http://schemas.microsoft.com/office/powerpoint/2010/main" val="2498368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D282A6-AFDB-9BBD-EDA2-FB40DDB16EFE}"/>
              </a:ext>
            </a:extLst>
          </p:cNvPr>
          <p:cNvSpPr>
            <a:spLocks noGrp="1"/>
          </p:cNvSpPr>
          <p:nvPr>
            <p:ph type="title"/>
          </p:nvPr>
        </p:nvSpPr>
        <p:spPr/>
        <p:txBody>
          <a:bodyPr/>
          <a:lstStyle/>
          <a:p>
            <a:r>
              <a:rPr lang="fr-FR" dirty="0"/>
              <a:t>Ensemble Techniques : </a:t>
            </a:r>
            <a:r>
              <a:rPr lang="fr-FR" dirty="0" err="1"/>
              <a:t>Boosting</a:t>
            </a:r>
            <a:endParaRPr lang="fr-FR" dirty="0"/>
          </a:p>
        </p:txBody>
      </p:sp>
      <p:pic>
        <p:nvPicPr>
          <p:cNvPr id="7" name="Espace réservé du contenu 6">
            <a:extLst>
              <a:ext uri="{FF2B5EF4-FFF2-40B4-BE49-F238E27FC236}">
                <a16:creationId xmlns:a16="http://schemas.microsoft.com/office/drawing/2014/main" id="{5760A423-88B6-D93C-5739-A395796E5B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7389" y="1816100"/>
            <a:ext cx="7617221" cy="4351338"/>
          </a:xfrm>
        </p:spPr>
      </p:pic>
    </p:spTree>
    <p:extLst>
      <p:ext uri="{BB962C8B-B14F-4D97-AF65-F5344CB8AC3E}">
        <p14:creationId xmlns:p14="http://schemas.microsoft.com/office/powerpoint/2010/main" val="1644336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F837C-94E3-3347-C4A1-060942D43BBE}"/>
              </a:ext>
            </a:extLst>
          </p:cNvPr>
          <p:cNvSpPr>
            <a:spLocks noGrp="1"/>
          </p:cNvSpPr>
          <p:nvPr>
            <p:ph type="title"/>
          </p:nvPr>
        </p:nvSpPr>
        <p:spPr/>
        <p:txBody>
          <a:bodyPr/>
          <a:lstStyle/>
          <a:p>
            <a:r>
              <a:rPr lang="fr-FR" dirty="0"/>
              <a:t>Bagging vs </a:t>
            </a:r>
            <a:r>
              <a:rPr lang="fr-FR" dirty="0" err="1"/>
              <a:t>Boosting</a:t>
            </a:r>
            <a:endParaRPr lang="fr-FR" dirty="0"/>
          </a:p>
        </p:txBody>
      </p:sp>
      <p:graphicFrame>
        <p:nvGraphicFramePr>
          <p:cNvPr id="4" name="Espace réservé du contenu 3">
            <a:extLst>
              <a:ext uri="{FF2B5EF4-FFF2-40B4-BE49-F238E27FC236}">
                <a16:creationId xmlns:a16="http://schemas.microsoft.com/office/drawing/2014/main" id="{F186F3A2-310C-F1A3-60AB-144DCB44C23A}"/>
              </a:ext>
            </a:extLst>
          </p:cNvPr>
          <p:cNvGraphicFramePr>
            <a:graphicFrameLocks noGrp="1"/>
          </p:cNvGraphicFramePr>
          <p:nvPr>
            <p:ph idx="1"/>
            <p:extLst>
              <p:ext uri="{D42A27DB-BD31-4B8C-83A1-F6EECF244321}">
                <p14:modId xmlns:p14="http://schemas.microsoft.com/office/powerpoint/2010/main" val="4044651700"/>
              </p:ext>
            </p:extLst>
          </p:nvPr>
        </p:nvGraphicFramePr>
        <p:xfrm>
          <a:off x="838199" y="1952626"/>
          <a:ext cx="10829926" cy="3714748"/>
        </p:xfrm>
        <a:graphic>
          <a:graphicData uri="http://schemas.openxmlformats.org/drawingml/2006/table">
            <a:tbl>
              <a:tblPr/>
              <a:tblGrid>
                <a:gridCol w="2406650">
                  <a:extLst>
                    <a:ext uri="{9D8B030D-6E8A-4147-A177-3AD203B41FA5}">
                      <a16:colId xmlns:a16="http://schemas.microsoft.com/office/drawing/2014/main" val="97880928"/>
                    </a:ext>
                  </a:extLst>
                </a:gridCol>
                <a:gridCol w="4211638">
                  <a:extLst>
                    <a:ext uri="{9D8B030D-6E8A-4147-A177-3AD203B41FA5}">
                      <a16:colId xmlns:a16="http://schemas.microsoft.com/office/drawing/2014/main" val="1781632907"/>
                    </a:ext>
                  </a:extLst>
                </a:gridCol>
                <a:gridCol w="4211638">
                  <a:extLst>
                    <a:ext uri="{9D8B030D-6E8A-4147-A177-3AD203B41FA5}">
                      <a16:colId xmlns:a16="http://schemas.microsoft.com/office/drawing/2014/main" val="3709058263"/>
                    </a:ext>
                  </a:extLst>
                </a:gridCol>
              </a:tblGrid>
              <a:tr h="487180">
                <a:tc>
                  <a:txBody>
                    <a:bodyPr/>
                    <a:lstStyle/>
                    <a:p>
                      <a:pPr algn="ctr" fontAlgn="base"/>
                      <a:r>
                        <a:rPr lang="fr-FR" sz="1400" b="1">
                          <a:effectLst/>
                          <a:latin typeface="Nunito" pitchFamily="2" charset="0"/>
                        </a:rPr>
                        <a:t>Feature</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base"/>
                      <a:r>
                        <a:rPr lang="fr-FR" sz="1400" b="1">
                          <a:effectLst/>
                          <a:latin typeface="Nunito" pitchFamily="2" charset="0"/>
                        </a:rPr>
                        <a:t>Bagging</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base"/>
                      <a:r>
                        <a:rPr lang="fr-FR" sz="1400" b="1">
                          <a:effectLst/>
                          <a:latin typeface="Nunito" pitchFamily="2" charset="0"/>
                        </a:rPr>
                        <a:t>Boosting</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913779556"/>
                  </a:ext>
                </a:extLst>
              </a:tr>
              <a:tr h="537928">
                <a:tc>
                  <a:txBody>
                    <a:bodyPr/>
                    <a:lstStyle/>
                    <a:p>
                      <a:pPr algn="ctr" fontAlgn="base"/>
                      <a:r>
                        <a:rPr lang="fr-FR" b="1">
                          <a:effectLst/>
                          <a:latin typeface="Nunito" pitchFamily="2" charset="0"/>
                        </a:rPr>
                        <a:t>Training style</a:t>
                      </a:r>
                    </a:p>
                  </a:txBody>
                  <a:tcPr marL="38100" marR="38100" marT="62575" marB="6257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fr-FR" sz="1250" b="0" dirty="0">
                          <a:effectLst/>
                          <a:latin typeface="Nunito" pitchFamily="2" charset="0"/>
                        </a:rPr>
                        <a:t>Trains Independent models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fr-FR" sz="1250" b="0" dirty="0">
                          <a:effectLst/>
                          <a:latin typeface="Nunito" pitchFamily="2" charset="0"/>
                        </a:rPr>
                        <a:t>Trains </a:t>
                      </a:r>
                      <a:r>
                        <a:rPr lang="fr-FR" sz="1250" b="0" dirty="0" err="1">
                          <a:effectLst/>
                          <a:latin typeface="Nunito" pitchFamily="2" charset="0"/>
                        </a:rPr>
                        <a:t>sequential</a:t>
                      </a:r>
                      <a:r>
                        <a:rPr lang="fr-FR" sz="1250" b="0" dirty="0">
                          <a:effectLst/>
                          <a:latin typeface="Nunito" pitchFamily="2" charset="0"/>
                        </a:rPr>
                        <a:t> models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77581458"/>
                  </a:ext>
                </a:extLst>
              </a:tr>
              <a:tr h="537928">
                <a:tc>
                  <a:txBody>
                    <a:bodyPr/>
                    <a:lstStyle/>
                    <a:p>
                      <a:pPr algn="ctr" fontAlgn="base"/>
                      <a:r>
                        <a:rPr lang="fr-FR" b="1">
                          <a:effectLst/>
                          <a:latin typeface="Nunito" pitchFamily="2" charset="0"/>
                        </a:rPr>
                        <a:t>Main goal</a:t>
                      </a:r>
                    </a:p>
                  </a:txBody>
                  <a:tcPr marL="38100" marR="38100" marT="62575" marB="6257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fr-FR" sz="1250" b="0">
                          <a:effectLst/>
                          <a:latin typeface="Nunito" pitchFamily="2" charset="0"/>
                        </a:rPr>
                        <a:t>Reduce variance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fr-FR" sz="1250" b="0">
                          <a:effectLst/>
                          <a:latin typeface="Nunito" pitchFamily="2" charset="0"/>
                        </a:rPr>
                        <a:t>Reduce bias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771667742"/>
                  </a:ext>
                </a:extLst>
              </a:tr>
              <a:tr h="537928">
                <a:tc>
                  <a:txBody>
                    <a:bodyPr/>
                    <a:lstStyle/>
                    <a:p>
                      <a:pPr algn="ctr" fontAlgn="base"/>
                      <a:r>
                        <a:rPr lang="fr-FR" b="1">
                          <a:effectLst/>
                          <a:latin typeface="Nunito" pitchFamily="2" charset="0"/>
                        </a:rPr>
                        <a:t>Handling errors</a:t>
                      </a:r>
                    </a:p>
                  </a:txBody>
                  <a:tcPr marL="38100" marR="38100" marT="62575" marB="6257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fr-FR" sz="1250" b="0">
                          <a:effectLst/>
                          <a:latin typeface="Nunito" pitchFamily="2" charset="0"/>
                        </a:rPr>
                        <a:t>All samples treated equally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fr-FR" sz="1250" b="0">
                          <a:effectLst/>
                          <a:latin typeface="Nunito" pitchFamily="2" charset="0"/>
                        </a:rPr>
                        <a:t>Focuses on misclassified samples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93719193"/>
                  </a:ext>
                </a:extLst>
              </a:tr>
              <a:tr h="537928">
                <a:tc>
                  <a:txBody>
                    <a:bodyPr/>
                    <a:lstStyle/>
                    <a:p>
                      <a:pPr algn="ctr" fontAlgn="base"/>
                      <a:r>
                        <a:rPr lang="fr-FR" b="1" dirty="0">
                          <a:effectLst/>
                          <a:latin typeface="Nunito" pitchFamily="2" charset="0"/>
                        </a:rPr>
                        <a:t>Overfitting</a:t>
                      </a:r>
                    </a:p>
                  </a:txBody>
                  <a:tcPr marL="38100" marR="38100" marT="62575" marB="6257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250" b="0">
                          <a:effectLst/>
                          <a:latin typeface="Nunito" pitchFamily="2" charset="0"/>
                        </a:rPr>
                        <a:t>It is less sesitive to overfitting</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fr-FR" sz="1250" b="0" dirty="0">
                          <a:effectLst/>
                          <a:latin typeface="Nunito" pitchFamily="2" charset="0"/>
                        </a:rPr>
                        <a:t>More prone to overfitting</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83545808"/>
                  </a:ext>
                </a:extLst>
              </a:tr>
              <a:tr h="537928">
                <a:tc>
                  <a:txBody>
                    <a:bodyPr/>
                    <a:lstStyle/>
                    <a:p>
                      <a:pPr algn="ctr" fontAlgn="base"/>
                      <a:r>
                        <a:rPr lang="fr-FR" b="1">
                          <a:effectLst/>
                          <a:latin typeface="Nunito" pitchFamily="2" charset="0"/>
                        </a:rPr>
                        <a:t>Parallel training</a:t>
                      </a:r>
                    </a:p>
                  </a:txBody>
                  <a:tcPr marL="38100" marR="38100" marT="62575" marB="6257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250" b="0">
                          <a:effectLst/>
                          <a:latin typeface="Nunito" pitchFamily="2" charset="0"/>
                        </a:rPr>
                        <a:t>Yes it supports parallel computing</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latin typeface="Nunito" pitchFamily="2" charset="0"/>
                        </a:rPr>
                        <a:t>No it does not supports parallel computing</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79016913"/>
                  </a:ext>
                </a:extLst>
              </a:tr>
              <a:tr h="537928">
                <a:tc>
                  <a:txBody>
                    <a:bodyPr/>
                    <a:lstStyle/>
                    <a:p>
                      <a:pPr algn="ctr" fontAlgn="base"/>
                      <a:r>
                        <a:rPr lang="fr-FR" b="1">
                          <a:effectLst/>
                          <a:latin typeface="Nunito" pitchFamily="2" charset="0"/>
                        </a:rPr>
                        <a:t>Sensitivity to noise</a:t>
                      </a:r>
                    </a:p>
                  </a:txBody>
                  <a:tcPr marL="38100" marR="38100" marT="62575" marB="6257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250" b="0">
                          <a:effectLst/>
                          <a:latin typeface="Nunito" pitchFamily="2" charset="0"/>
                        </a:rPr>
                        <a:t>It is not affected by noise and outliers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dirty="0">
                          <a:effectLst/>
                          <a:latin typeface="Nunito" pitchFamily="2" charset="0"/>
                        </a:rPr>
                        <a:t>Sensitive to noise and outliers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16927434"/>
                  </a:ext>
                </a:extLst>
              </a:tr>
            </a:tbl>
          </a:graphicData>
        </a:graphic>
      </p:graphicFrame>
    </p:spTree>
    <p:extLst>
      <p:ext uri="{BB962C8B-B14F-4D97-AF65-F5344CB8AC3E}">
        <p14:creationId xmlns:p14="http://schemas.microsoft.com/office/powerpoint/2010/main" val="865245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960D66-5717-321B-314F-33ED86FFE3FA}"/>
              </a:ext>
            </a:extLst>
          </p:cNvPr>
          <p:cNvSpPr>
            <a:spLocks noGrp="1"/>
          </p:cNvSpPr>
          <p:nvPr>
            <p:ph type="title"/>
          </p:nvPr>
        </p:nvSpPr>
        <p:spPr/>
        <p:txBody>
          <a:bodyPr/>
          <a:lstStyle/>
          <a:p>
            <a:r>
              <a:rPr lang="fr-FR" dirty="0" err="1"/>
              <a:t>Random</a:t>
            </a:r>
            <a:r>
              <a:rPr lang="fr-FR" dirty="0"/>
              <a:t> Forest</a:t>
            </a:r>
          </a:p>
        </p:txBody>
      </p:sp>
      <p:pic>
        <p:nvPicPr>
          <p:cNvPr id="5" name="Espace réservé du contenu 4">
            <a:extLst>
              <a:ext uri="{FF2B5EF4-FFF2-40B4-BE49-F238E27FC236}">
                <a16:creationId xmlns:a16="http://schemas.microsoft.com/office/drawing/2014/main" id="{A1993A36-8CB8-3FD2-C09E-71245CBA39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1680" y="1825625"/>
            <a:ext cx="6528639" cy="4351338"/>
          </a:xfrm>
        </p:spPr>
      </p:pic>
    </p:spTree>
    <p:extLst>
      <p:ext uri="{BB962C8B-B14F-4D97-AF65-F5344CB8AC3E}">
        <p14:creationId xmlns:p14="http://schemas.microsoft.com/office/powerpoint/2010/main" val="2186283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871851-F678-5DCA-D1FA-9DE03E9A01E5}"/>
              </a:ext>
            </a:extLst>
          </p:cNvPr>
          <p:cNvSpPr>
            <a:spLocks noGrp="1"/>
          </p:cNvSpPr>
          <p:nvPr>
            <p:ph type="title"/>
          </p:nvPr>
        </p:nvSpPr>
        <p:spPr/>
        <p:txBody>
          <a:bodyPr/>
          <a:lstStyle/>
          <a:p>
            <a:r>
              <a:rPr lang="fr-FR" dirty="0" err="1"/>
              <a:t>XGboost</a:t>
            </a:r>
            <a:r>
              <a:rPr lang="fr-FR" dirty="0"/>
              <a:t> (support </a:t>
            </a:r>
            <a:r>
              <a:rPr lang="fr-FR" dirty="0" err="1"/>
              <a:t>missing</a:t>
            </a:r>
            <a:r>
              <a:rPr lang="fr-FR" dirty="0"/>
              <a:t> values and </a:t>
            </a:r>
            <a:r>
              <a:rPr lang="fr-FR" dirty="0" err="1"/>
              <a:t>handle</a:t>
            </a:r>
            <a:r>
              <a:rPr lang="fr-FR" dirty="0"/>
              <a:t> overfitting)</a:t>
            </a:r>
          </a:p>
        </p:txBody>
      </p:sp>
      <p:pic>
        <p:nvPicPr>
          <p:cNvPr id="5" name="Espace réservé du contenu 4">
            <a:extLst>
              <a:ext uri="{FF2B5EF4-FFF2-40B4-BE49-F238E27FC236}">
                <a16:creationId xmlns:a16="http://schemas.microsoft.com/office/drawing/2014/main" id="{49307AD1-9D56-6A4E-77A1-CEC3813A5E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1" cy="4351338"/>
          </a:xfrm>
        </p:spPr>
      </p:pic>
    </p:spTree>
    <p:extLst>
      <p:ext uri="{BB962C8B-B14F-4D97-AF65-F5344CB8AC3E}">
        <p14:creationId xmlns:p14="http://schemas.microsoft.com/office/powerpoint/2010/main" val="4096450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29ED8C9-B09F-27A3-9C0F-02B29A27FBAC}"/>
              </a:ext>
            </a:extLst>
          </p:cNvPr>
          <p:cNvSpPr txBox="1"/>
          <p:nvPr/>
        </p:nvSpPr>
        <p:spPr>
          <a:xfrm>
            <a:off x="3719830" y="260649"/>
            <a:ext cx="4572000" cy="584775"/>
          </a:xfrm>
          <a:prstGeom prst="rect">
            <a:avLst/>
          </a:prstGeom>
          <a:noFill/>
        </p:spPr>
        <p:txBody>
          <a:bodyPr wrap="square">
            <a:spAutoFit/>
          </a:bodyPr>
          <a:lstStyle/>
          <a:p>
            <a:pPr algn="ctr"/>
            <a:r>
              <a:rPr lang="fr-FR" sz="3200" dirty="0">
                <a:solidFill>
                  <a:srgbClr val="DE9A00"/>
                </a:solidFill>
                <a:latin typeface="Cambria" panose="02040503050406030204" charset="0"/>
                <a:ea typeface="+mj-ea"/>
              </a:rPr>
              <a:t>Cross Validation</a:t>
            </a:r>
          </a:p>
        </p:txBody>
      </p:sp>
      <p:sp>
        <p:nvSpPr>
          <p:cNvPr id="2" name="ZoneTexte 1">
            <a:extLst>
              <a:ext uri="{FF2B5EF4-FFF2-40B4-BE49-F238E27FC236}">
                <a16:creationId xmlns:a16="http://schemas.microsoft.com/office/drawing/2014/main" id="{E4EFABA8-0FC9-C838-4F71-EF105F0AAC96}"/>
              </a:ext>
            </a:extLst>
          </p:cNvPr>
          <p:cNvSpPr txBox="1"/>
          <p:nvPr/>
        </p:nvSpPr>
        <p:spPr>
          <a:xfrm>
            <a:off x="2135560" y="1340769"/>
            <a:ext cx="7920880" cy="2031325"/>
          </a:xfrm>
          <a:prstGeom prst="rect">
            <a:avLst/>
          </a:prstGeom>
          <a:noFill/>
        </p:spPr>
        <p:txBody>
          <a:bodyPr wrap="square">
            <a:spAutoFit/>
          </a:bodyPr>
          <a:lstStyle/>
          <a:p>
            <a:pPr algn="just"/>
            <a:r>
              <a:rPr lang="en-US" dirty="0">
                <a:latin typeface="Cambria" panose="02040503050406030204" pitchFamily="18" charset="0"/>
                <a:ea typeface="Cambria" panose="02040503050406030204" pitchFamily="18" charset="0"/>
              </a:rPr>
              <a:t>Cross-validation is a technique used to check how well a machine learning model performs on unseen data while preventing overfitting. It works by:</a:t>
            </a:r>
          </a:p>
          <a:p>
            <a:pPr algn="just"/>
            <a:endParaRPr lang="en-US"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Splitting the dataset into several parts.</a:t>
            </a:r>
          </a:p>
          <a:p>
            <a:pPr marL="28575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Training the model on some parts and testing it on the remaining part.</a:t>
            </a:r>
          </a:p>
          <a:p>
            <a:pPr marL="28575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Repeating this resampling process multiple times by choosing different parts of the dataset.</a:t>
            </a:r>
          </a:p>
        </p:txBody>
      </p:sp>
      <p:pic>
        <p:nvPicPr>
          <p:cNvPr id="6" name="Image 5">
            <a:extLst>
              <a:ext uri="{FF2B5EF4-FFF2-40B4-BE49-F238E27FC236}">
                <a16:creationId xmlns:a16="http://schemas.microsoft.com/office/drawing/2014/main" id="{A2C50CD8-CFCA-0A66-D552-8460D566F5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3224" y="3645025"/>
            <a:ext cx="4965213" cy="2460241"/>
          </a:xfrm>
          <a:prstGeom prst="rect">
            <a:avLst/>
          </a:prstGeom>
        </p:spPr>
      </p:pic>
    </p:spTree>
    <p:extLst>
      <p:ext uri="{BB962C8B-B14F-4D97-AF65-F5344CB8AC3E}">
        <p14:creationId xmlns:p14="http://schemas.microsoft.com/office/powerpoint/2010/main" val="849367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29ED8C9-B09F-27A3-9C0F-02B29A27FBAC}"/>
              </a:ext>
            </a:extLst>
          </p:cNvPr>
          <p:cNvSpPr txBox="1"/>
          <p:nvPr/>
        </p:nvSpPr>
        <p:spPr>
          <a:xfrm>
            <a:off x="3719830" y="260649"/>
            <a:ext cx="4572000" cy="584775"/>
          </a:xfrm>
          <a:prstGeom prst="rect">
            <a:avLst/>
          </a:prstGeom>
          <a:noFill/>
        </p:spPr>
        <p:txBody>
          <a:bodyPr wrap="square">
            <a:spAutoFit/>
          </a:bodyPr>
          <a:lstStyle/>
          <a:p>
            <a:pPr algn="ctr"/>
            <a:r>
              <a:rPr lang="fr-FR" sz="3200" dirty="0">
                <a:solidFill>
                  <a:srgbClr val="DE9A00"/>
                </a:solidFill>
                <a:latin typeface="Cambria" panose="02040503050406030204" charset="0"/>
                <a:ea typeface="+mj-ea"/>
              </a:rPr>
              <a:t>Types of Cross Validation</a:t>
            </a:r>
          </a:p>
        </p:txBody>
      </p:sp>
      <p:sp>
        <p:nvSpPr>
          <p:cNvPr id="2" name="ZoneTexte 1">
            <a:extLst>
              <a:ext uri="{FF2B5EF4-FFF2-40B4-BE49-F238E27FC236}">
                <a16:creationId xmlns:a16="http://schemas.microsoft.com/office/drawing/2014/main" id="{E4EFABA8-0FC9-C838-4F71-EF105F0AAC96}"/>
              </a:ext>
            </a:extLst>
          </p:cNvPr>
          <p:cNvSpPr txBox="1"/>
          <p:nvPr/>
        </p:nvSpPr>
        <p:spPr>
          <a:xfrm>
            <a:off x="2135560" y="1340768"/>
            <a:ext cx="7920880" cy="4801314"/>
          </a:xfrm>
          <a:prstGeom prst="rect">
            <a:avLst/>
          </a:prstGeom>
          <a:noFill/>
        </p:spPr>
        <p:txBody>
          <a:bodyPr wrap="square">
            <a:spAutoFit/>
          </a:bodyPr>
          <a:lstStyle/>
          <a:p>
            <a:pPr algn="ctr"/>
            <a:r>
              <a:rPr lang="en-US" b="1" dirty="0">
                <a:latin typeface="Cambria" panose="02040503050406030204" pitchFamily="18" charset="0"/>
                <a:ea typeface="Cambria" panose="02040503050406030204" pitchFamily="18" charset="0"/>
              </a:rPr>
              <a:t>K-Fold</a:t>
            </a:r>
          </a:p>
          <a:p>
            <a:pPr algn="ctr"/>
            <a:endParaRPr lang="en-US" b="1"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K-Fold Cross Validation splits the dataset into k equal-sized folds. The model is trained on k-1 folds and tested on the remaining fold. This process is repeated k times each time using a different fold for testing.</a:t>
            </a:r>
          </a:p>
          <a:p>
            <a:r>
              <a:rPr lang="en-US" b="1" u="sng" dirty="0">
                <a:latin typeface="Cambria" panose="02040503050406030204" pitchFamily="18" charset="0"/>
                <a:ea typeface="Cambria" panose="02040503050406030204" pitchFamily="18" charset="0"/>
              </a:rPr>
              <a:t>Disadvantages:</a:t>
            </a:r>
          </a:p>
          <a:p>
            <a:endParaRPr lang="en-US" b="1" u="sng" dirty="0">
              <a:latin typeface="Cambria" panose="02040503050406030204" pitchFamily="18" charset="0"/>
              <a:ea typeface="Cambria" panose="02040503050406030204" pitchFamily="18" charset="0"/>
            </a:endParaRPr>
          </a:p>
          <a:p>
            <a:pPr marL="342900" indent="-342900">
              <a:buFont typeface="+mj-lt"/>
              <a:buAutoNum type="arabicPeriod"/>
            </a:pPr>
            <a:r>
              <a:rPr lang="en-US" dirty="0">
                <a:latin typeface="Cambria" panose="02040503050406030204" pitchFamily="18" charset="0"/>
                <a:ea typeface="Cambria" panose="02040503050406030204" pitchFamily="18" charset="0"/>
              </a:rPr>
              <a:t>Low accuracy  in case unbalanced data.</a:t>
            </a: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pic>
        <p:nvPicPr>
          <p:cNvPr id="6" name="Image 5">
            <a:extLst>
              <a:ext uri="{FF2B5EF4-FFF2-40B4-BE49-F238E27FC236}">
                <a16:creationId xmlns:a16="http://schemas.microsoft.com/office/drawing/2014/main" id="{FAF64205-35EA-AA27-75E6-7B3E974F808F}"/>
              </a:ext>
            </a:extLst>
          </p:cNvPr>
          <p:cNvPicPr>
            <a:picLocks noChangeAspect="1"/>
          </p:cNvPicPr>
          <p:nvPr/>
        </p:nvPicPr>
        <p:blipFill rotWithShape="1">
          <a:blip r:embed="rId2">
            <a:extLst>
              <a:ext uri="{28A0092B-C50C-407E-A947-70E740481C1C}">
                <a14:useLocalDpi xmlns:a14="http://schemas.microsoft.com/office/drawing/2010/main" val="0"/>
              </a:ext>
            </a:extLst>
          </a:blip>
          <a:srcRect t="25187"/>
          <a:stretch/>
        </p:blipFill>
        <p:spPr>
          <a:xfrm>
            <a:off x="3647728" y="3689648"/>
            <a:ext cx="5768466" cy="3168352"/>
          </a:xfrm>
          <a:prstGeom prst="rect">
            <a:avLst/>
          </a:prstGeom>
        </p:spPr>
      </p:pic>
    </p:spTree>
    <p:extLst>
      <p:ext uri="{BB962C8B-B14F-4D97-AF65-F5344CB8AC3E}">
        <p14:creationId xmlns:p14="http://schemas.microsoft.com/office/powerpoint/2010/main" val="4070211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29ED8C9-B09F-27A3-9C0F-02B29A27FBAC}"/>
              </a:ext>
            </a:extLst>
          </p:cNvPr>
          <p:cNvSpPr txBox="1"/>
          <p:nvPr/>
        </p:nvSpPr>
        <p:spPr>
          <a:xfrm>
            <a:off x="3719830" y="260649"/>
            <a:ext cx="4572000" cy="584775"/>
          </a:xfrm>
          <a:prstGeom prst="rect">
            <a:avLst/>
          </a:prstGeom>
          <a:noFill/>
        </p:spPr>
        <p:txBody>
          <a:bodyPr wrap="square">
            <a:spAutoFit/>
          </a:bodyPr>
          <a:lstStyle/>
          <a:p>
            <a:pPr algn="ctr"/>
            <a:r>
              <a:rPr lang="fr-FR" sz="3200" dirty="0">
                <a:solidFill>
                  <a:srgbClr val="DE9A00"/>
                </a:solidFill>
                <a:latin typeface="Cambria" panose="02040503050406030204" charset="0"/>
                <a:ea typeface="+mj-ea"/>
              </a:rPr>
              <a:t>Types of Cross Validation</a:t>
            </a:r>
          </a:p>
        </p:txBody>
      </p:sp>
      <p:sp>
        <p:nvSpPr>
          <p:cNvPr id="2" name="ZoneTexte 1">
            <a:extLst>
              <a:ext uri="{FF2B5EF4-FFF2-40B4-BE49-F238E27FC236}">
                <a16:creationId xmlns:a16="http://schemas.microsoft.com/office/drawing/2014/main" id="{E4EFABA8-0FC9-C838-4F71-EF105F0AAC96}"/>
              </a:ext>
            </a:extLst>
          </p:cNvPr>
          <p:cNvSpPr txBox="1"/>
          <p:nvPr/>
        </p:nvSpPr>
        <p:spPr>
          <a:xfrm>
            <a:off x="2135560" y="1340769"/>
            <a:ext cx="7920880" cy="5078313"/>
          </a:xfrm>
          <a:prstGeom prst="rect">
            <a:avLst/>
          </a:prstGeom>
          <a:noFill/>
        </p:spPr>
        <p:txBody>
          <a:bodyPr wrap="square">
            <a:spAutoFit/>
          </a:bodyPr>
          <a:lstStyle/>
          <a:p>
            <a:pPr algn="ctr"/>
            <a:endParaRPr lang="en-US" b="1" dirty="0">
              <a:latin typeface="Cambria" panose="02040503050406030204" pitchFamily="18" charset="0"/>
              <a:ea typeface="Cambria" panose="02040503050406030204" pitchFamily="18" charset="0"/>
            </a:endParaRPr>
          </a:p>
          <a:p>
            <a:pPr algn="ctr"/>
            <a:r>
              <a:rPr lang="en-US" b="1" dirty="0">
                <a:latin typeface="Cambria" panose="02040503050406030204" pitchFamily="18" charset="0"/>
                <a:ea typeface="Cambria" panose="02040503050406030204" pitchFamily="18" charset="0"/>
              </a:rPr>
              <a:t>Stratified K Fold Cross Validation</a:t>
            </a:r>
          </a:p>
          <a:p>
            <a:pPr algn="ctr"/>
            <a:endParaRPr lang="en-US" b="1" dirty="0">
              <a:latin typeface="Cambria" panose="02040503050406030204" pitchFamily="18" charset="0"/>
              <a:ea typeface="Cambria" panose="02040503050406030204" pitchFamily="18" charset="0"/>
            </a:endParaRPr>
          </a:p>
          <a:p>
            <a:pPr algn="just"/>
            <a:r>
              <a:rPr lang="en-US" b="1" dirty="0">
                <a:latin typeface="Cambria" panose="02040503050406030204" pitchFamily="18" charset="0"/>
                <a:ea typeface="Cambria" panose="02040503050406030204" pitchFamily="18" charset="0"/>
              </a:rPr>
              <a:t>Stratified K-Fold Cross Validation</a:t>
            </a:r>
            <a:r>
              <a:rPr lang="en-US" dirty="0">
                <a:latin typeface="Cambria" panose="02040503050406030204" pitchFamily="18" charset="0"/>
                <a:ea typeface="Cambria" panose="02040503050406030204" pitchFamily="18" charset="0"/>
              </a:rPr>
              <a:t> is a technique used for evaluating a model. It is particularly useful for classification problems in which the class labels are not evenly distributed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data is imbalanced. It is a enhanced version K Fold. Key difference is that it uses </a:t>
            </a:r>
            <a:r>
              <a:rPr lang="en-US" b="1" dirty="0">
                <a:latin typeface="Cambria" panose="02040503050406030204" pitchFamily="18" charset="0"/>
                <a:ea typeface="Cambria" panose="02040503050406030204" pitchFamily="18" charset="0"/>
              </a:rPr>
              <a:t>stratification</a:t>
            </a:r>
            <a:r>
              <a:rPr lang="en-US" dirty="0">
                <a:latin typeface="Cambria" panose="02040503050406030204" pitchFamily="18" charset="0"/>
                <a:ea typeface="Cambria" panose="02040503050406030204" pitchFamily="18" charset="0"/>
              </a:rPr>
              <a:t> which allows original distribution of each class to be maintained across each fold.</a:t>
            </a:r>
            <a:endParaRPr lang="en-US" b="1" dirty="0">
              <a:latin typeface="Cambria" panose="02040503050406030204" pitchFamily="18" charset="0"/>
              <a:ea typeface="Cambria" panose="02040503050406030204" pitchFamily="18" charset="0"/>
            </a:endParaRPr>
          </a:p>
          <a:p>
            <a:pPr algn="ctr"/>
            <a:endParaRPr lang="en-US" b="1"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07445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29ED8C9-B09F-27A3-9C0F-02B29A27FBAC}"/>
              </a:ext>
            </a:extLst>
          </p:cNvPr>
          <p:cNvSpPr txBox="1"/>
          <p:nvPr/>
        </p:nvSpPr>
        <p:spPr>
          <a:xfrm>
            <a:off x="3719830" y="260649"/>
            <a:ext cx="4572000" cy="584775"/>
          </a:xfrm>
          <a:prstGeom prst="rect">
            <a:avLst/>
          </a:prstGeom>
          <a:noFill/>
        </p:spPr>
        <p:txBody>
          <a:bodyPr wrap="square">
            <a:spAutoFit/>
          </a:bodyPr>
          <a:lstStyle/>
          <a:p>
            <a:pPr algn="ctr"/>
            <a:r>
              <a:rPr lang="fr-FR" sz="3200" dirty="0">
                <a:solidFill>
                  <a:srgbClr val="DE9A00"/>
                </a:solidFill>
                <a:latin typeface="Cambria" panose="02040503050406030204" charset="0"/>
                <a:ea typeface="+mj-ea"/>
              </a:rPr>
              <a:t>Types of Cross Validation</a:t>
            </a:r>
          </a:p>
        </p:txBody>
      </p:sp>
      <p:sp>
        <p:nvSpPr>
          <p:cNvPr id="2" name="ZoneTexte 1">
            <a:extLst>
              <a:ext uri="{FF2B5EF4-FFF2-40B4-BE49-F238E27FC236}">
                <a16:creationId xmlns:a16="http://schemas.microsoft.com/office/drawing/2014/main" id="{E4EFABA8-0FC9-C838-4F71-EF105F0AAC96}"/>
              </a:ext>
            </a:extLst>
          </p:cNvPr>
          <p:cNvSpPr txBox="1"/>
          <p:nvPr/>
        </p:nvSpPr>
        <p:spPr>
          <a:xfrm>
            <a:off x="2135560" y="1340769"/>
            <a:ext cx="7920880" cy="4524315"/>
          </a:xfrm>
          <a:prstGeom prst="rect">
            <a:avLst/>
          </a:prstGeom>
          <a:noFill/>
        </p:spPr>
        <p:txBody>
          <a:bodyPr wrap="square">
            <a:spAutoFit/>
          </a:bodyPr>
          <a:lstStyle/>
          <a:p>
            <a:pPr algn="ctr"/>
            <a:endParaRPr lang="en-US" b="1" dirty="0">
              <a:latin typeface="Cambria" panose="02040503050406030204" pitchFamily="18" charset="0"/>
              <a:ea typeface="Cambria" panose="02040503050406030204" pitchFamily="18" charset="0"/>
            </a:endParaRPr>
          </a:p>
          <a:p>
            <a:pPr algn="ctr"/>
            <a:r>
              <a:rPr lang="en-US" b="1" dirty="0">
                <a:latin typeface="Cambria" panose="02040503050406030204" pitchFamily="18" charset="0"/>
                <a:ea typeface="Cambria" panose="02040503050406030204" pitchFamily="18" charset="0"/>
              </a:rPr>
              <a:t>Time Series Cross Validation</a:t>
            </a:r>
          </a:p>
          <a:p>
            <a:pPr algn="ctr"/>
            <a:endParaRPr lang="en-US" b="1"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Time Series Cross-Validation extends traditional cross-validation techniques to handle the temporal structure inherent in time series data. It ensures that the model is evaluated on past data and tested on future data, mimicking real-world scenarios.</a:t>
            </a:r>
          </a:p>
          <a:p>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pPr marL="342900" indent="-342900">
              <a:buFont typeface="+mj-lt"/>
              <a:buAutoNum type="arabicPeriod"/>
            </a:pPr>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pic>
        <p:nvPicPr>
          <p:cNvPr id="5" name="Image 4">
            <a:extLst>
              <a:ext uri="{FF2B5EF4-FFF2-40B4-BE49-F238E27FC236}">
                <a16:creationId xmlns:a16="http://schemas.microsoft.com/office/drawing/2014/main" id="{7DF6EC39-1D69-82E3-42B9-5900B6925E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3712" y="3488407"/>
            <a:ext cx="5400600" cy="3004084"/>
          </a:xfrm>
          <a:prstGeom prst="rect">
            <a:avLst/>
          </a:prstGeom>
        </p:spPr>
      </p:pic>
    </p:spTree>
    <p:extLst>
      <p:ext uri="{BB962C8B-B14F-4D97-AF65-F5344CB8AC3E}">
        <p14:creationId xmlns:p14="http://schemas.microsoft.com/office/powerpoint/2010/main" val="279041233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526</Words>
  <Application>Microsoft Office PowerPoint</Application>
  <PresentationFormat>Grand écran</PresentationFormat>
  <Paragraphs>87</Paragraphs>
  <Slides>14</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Arial</vt:lpstr>
      <vt:lpstr>Calibri</vt:lpstr>
      <vt:lpstr>Calibri Light</vt:lpstr>
      <vt:lpstr>Cambria</vt:lpstr>
      <vt:lpstr>Nunito</vt:lpstr>
      <vt:lpstr>Times New Roman</vt:lpstr>
      <vt:lpstr>Thème Office</vt:lpstr>
      <vt:lpstr>Machine Learning Techniques</vt:lpstr>
      <vt:lpstr>Machine Learning Techniques</vt:lpstr>
      <vt:lpstr>Ensemble Techniques : Bagging and Boosting</vt:lpstr>
      <vt:lpstr>Ensemble Techniques : Bagging</vt:lpstr>
      <vt:lpstr>Ensemble Techniques : Bagging</vt:lpstr>
      <vt:lpstr>Ensemble Techniques : Boosting</vt:lpstr>
      <vt:lpstr>Ensemble Techniques : Boosting</vt:lpstr>
      <vt:lpstr>Bagging vs Boosting</vt:lpstr>
      <vt:lpstr>Random Forest</vt:lpstr>
      <vt:lpstr>XGboost (support missing values and handle overfitting)</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Techniques</dc:title>
  <dc:creator>brahim zirari</dc:creator>
  <cp:lastModifiedBy>brahim zirari</cp:lastModifiedBy>
  <cp:revision>3</cp:revision>
  <dcterms:created xsi:type="dcterms:W3CDTF">2026-08-06T13:29:20Z</dcterms:created>
  <dcterms:modified xsi:type="dcterms:W3CDTF">2026-08-15T09:19:20Z</dcterms:modified>
</cp:coreProperties>
</file>