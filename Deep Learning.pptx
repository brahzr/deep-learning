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7" r:id="rId2"/>
    <p:sldId id="331" r:id="rId3"/>
    <p:sldId id="278" r:id="rId4"/>
    <p:sldId id="328" r:id="rId5"/>
    <p:sldId id="329" r:id="rId6"/>
    <p:sldId id="330" r:id="rId7"/>
    <p:sldId id="332" r:id="rId8"/>
    <p:sldId id="333" r:id="rId9"/>
    <p:sldId id="334" r:id="rId10"/>
    <p:sldId id="335" r:id="rId11"/>
    <p:sldId id="262" r:id="rId12"/>
    <p:sldId id="281" r:id="rId13"/>
    <p:sldId id="280" r:id="rId14"/>
    <p:sldId id="264" r:id="rId15"/>
    <p:sldId id="282" r:id="rId16"/>
    <p:sldId id="283" r:id="rId17"/>
    <p:sldId id="268" r:id="rId18"/>
    <p:sldId id="272" r:id="rId19"/>
    <p:sldId id="270" r:id="rId20"/>
    <p:sldId id="271" r:id="rId21"/>
    <p:sldId id="275" r:id="rId22"/>
    <p:sldId id="276" r:id="rId23"/>
    <p:sldId id="277" r:id="rId24"/>
    <p:sldId id="284" r:id="rId25"/>
    <p:sldId id="316"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300"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7" r:id="rId56"/>
    <p:sldId id="319" r:id="rId57"/>
    <p:sldId id="320" r:id="rId58"/>
    <p:sldId id="321" r:id="rId59"/>
    <p:sldId id="322" r:id="rId60"/>
    <p:sldId id="323" r:id="rId61"/>
    <p:sldId id="324" r:id="rId62"/>
    <p:sldId id="325" r:id="rId63"/>
    <p:sldId id="326" r:id="rId64"/>
    <p:sldId id="327" r:id="rId6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8T08:43:02.693"/>
    </inkml:context>
    <inkml:brush xml:id="br0">
      <inkml:brushProperty name="width" value="0.05" units="cm"/>
      <inkml:brushProperty name="height" value="0.05" units="cm"/>
    </inkml:brush>
  </inkml:definitions>
  <inkml:trace contextRef="#ctx0" brushRef="#br0">1098 448 652 0 0,'-8'-34'2151'0'0,"6"27"-1972"0"0,0 1 0 0 0,1-1-1 0 0,0 1 1 0 0,0-1-1 0 0,0 1 1 0 0,1-1 0 0 0,0 0-1 0 0,0 1 1 0 0,1-9 0 0 0,2 1 134 0 0,-1 0 1 0 0,0 0-1 0 0,-1 0 1 0 0,0 0-1 0 0,-3-21 1 0 0,2 30-264 0 0,-1 0 0 0 0,0 0 0 0 0,0 0 0 0 0,-1 1 0 0 0,1-1 0 0 0,-1 1 0 0 0,0-1 0 0 0,0 1 0 0 0,0-1 0 0 0,-1 1 0 0 0,0 0 0 0 0,1 0 0 0 0,-1 0 0 0 0,-1 1 0 0 0,1-1 0 0 0,-1 1 0 0 0,1-1 0 0 0,-1 1 0 0 0,-6-3 0 0 0,-19-10-91 0 0,-1 2 0 0 0,-42-15 1 0 0,-23-9 156 0 0,78 29 1 0 0,-1 1 1 0 0,0 1-1 0 0,-1 1 1 0 0,1 0 0 0 0,-1 2-1 0 0,0 0 1 0 0,0 1-1 0 0,-1 1 1 0 0,1 0 0 0 0,-1 2-1 0 0,1 0 1 0 0,-33 6-1 0 0,33-3 16 0 0,-6 1 126 0 0,0 1 0 0 0,-26 9-1 0 0,43-10-237 0 0,-1-1-1 0 0,1 1 1 0 0,0 1-1 0 0,0 0 1 0 0,0 0 0 0 0,0 0-1 0 0,1 1 1 0 0,0 0-1 0 0,-8 8 1 0 0,-14 21 120 0 0,2 2 0 0 0,1 1 0 0 0,2 0 0 0 0,2 2 0 0 0,1 1 0 0 0,-22 63 0 0 0,33-72-123 0 0,1 0 0 0 0,2 1 0 0 0,-6 54 0 0 0,9-52 115 0 0,-1 1 0 0 0,-20 65 0 0 0,-1-40 140 0 0,17-43-218 0 0,1 1 0 0 0,-11 38 0 0 0,19-56-105 0 0,0 0 0 0 0,0 0 0 0 0,0 0-1 0 0,0 0 1 0 0,0 0 0 0 0,0 0-1 0 0,0 0 1 0 0,0 0 0 0 0,0 0 0 0 0,0 0-1 0 0,1 1 1 0 0,-1-1 0 0 0,0 0-1 0 0,1 0 1 0 0,-1 0 0 0 0,1 0 0 0 0,-1 0-1 0 0,1-1 1 0 0,0 1 0 0 0,-1 0-1 0 0,1 0 1 0 0,0 0 0 0 0,-1 0 0 0 0,1-1-1 0 0,0 1 1 0 0,0 0 0 0 0,0-1 0 0 0,0 1-1 0 0,0 0 1 0 0,0-1 0 0 0,0 0-1 0 0,0 1 1 0 0,0-1 0 0 0,2 1 0 0 0,0 0-574 0 0,1 0 0 0 0,0 0 0 0 0,-1-1 0 0 0,1 1 0 0 0,0-1 1 0 0,-1 0-1 0 0,1 0 0 0 0,0 0 0 0 0,4-1 0 0 0,1-3-1702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170F29-B0F9-4723-B51B-9776D894F4B6}" type="datetimeFigureOut">
              <a:rPr lang="fr-FR" smtClean="0"/>
              <a:t>08/09/2026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BFF1C8-D90D-43C8-8C8D-DBA8D992418D}" type="slidenum">
              <a:rPr lang="fr-FR" smtClean="0"/>
              <a:t>‹N°›</a:t>
            </a:fld>
            <a:endParaRPr lang="fr-FR"/>
          </a:p>
        </p:txBody>
      </p:sp>
    </p:spTree>
    <p:extLst>
      <p:ext uri="{BB962C8B-B14F-4D97-AF65-F5344CB8AC3E}">
        <p14:creationId xmlns:p14="http://schemas.microsoft.com/office/powerpoint/2010/main" val="1454316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BFF1C8-D90D-43C8-8C8D-DBA8D992418D}" type="slidenum">
              <a:rPr lang="fr-FR" smtClean="0"/>
              <a:t>57</a:t>
            </a:fld>
            <a:endParaRPr lang="fr-FR"/>
          </a:p>
        </p:txBody>
      </p:sp>
    </p:spTree>
    <p:extLst>
      <p:ext uri="{BB962C8B-B14F-4D97-AF65-F5344CB8AC3E}">
        <p14:creationId xmlns:p14="http://schemas.microsoft.com/office/powerpoint/2010/main" val="3753081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BFF1C8-D90D-43C8-8C8D-DBA8D992418D}" type="slidenum">
              <a:rPr lang="fr-FR" smtClean="0"/>
              <a:t>58</a:t>
            </a:fld>
            <a:endParaRPr lang="fr-FR"/>
          </a:p>
        </p:txBody>
      </p:sp>
    </p:spTree>
    <p:extLst>
      <p:ext uri="{BB962C8B-B14F-4D97-AF65-F5344CB8AC3E}">
        <p14:creationId xmlns:p14="http://schemas.microsoft.com/office/powerpoint/2010/main" val="1359854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BFF1C8-D90D-43C8-8C8D-DBA8D992418D}" type="slidenum">
              <a:rPr lang="fr-FR" smtClean="0"/>
              <a:t>59</a:t>
            </a:fld>
            <a:endParaRPr lang="fr-FR"/>
          </a:p>
        </p:txBody>
      </p:sp>
    </p:spTree>
    <p:extLst>
      <p:ext uri="{BB962C8B-B14F-4D97-AF65-F5344CB8AC3E}">
        <p14:creationId xmlns:p14="http://schemas.microsoft.com/office/powerpoint/2010/main" val="2714923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BFF1C8-D90D-43C8-8C8D-DBA8D992418D}" type="slidenum">
              <a:rPr lang="fr-FR" smtClean="0"/>
              <a:t>60</a:t>
            </a:fld>
            <a:endParaRPr lang="fr-FR"/>
          </a:p>
        </p:txBody>
      </p:sp>
    </p:spTree>
    <p:extLst>
      <p:ext uri="{BB962C8B-B14F-4D97-AF65-F5344CB8AC3E}">
        <p14:creationId xmlns:p14="http://schemas.microsoft.com/office/powerpoint/2010/main" val="3580365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BFF1C8-D90D-43C8-8C8D-DBA8D992418D}" type="slidenum">
              <a:rPr lang="fr-FR" smtClean="0"/>
              <a:t>61</a:t>
            </a:fld>
            <a:endParaRPr lang="fr-FR"/>
          </a:p>
        </p:txBody>
      </p:sp>
    </p:spTree>
    <p:extLst>
      <p:ext uri="{BB962C8B-B14F-4D97-AF65-F5344CB8AC3E}">
        <p14:creationId xmlns:p14="http://schemas.microsoft.com/office/powerpoint/2010/main" val="1624723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BFF1C8-D90D-43C8-8C8D-DBA8D992418D}" type="slidenum">
              <a:rPr lang="fr-FR" smtClean="0"/>
              <a:t>62</a:t>
            </a:fld>
            <a:endParaRPr lang="fr-FR"/>
          </a:p>
        </p:txBody>
      </p:sp>
    </p:spTree>
    <p:extLst>
      <p:ext uri="{BB962C8B-B14F-4D97-AF65-F5344CB8AC3E}">
        <p14:creationId xmlns:p14="http://schemas.microsoft.com/office/powerpoint/2010/main" val="2888774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BFF1C8-D90D-43C8-8C8D-DBA8D992418D}" type="slidenum">
              <a:rPr lang="fr-FR" smtClean="0"/>
              <a:t>63</a:t>
            </a:fld>
            <a:endParaRPr lang="fr-FR"/>
          </a:p>
        </p:txBody>
      </p:sp>
    </p:spTree>
    <p:extLst>
      <p:ext uri="{BB962C8B-B14F-4D97-AF65-F5344CB8AC3E}">
        <p14:creationId xmlns:p14="http://schemas.microsoft.com/office/powerpoint/2010/main" val="3462361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BFF1C8-D90D-43C8-8C8D-DBA8D992418D}" type="slidenum">
              <a:rPr lang="fr-FR" smtClean="0"/>
              <a:t>64</a:t>
            </a:fld>
            <a:endParaRPr lang="fr-FR"/>
          </a:p>
        </p:txBody>
      </p:sp>
    </p:spTree>
    <p:extLst>
      <p:ext uri="{BB962C8B-B14F-4D97-AF65-F5344CB8AC3E}">
        <p14:creationId xmlns:p14="http://schemas.microsoft.com/office/powerpoint/2010/main" val="1670846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DF17C3-3A58-0073-11F6-E8E4892556D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99BE054-0A35-616F-CBFA-52F004242E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DC07D5C-DB4E-525A-F6F5-16ED55298906}"/>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C72F1CA0-DA24-617E-0971-A06A72061A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7FB3D55-2E0E-0BE7-2E09-16B6C4D5EA4E}"/>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1806070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F9A457-EE25-5D2F-1DD1-E96528EA728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ED92049-B279-965D-F80B-F1C9604ACC5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1153010-0710-E7D2-8806-B2620D549433}"/>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7D69B4BA-3AA3-3914-BEBF-5A092BA58B6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32FD07-F205-911A-05B7-631D39714D27}"/>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572062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9EC5C5-CFFE-B7CE-F8B3-65826C424A7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1E581B4-7FF6-7B8D-C1F2-091BCB6793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917AB1C-3272-8C7D-FC86-BC38071D3B6D}"/>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DD5ECC04-F47F-D94C-4F3C-212142124E7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DABEAB8-70E2-8604-EABE-18A5378F0F4D}"/>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3502061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2664C5-C7CE-4D83-DB8E-73D407D61FD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588C5F3-94DF-63A8-919B-45D37586562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E9DBB61-4DAD-4D92-E4CF-AA7FF7DF0B2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21E1B38-6FDB-B660-81C8-B6720230373F}"/>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6" name="Espace réservé du pied de page 5">
            <a:extLst>
              <a:ext uri="{FF2B5EF4-FFF2-40B4-BE49-F238E27FC236}">
                <a16:creationId xmlns:a16="http://schemas.microsoft.com/office/drawing/2014/main" id="{342DA1C7-4B95-5569-3027-64777477EE8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C6B7E23-3C1B-63C2-1761-6D53826589B5}"/>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2993964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11778D-F401-A24D-7008-8AA5CCB20D7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7D56B95C-AA39-5C33-B612-684F49D514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BFD1DFF-4A54-89C7-4B3D-213959E4EFF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D5D5D5F-D06B-2C64-1C2B-E345C08DC6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E37266D-FA61-BA66-350C-8D458DC4695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46DCAB3-87F0-E9EB-8306-122912ECAF63}"/>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8" name="Espace réservé du pied de page 7">
            <a:extLst>
              <a:ext uri="{FF2B5EF4-FFF2-40B4-BE49-F238E27FC236}">
                <a16:creationId xmlns:a16="http://schemas.microsoft.com/office/drawing/2014/main" id="{C58A01F9-DE2D-C02B-B60F-E1D8839A7E0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851E19D-CB0B-DBDA-52ED-7FB43F1EFC00}"/>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1385176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C89548-3B48-1DBD-E3C7-B016BA15A0B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6FD04ED-5ABA-0E10-086A-D12AE266971E}"/>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4" name="Espace réservé du pied de page 3">
            <a:extLst>
              <a:ext uri="{FF2B5EF4-FFF2-40B4-BE49-F238E27FC236}">
                <a16:creationId xmlns:a16="http://schemas.microsoft.com/office/drawing/2014/main" id="{5A27BD8B-4508-538F-0D84-3ADC65C0CE2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291E379-B24A-ECFE-3E8A-7D9C55C05B26}"/>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978943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21D22E9-6C14-3214-2769-D4E2484C7C9A}"/>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3" name="Espace réservé du pied de page 2">
            <a:extLst>
              <a:ext uri="{FF2B5EF4-FFF2-40B4-BE49-F238E27FC236}">
                <a16:creationId xmlns:a16="http://schemas.microsoft.com/office/drawing/2014/main" id="{A71C07BC-9962-4912-A3C6-64409204271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A2A45B1-1034-54E4-0031-1EDF2DB7373F}"/>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1294723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D0FF26-178E-B684-505B-0ABF9C12E17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FA6760F-4EF2-889C-DC63-117469FF86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9EA6C35-B80F-FC00-2116-361F66E38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D05E12F-D300-6714-F6D6-377201ACE413}"/>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6" name="Espace réservé du pied de page 5">
            <a:extLst>
              <a:ext uri="{FF2B5EF4-FFF2-40B4-BE49-F238E27FC236}">
                <a16:creationId xmlns:a16="http://schemas.microsoft.com/office/drawing/2014/main" id="{908E53EB-DCC5-4C90-EAC4-D91088E2B42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D77532B-1DE6-213F-462C-4CC7C71FD814}"/>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2101224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7162C2-57A5-F4FB-F06E-2FE2DE97096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5DAD5C6-919F-9632-6D8A-1BDFC8377D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771AD62-AEA5-C4AE-D2C6-66E95160E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5B73B2-C931-296D-B022-52C1C11A0920}"/>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6" name="Espace réservé du pied de page 5">
            <a:extLst>
              <a:ext uri="{FF2B5EF4-FFF2-40B4-BE49-F238E27FC236}">
                <a16:creationId xmlns:a16="http://schemas.microsoft.com/office/drawing/2014/main" id="{2389C41B-F0B9-0F10-FCCC-D3734866F08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DCE2723-1846-2DC6-9FEE-7AE8FA823BDC}"/>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551046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6B1959-2A85-8057-25ED-565506559ED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99F00CF-1D28-C356-1932-1C4ECE037BE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2382B91-E242-287B-90A3-2496ADC7B7C2}"/>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4DD4854F-044B-EB1F-1CFB-060683D2CC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A8AF7B4-C061-D1AD-5577-FA74AD560CC4}"/>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2816737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5A6BEFC-3E75-E51D-AE46-7E35AE815FAD}"/>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49DA0AE-1F38-18A7-298D-EA5445BE253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ACE42D2-73ED-8B34-B173-4F601A6A47F9}"/>
              </a:ext>
            </a:extLst>
          </p:cNvPr>
          <p:cNvSpPr>
            <a:spLocks noGrp="1"/>
          </p:cNvSpPr>
          <p:nvPr>
            <p:ph type="dt" sz="half" idx="10"/>
          </p:nvPr>
        </p:nvSpPr>
        <p:spPr/>
        <p:txBody>
          <a:bodyPr/>
          <a:lstStyle/>
          <a:p>
            <a:fld id="{FA0D9D32-DF11-4777-AC6D-FA87A34A18B3}"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FC4CC016-BD44-AD3C-1D62-DE5991461DC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667B5CF-9D56-B06D-99EA-63D91E486EA5}"/>
              </a:ext>
            </a:extLst>
          </p:cNvPr>
          <p:cNvSpPr>
            <a:spLocks noGrp="1"/>
          </p:cNvSpPr>
          <p:nvPr>
            <p:ph type="sldNum" sz="quarter" idx="12"/>
          </p:nvPr>
        </p:nvSpPr>
        <p:spPr/>
        <p:txBody>
          <a:bodyPr/>
          <a:lstStyle/>
          <a:p>
            <a:fld id="{DDEC4C87-778A-463B-BB83-B0E245998039}" type="slidenum">
              <a:rPr lang="fr-FR" smtClean="0"/>
              <a:t>‹N°›</a:t>
            </a:fld>
            <a:endParaRPr lang="fr-FR"/>
          </a:p>
        </p:txBody>
      </p:sp>
    </p:spTree>
    <p:extLst>
      <p:ext uri="{BB962C8B-B14F-4D97-AF65-F5344CB8AC3E}">
        <p14:creationId xmlns:p14="http://schemas.microsoft.com/office/powerpoint/2010/main" val="3668242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63D9A94-E659-967F-D523-888E09A26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C12CCFD-878D-6AF4-0ED3-B0D0E4CE26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9E4D00B-82A8-C977-5199-77507BA895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0D9D32-DF11-4777-AC6D-FA87A34A18B3}"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4819DCD7-DD8B-1359-BD03-496A9EED30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BB7FFC6-B201-22E4-A9A7-09CDA0D66B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EC4C87-778A-463B-BB83-B0E245998039}" type="slidenum">
              <a:rPr lang="fr-FR" smtClean="0"/>
              <a:t>‹N°›</a:t>
            </a:fld>
            <a:endParaRPr lang="fr-FR"/>
          </a:p>
        </p:txBody>
      </p:sp>
    </p:spTree>
    <p:extLst>
      <p:ext uri="{BB962C8B-B14F-4D97-AF65-F5344CB8AC3E}">
        <p14:creationId xmlns:p14="http://schemas.microsoft.com/office/powerpoint/2010/main" val="1237529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hyperlink" Target="https://www.geeksforgeeks.org/machine-learning/introduction-convolution-neural-network/"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7.jpg"/><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48.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geeksforgeeks.org/machine-learning/what-is-sentiment-analysis/"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geeksforgeeks.org/machine-learning/what-is-sentiment-analysis/"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colah.github.io/posts/2015-08-Understanding-LSTMs/#fn1" TargetMode="External"/><Relationship Id="rId2" Type="http://schemas.openxmlformats.org/officeDocument/2006/relationships/hyperlink" Target="http://www.bioinf.jku.at/publications/older/2604.pdf" TargetMode="Externa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ieeexplore.ieee.org/document/861302"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arxiv.org/pdf/1406.1078v3"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370C9D-1E22-7CDF-03B4-02E92369FF0A}"/>
              </a:ext>
            </a:extLst>
          </p:cNvPr>
          <p:cNvSpPr>
            <a:spLocks noGrp="1"/>
          </p:cNvSpPr>
          <p:nvPr>
            <p:ph type="ctrTitle"/>
          </p:nvPr>
        </p:nvSpPr>
        <p:spPr/>
        <p:txBody>
          <a:bodyPr/>
          <a:lstStyle/>
          <a:p>
            <a:r>
              <a:rPr lang="fr-FR" dirty="0"/>
              <a:t>Deep Learning</a:t>
            </a:r>
          </a:p>
        </p:txBody>
      </p:sp>
    </p:spTree>
    <p:extLst>
      <p:ext uri="{BB962C8B-B14F-4D97-AF65-F5344CB8AC3E}">
        <p14:creationId xmlns:p14="http://schemas.microsoft.com/office/powerpoint/2010/main" val="353990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09D8F6-EF5A-0F9C-2F46-B7EEFE3E57B1}"/>
              </a:ext>
            </a:extLst>
          </p:cNvPr>
          <p:cNvSpPr>
            <a:spLocks noGrp="1"/>
          </p:cNvSpPr>
          <p:nvPr>
            <p:ph type="title"/>
          </p:nvPr>
        </p:nvSpPr>
        <p:spPr/>
        <p:txBody>
          <a:bodyPr/>
          <a:lstStyle/>
          <a:p>
            <a:r>
              <a:rPr lang="fr-FR" dirty="0"/>
              <a:t>Machine Learning vs Deep Learning</a:t>
            </a:r>
          </a:p>
        </p:txBody>
      </p:sp>
      <p:graphicFrame>
        <p:nvGraphicFramePr>
          <p:cNvPr id="4" name="Espace réservé du contenu 3">
            <a:extLst>
              <a:ext uri="{FF2B5EF4-FFF2-40B4-BE49-F238E27FC236}">
                <a16:creationId xmlns:a16="http://schemas.microsoft.com/office/drawing/2014/main" id="{1399FEF1-11B7-3C9B-51C8-3AF9A5523F65}"/>
              </a:ext>
            </a:extLst>
          </p:cNvPr>
          <p:cNvGraphicFramePr>
            <a:graphicFrameLocks noGrp="1"/>
          </p:cNvGraphicFramePr>
          <p:nvPr>
            <p:ph idx="1"/>
            <p:extLst>
              <p:ext uri="{D42A27DB-BD31-4B8C-83A1-F6EECF244321}">
                <p14:modId xmlns:p14="http://schemas.microsoft.com/office/powerpoint/2010/main" val="1600621857"/>
              </p:ext>
            </p:extLst>
          </p:nvPr>
        </p:nvGraphicFramePr>
        <p:xfrm>
          <a:off x="419100" y="1447800"/>
          <a:ext cx="11077575" cy="5268212"/>
        </p:xfrm>
        <a:graphic>
          <a:graphicData uri="http://schemas.openxmlformats.org/drawingml/2006/table">
            <a:tbl>
              <a:tblPr/>
              <a:tblGrid>
                <a:gridCol w="3692525">
                  <a:extLst>
                    <a:ext uri="{9D8B030D-6E8A-4147-A177-3AD203B41FA5}">
                      <a16:colId xmlns:a16="http://schemas.microsoft.com/office/drawing/2014/main" val="1250363206"/>
                    </a:ext>
                  </a:extLst>
                </a:gridCol>
                <a:gridCol w="3692525">
                  <a:extLst>
                    <a:ext uri="{9D8B030D-6E8A-4147-A177-3AD203B41FA5}">
                      <a16:colId xmlns:a16="http://schemas.microsoft.com/office/drawing/2014/main" val="3923768536"/>
                    </a:ext>
                  </a:extLst>
                </a:gridCol>
                <a:gridCol w="3692525">
                  <a:extLst>
                    <a:ext uri="{9D8B030D-6E8A-4147-A177-3AD203B41FA5}">
                      <a16:colId xmlns:a16="http://schemas.microsoft.com/office/drawing/2014/main" val="2180982196"/>
                    </a:ext>
                  </a:extLst>
                </a:gridCol>
              </a:tblGrid>
              <a:tr h="289380">
                <a:tc>
                  <a:txBody>
                    <a:bodyPr/>
                    <a:lstStyle/>
                    <a:p>
                      <a:pPr rtl="0"/>
                      <a:r>
                        <a:rPr lang="fr-FR" sz="1400" b="1">
                          <a:solidFill>
                            <a:srgbClr val="1F1F1F"/>
                          </a:solidFill>
                          <a:effectLst/>
                          <a:latin typeface="Google Sans Text"/>
                        </a:rPr>
                        <a:t>Dimension / Feature</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fr-FR" sz="1400" b="1">
                          <a:solidFill>
                            <a:srgbClr val="1F1F1F"/>
                          </a:solidFill>
                          <a:effectLst/>
                          <a:latin typeface="Google Sans Text"/>
                        </a:rPr>
                        <a:t>Classical Machine Learning (ML)</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fr-FR" sz="1400" b="1">
                          <a:solidFill>
                            <a:srgbClr val="1F1F1F"/>
                          </a:solidFill>
                          <a:effectLst/>
                          <a:latin typeface="Google Sans Text"/>
                        </a:rPr>
                        <a:t>Deep Learning (DL)</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20309493"/>
                  </a:ext>
                </a:extLst>
              </a:tr>
              <a:tr h="489822">
                <a:tc>
                  <a:txBody>
                    <a:bodyPr/>
                    <a:lstStyle/>
                    <a:p>
                      <a:pPr rtl="0"/>
                      <a:r>
                        <a:rPr lang="fr-FR" sz="1400" b="1">
                          <a:solidFill>
                            <a:srgbClr val="1F1F1F"/>
                          </a:solidFill>
                          <a:effectLst/>
                          <a:latin typeface="Google Sans Text"/>
                        </a:rPr>
                        <a:t>Primary Data Type</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Structured / Tabular data (CSVs, SQL tables, Excel spreadsheets)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Unstructured data (Images, Video, Audio, Text, Speech)</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813039585"/>
                  </a:ext>
                </a:extLst>
              </a:tr>
              <a:tr h="690266">
                <a:tc>
                  <a:txBody>
                    <a:bodyPr/>
                    <a:lstStyle/>
                    <a:p>
                      <a:pPr rtl="0"/>
                      <a:r>
                        <a:rPr lang="fr-FR" sz="1400" b="1">
                          <a:solidFill>
                            <a:srgbClr val="1F1F1F"/>
                          </a:solidFill>
                          <a:effectLst/>
                          <a:latin typeface="Google Sans Text"/>
                        </a:rPr>
                        <a:t>Feature Extraction</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b="1">
                          <a:solidFill>
                            <a:srgbClr val="1F1F1F"/>
                          </a:solidFill>
                          <a:effectLst/>
                          <a:latin typeface="Google Sans Text"/>
                        </a:rPr>
                        <a:t>Manual:</a:t>
                      </a:r>
                      <a:r>
                        <a:rPr lang="en-US" sz="1400">
                          <a:solidFill>
                            <a:srgbClr val="1F1F1F"/>
                          </a:solidFill>
                          <a:effectLst/>
                          <a:latin typeface="Google Sans Text"/>
                        </a:rPr>
                        <a:t> Features are hand-crafted by domain experts (e.g., SIFT, HOG, engineered variables)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b="1" dirty="0">
                          <a:solidFill>
                            <a:srgbClr val="1F1F1F"/>
                          </a:solidFill>
                          <a:effectLst/>
                          <a:latin typeface="Google Sans Text"/>
                        </a:rPr>
                        <a:t>Automatic:</a:t>
                      </a:r>
                      <a:r>
                        <a:rPr lang="en-US" sz="1400" dirty="0">
                          <a:solidFill>
                            <a:srgbClr val="1F1F1F"/>
                          </a:solidFill>
                          <a:effectLst/>
                          <a:latin typeface="Google Sans Text"/>
                        </a:rPr>
                        <a:t> Features are learned hierarchically directly from raw data</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866108808"/>
                  </a:ext>
                </a:extLst>
              </a:tr>
              <a:tr h="690266">
                <a:tc>
                  <a:txBody>
                    <a:bodyPr/>
                    <a:lstStyle/>
                    <a:p>
                      <a:pPr rtl="0"/>
                      <a:r>
                        <a:rPr lang="fr-FR" sz="1400" b="1">
                          <a:solidFill>
                            <a:srgbClr val="1F1F1F"/>
                          </a:solidFill>
                          <a:effectLst/>
                          <a:latin typeface="Google Sans Text"/>
                        </a:rPr>
                        <a:t>Data Volume Scaling</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Works well on small/medium datasets; performance plateaus on massive data</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Performs poorly on small datasets; performance scales continuously with massive data</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241607727"/>
                  </a:ext>
                </a:extLst>
              </a:tr>
              <a:tr h="489822">
                <a:tc>
                  <a:txBody>
                    <a:bodyPr/>
                    <a:lstStyle/>
                    <a:p>
                      <a:pPr rtl="0"/>
                      <a:r>
                        <a:rPr lang="fr-FR" sz="1400" b="1">
                          <a:solidFill>
                            <a:srgbClr val="1F1F1F"/>
                          </a:solidFill>
                          <a:effectLst/>
                          <a:latin typeface="Google Sans Text"/>
                        </a:rPr>
                        <a:t>Hardware Requirements</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fr-FR" sz="1400">
                          <a:solidFill>
                            <a:srgbClr val="1F1F1F"/>
                          </a:solidFill>
                          <a:effectLst/>
                          <a:latin typeface="Google Sans Text"/>
                        </a:rPr>
                        <a:t>Standard CPUs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High-performance parallel hardware (GPUs / TPUs)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119963740"/>
                  </a:ext>
                </a:extLst>
              </a:tr>
              <a:tr h="690266">
                <a:tc>
                  <a:txBody>
                    <a:bodyPr/>
                    <a:lstStyle/>
                    <a:p>
                      <a:pPr rtl="0"/>
                      <a:r>
                        <a:rPr lang="fr-FR" sz="1400" b="1">
                          <a:solidFill>
                            <a:srgbClr val="1F1F1F"/>
                          </a:solidFill>
                          <a:effectLst/>
                          <a:latin typeface="Google Sans Text"/>
                        </a:rPr>
                        <a:t>Problem-Solving Approach</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b="1">
                          <a:solidFill>
                            <a:srgbClr val="1F1F1F"/>
                          </a:solidFill>
                          <a:effectLst/>
                          <a:latin typeface="Google Sans Text"/>
                        </a:rPr>
                        <a:t>Modular / Decomposed:</a:t>
                      </a:r>
                      <a:r>
                        <a:rPr lang="en-US" sz="1400">
                          <a:solidFill>
                            <a:srgbClr val="1F1F1F"/>
                          </a:solidFill>
                          <a:effectLst/>
                          <a:latin typeface="Google Sans Text"/>
                        </a:rPr>
                        <a:t> Break the problem into pipeline steps and combine outputs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b="1">
                          <a:solidFill>
                            <a:srgbClr val="1F1F1F"/>
                          </a:solidFill>
                          <a:effectLst/>
                          <a:latin typeface="Google Sans Text"/>
                        </a:rPr>
                        <a:t>End-to-End:</a:t>
                      </a:r>
                      <a:r>
                        <a:rPr lang="en-US" sz="1400">
                          <a:solidFill>
                            <a:srgbClr val="1F1F1F"/>
                          </a:solidFill>
                          <a:effectLst/>
                          <a:latin typeface="Google Sans Text"/>
                        </a:rPr>
                        <a:t> Input raw data directly into the network to get the final prediction</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256956940"/>
                  </a:ext>
                </a:extLst>
              </a:tr>
              <a:tr h="690266">
                <a:tc>
                  <a:txBody>
                    <a:bodyPr/>
                    <a:lstStyle/>
                    <a:p>
                      <a:pPr rtl="0"/>
                      <a:r>
                        <a:rPr lang="fr-FR" sz="1400" b="1">
                          <a:solidFill>
                            <a:srgbClr val="1F1F1F"/>
                          </a:solidFill>
                          <a:effectLst/>
                          <a:latin typeface="Google Sans Text"/>
                        </a:rPr>
                        <a:t>Model Interpretability</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b="1">
                          <a:solidFill>
                            <a:srgbClr val="1F1F1F"/>
                          </a:solidFill>
                          <a:effectLst/>
                          <a:latin typeface="Google Sans Text"/>
                        </a:rPr>
                        <a:t>High:</a:t>
                      </a:r>
                      <a:r>
                        <a:rPr lang="en-US" sz="1400">
                          <a:solidFill>
                            <a:srgbClr val="1F1F1F"/>
                          </a:solidFill>
                          <a:effectLst/>
                          <a:latin typeface="Google Sans Text"/>
                        </a:rPr>
                        <a:t> Easy to inspect decision trees, feature weights, or feature importance</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b="1">
                          <a:solidFill>
                            <a:srgbClr val="1F1F1F"/>
                          </a:solidFill>
                          <a:effectLst/>
                          <a:latin typeface="Google Sans Text"/>
                        </a:rPr>
                        <a:t>Low:</a:t>
                      </a:r>
                      <a:r>
                        <a:rPr lang="en-US" sz="1400">
                          <a:solidFill>
                            <a:srgbClr val="1F1F1F"/>
                          </a:solidFill>
                          <a:effectLst/>
                          <a:latin typeface="Google Sans Text"/>
                        </a:rPr>
                        <a:t> "Black Box" nature with complex non-linear parameters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506446532"/>
                  </a:ext>
                </a:extLst>
              </a:tr>
              <a:tr h="489822">
                <a:tc>
                  <a:txBody>
                    <a:bodyPr/>
                    <a:lstStyle/>
                    <a:p>
                      <a:pPr rtl="0"/>
                      <a:r>
                        <a:rPr lang="fr-FR" sz="1400" b="1">
                          <a:solidFill>
                            <a:srgbClr val="1F1F1F"/>
                          </a:solidFill>
                          <a:effectLst/>
                          <a:latin typeface="Google Sans Text"/>
                        </a:rPr>
                        <a:t>Training Time</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Fast (seconds to minutes/hours)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Slow (hours to days/weeks depending on architecture)</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70533634"/>
                  </a:ext>
                </a:extLst>
              </a:tr>
              <a:tr h="690266">
                <a:tc>
                  <a:txBody>
                    <a:bodyPr/>
                    <a:lstStyle/>
                    <a:p>
                      <a:pPr rtl="0"/>
                      <a:r>
                        <a:rPr lang="fr-FR" sz="1400" b="1">
                          <a:solidFill>
                            <a:srgbClr val="1F1F1F"/>
                          </a:solidFill>
                          <a:effectLst/>
                          <a:latin typeface="Google Sans Text"/>
                        </a:rPr>
                        <a:t>Dominant Algorithms</a:t>
                      </a:r>
                      <a:endParaRPr lang="fr-FR" sz="1400">
                        <a:solidFill>
                          <a:srgbClr val="1F1F1F"/>
                        </a:solidFill>
                        <a:effectLst/>
                        <a:latin typeface="Google Sans Text"/>
                      </a:endParaRP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dirty="0">
                          <a:solidFill>
                            <a:srgbClr val="1F1F1F"/>
                          </a:solidFill>
                          <a:effectLst/>
                          <a:latin typeface="Google Sans Text"/>
                        </a:rPr>
                        <a:t>Linear Regression, Logistic Regression, Decision Trees, Random Forests, </a:t>
                      </a:r>
                      <a:r>
                        <a:rPr lang="en-US" sz="1400" dirty="0" err="1">
                          <a:solidFill>
                            <a:srgbClr val="1F1F1F"/>
                          </a:solidFill>
                          <a:effectLst/>
                          <a:latin typeface="Google Sans Text"/>
                        </a:rPr>
                        <a:t>XGBoost</a:t>
                      </a:r>
                      <a:r>
                        <a:rPr lang="en-US" sz="1400" dirty="0">
                          <a:solidFill>
                            <a:srgbClr val="1F1F1F"/>
                          </a:solidFill>
                          <a:effectLst/>
                          <a:latin typeface="Google Sans Text"/>
                        </a:rPr>
                        <a:t>, SVMs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fr-FR" sz="1400" dirty="0" err="1">
                          <a:solidFill>
                            <a:srgbClr val="1F1F1F"/>
                          </a:solidFill>
                          <a:effectLst/>
                          <a:latin typeface="Google Sans Text"/>
                        </a:rPr>
                        <a:t>Convolutional</a:t>
                      </a:r>
                      <a:r>
                        <a:rPr lang="fr-FR" sz="1400" dirty="0">
                          <a:solidFill>
                            <a:srgbClr val="1F1F1F"/>
                          </a:solidFill>
                          <a:effectLst/>
                          <a:latin typeface="Google Sans Text"/>
                        </a:rPr>
                        <a:t> Neural Networks (</a:t>
                      </a:r>
                      <a:r>
                        <a:rPr lang="fr-FR" sz="1400" dirty="0" err="1">
                          <a:solidFill>
                            <a:srgbClr val="1F1F1F"/>
                          </a:solidFill>
                          <a:effectLst/>
                          <a:latin typeface="Google Sans Text"/>
                        </a:rPr>
                        <a:t>CNNs</a:t>
                      </a:r>
                      <a:r>
                        <a:rPr lang="fr-FR" sz="1400" dirty="0">
                          <a:solidFill>
                            <a:srgbClr val="1F1F1F"/>
                          </a:solidFill>
                          <a:effectLst/>
                          <a:latin typeface="Google Sans Text"/>
                        </a:rPr>
                        <a:t>), </a:t>
                      </a:r>
                      <a:r>
                        <a:rPr lang="fr-FR" sz="1400" dirty="0" err="1">
                          <a:solidFill>
                            <a:srgbClr val="1F1F1F"/>
                          </a:solidFill>
                          <a:effectLst/>
                          <a:latin typeface="Google Sans Text"/>
                        </a:rPr>
                        <a:t>Recurrent</a:t>
                      </a:r>
                      <a:r>
                        <a:rPr lang="fr-FR" sz="1400" dirty="0">
                          <a:solidFill>
                            <a:srgbClr val="1F1F1F"/>
                          </a:solidFill>
                          <a:effectLst/>
                          <a:latin typeface="Google Sans Text"/>
                        </a:rPr>
                        <a:t> Neural Networks (</a:t>
                      </a:r>
                      <a:r>
                        <a:rPr lang="fr-FR" sz="1400" dirty="0" err="1">
                          <a:solidFill>
                            <a:srgbClr val="1F1F1F"/>
                          </a:solidFill>
                          <a:effectLst/>
                          <a:latin typeface="Google Sans Text"/>
                        </a:rPr>
                        <a:t>RNNs</a:t>
                      </a:r>
                      <a:r>
                        <a:rPr lang="fr-FR" sz="1400" dirty="0">
                          <a:solidFill>
                            <a:srgbClr val="1F1F1F"/>
                          </a:solidFill>
                          <a:effectLst/>
                          <a:latin typeface="Google Sans Text"/>
                        </a:rPr>
                        <a:t>), </a:t>
                      </a:r>
                      <a:r>
                        <a:rPr lang="fr-FR" sz="1400" dirty="0" err="1">
                          <a:solidFill>
                            <a:srgbClr val="1F1F1F"/>
                          </a:solidFill>
                          <a:effectLst/>
                          <a:latin typeface="Google Sans Text"/>
                        </a:rPr>
                        <a:t>LSTMs</a:t>
                      </a:r>
                      <a:r>
                        <a:rPr lang="fr-FR" sz="1400" dirty="0">
                          <a:solidFill>
                            <a:srgbClr val="1F1F1F"/>
                          </a:solidFill>
                          <a:effectLst/>
                          <a:latin typeface="Google Sans Text"/>
                        </a:rPr>
                        <a:t>, Transformers</a:t>
                      </a:r>
                    </a:p>
                  </a:txBody>
                  <a:tcPr marL="55786" marR="55786" marT="37191" marB="37191"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349893897"/>
                  </a:ext>
                </a:extLst>
              </a:tr>
            </a:tbl>
          </a:graphicData>
        </a:graphic>
      </p:graphicFrame>
    </p:spTree>
    <p:extLst>
      <p:ext uri="{BB962C8B-B14F-4D97-AF65-F5344CB8AC3E}">
        <p14:creationId xmlns:p14="http://schemas.microsoft.com/office/powerpoint/2010/main" val="3600976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lstStyle/>
          <a:p>
            <a:r>
              <a:rPr lang="fr-FR" dirty="0"/>
              <a:t>Deep Learning</a:t>
            </a:r>
          </a:p>
        </p:txBody>
      </p:sp>
      <p:sp>
        <p:nvSpPr>
          <p:cNvPr id="3" name="Espace réservé du contenu 2">
            <a:extLst>
              <a:ext uri="{FF2B5EF4-FFF2-40B4-BE49-F238E27FC236}">
                <a16:creationId xmlns:a16="http://schemas.microsoft.com/office/drawing/2014/main" id="{32B719C2-AABE-6ABC-3A59-871AE9A6A058}"/>
              </a:ext>
            </a:extLst>
          </p:cNvPr>
          <p:cNvSpPr>
            <a:spLocks noGrp="1"/>
          </p:cNvSpPr>
          <p:nvPr>
            <p:ph idx="1"/>
          </p:nvPr>
        </p:nvSpPr>
        <p:spPr/>
        <p:txBody>
          <a:bodyPr/>
          <a:lstStyle/>
          <a:p>
            <a:r>
              <a:rPr lang="en-GB" dirty="0"/>
              <a:t>Data Growth (Unstructured Data, images….etc)</a:t>
            </a:r>
          </a:p>
          <a:p>
            <a:r>
              <a:rPr lang="en-GB" dirty="0"/>
              <a:t>Hardware Advancement (GPU vs DPU)</a:t>
            </a:r>
          </a:p>
          <a:p>
            <a:r>
              <a:rPr lang="en-GB" dirty="0"/>
              <a:t>Python </a:t>
            </a:r>
          </a:p>
          <a:p>
            <a:r>
              <a:rPr lang="en-GB" dirty="0"/>
              <a:t>Cloud </a:t>
            </a:r>
          </a:p>
          <a:p>
            <a:endParaRPr lang="en-GB" dirty="0"/>
          </a:p>
        </p:txBody>
      </p:sp>
    </p:spTree>
    <p:extLst>
      <p:ext uri="{BB962C8B-B14F-4D97-AF65-F5344CB8AC3E}">
        <p14:creationId xmlns:p14="http://schemas.microsoft.com/office/powerpoint/2010/main" val="2911319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lstStyle/>
          <a:p>
            <a:r>
              <a:rPr lang="fr-FR" dirty="0" err="1"/>
              <a:t>From</a:t>
            </a:r>
            <a:r>
              <a:rPr lang="fr-FR" dirty="0"/>
              <a:t> Perceptron to Transformers</a:t>
            </a:r>
          </a:p>
        </p:txBody>
      </p:sp>
      <p:pic>
        <p:nvPicPr>
          <p:cNvPr id="7" name="Espace réservé du contenu 6">
            <a:extLst>
              <a:ext uri="{FF2B5EF4-FFF2-40B4-BE49-F238E27FC236}">
                <a16:creationId xmlns:a16="http://schemas.microsoft.com/office/drawing/2014/main" id="{15CE38E5-C7AF-5A94-05F4-5193E77382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1473" y="1597024"/>
            <a:ext cx="8646452" cy="4716247"/>
          </a:xfrm>
        </p:spPr>
      </p:pic>
    </p:spTree>
    <p:extLst>
      <p:ext uri="{BB962C8B-B14F-4D97-AF65-F5344CB8AC3E}">
        <p14:creationId xmlns:p14="http://schemas.microsoft.com/office/powerpoint/2010/main" val="2571983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lstStyle/>
          <a:p>
            <a:r>
              <a:rPr lang="fr-FR" dirty="0"/>
              <a:t>ALEXNET </a:t>
            </a:r>
          </a:p>
        </p:txBody>
      </p:sp>
      <p:pic>
        <p:nvPicPr>
          <p:cNvPr id="6" name="Espace réservé du contenu 5">
            <a:extLst>
              <a:ext uri="{FF2B5EF4-FFF2-40B4-BE49-F238E27FC236}">
                <a16:creationId xmlns:a16="http://schemas.microsoft.com/office/drawing/2014/main" id="{DF0CA319-6B58-18CD-B0D2-7A2797F381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5742" y="1758950"/>
            <a:ext cx="7970966" cy="4351338"/>
          </a:xfrm>
        </p:spPr>
      </p:pic>
    </p:spTree>
    <p:extLst>
      <p:ext uri="{BB962C8B-B14F-4D97-AF65-F5344CB8AC3E}">
        <p14:creationId xmlns:p14="http://schemas.microsoft.com/office/powerpoint/2010/main" val="3761679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lstStyle/>
          <a:p>
            <a:r>
              <a:rPr lang="fr-FR" dirty="0"/>
              <a:t>RNN vs Transformers</a:t>
            </a:r>
          </a:p>
        </p:txBody>
      </p:sp>
      <p:pic>
        <p:nvPicPr>
          <p:cNvPr id="7" name="Espace réservé du contenu 6">
            <a:extLst>
              <a:ext uri="{FF2B5EF4-FFF2-40B4-BE49-F238E27FC236}">
                <a16:creationId xmlns:a16="http://schemas.microsoft.com/office/drawing/2014/main" id="{3C827F62-7681-4116-690C-23E1E33F9E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8117" y="1690688"/>
            <a:ext cx="7970966" cy="4351338"/>
          </a:xfrm>
        </p:spPr>
      </p:pic>
    </p:spTree>
    <p:extLst>
      <p:ext uri="{BB962C8B-B14F-4D97-AF65-F5344CB8AC3E}">
        <p14:creationId xmlns:p14="http://schemas.microsoft.com/office/powerpoint/2010/main" val="2215910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lstStyle/>
          <a:p>
            <a:r>
              <a:rPr lang="fr-FR" dirty="0"/>
              <a:t>Deep Learning Applications</a:t>
            </a:r>
          </a:p>
        </p:txBody>
      </p:sp>
      <p:graphicFrame>
        <p:nvGraphicFramePr>
          <p:cNvPr id="5" name="Espace réservé du contenu 4">
            <a:extLst>
              <a:ext uri="{FF2B5EF4-FFF2-40B4-BE49-F238E27FC236}">
                <a16:creationId xmlns:a16="http://schemas.microsoft.com/office/drawing/2014/main" id="{5A42B060-1ABE-AE20-294B-5BABD2CBFD51}"/>
              </a:ext>
            </a:extLst>
          </p:cNvPr>
          <p:cNvGraphicFramePr>
            <a:graphicFrameLocks noGrp="1"/>
          </p:cNvGraphicFramePr>
          <p:nvPr>
            <p:ph idx="1"/>
            <p:extLst>
              <p:ext uri="{D42A27DB-BD31-4B8C-83A1-F6EECF244321}">
                <p14:modId xmlns:p14="http://schemas.microsoft.com/office/powerpoint/2010/main" val="2636055661"/>
              </p:ext>
            </p:extLst>
          </p:nvPr>
        </p:nvGraphicFramePr>
        <p:xfrm>
          <a:off x="600076" y="1381126"/>
          <a:ext cx="11268075" cy="5337230"/>
        </p:xfrm>
        <a:graphic>
          <a:graphicData uri="http://schemas.openxmlformats.org/drawingml/2006/table">
            <a:tbl>
              <a:tblPr/>
              <a:tblGrid>
                <a:gridCol w="2628899">
                  <a:extLst>
                    <a:ext uri="{9D8B030D-6E8A-4147-A177-3AD203B41FA5}">
                      <a16:colId xmlns:a16="http://schemas.microsoft.com/office/drawing/2014/main" val="900801060"/>
                    </a:ext>
                  </a:extLst>
                </a:gridCol>
                <a:gridCol w="3743325">
                  <a:extLst>
                    <a:ext uri="{9D8B030D-6E8A-4147-A177-3AD203B41FA5}">
                      <a16:colId xmlns:a16="http://schemas.microsoft.com/office/drawing/2014/main" val="638447667"/>
                    </a:ext>
                  </a:extLst>
                </a:gridCol>
                <a:gridCol w="4895851">
                  <a:extLst>
                    <a:ext uri="{9D8B030D-6E8A-4147-A177-3AD203B41FA5}">
                      <a16:colId xmlns:a16="http://schemas.microsoft.com/office/drawing/2014/main" val="2779416509"/>
                    </a:ext>
                  </a:extLst>
                </a:gridCol>
              </a:tblGrid>
              <a:tr h="192346">
                <a:tc>
                  <a:txBody>
                    <a:bodyPr/>
                    <a:lstStyle/>
                    <a:p>
                      <a:pPr rtl="0"/>
                      <a:r>
                        <a:rPr lang="fr-FR" sz="1400" b="1">
                          <a:solidFill>
                            <a:srgbClr val="1F1F1F"/>
                          </a:solidFill>
                          <a:effectLst/>
                          <a:latin typeface="Google Sans Text"/>
                        </a:rPr>
                        <a:t>Application Area</a:t>
                      </a:r>
                      <a:endParaRPr lang="fr-FR"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fr-FR" sz="1400" b="1" dirty="0">
                          <a:solidFill>
                            <a:srgbClr val="1F1F1F"/>
                          </a:solidFill>
                          <a:effectLst/>
                          <a:latin typeface="Google Sans Text"/>
                        </a:rPr>
                        <a:t>Real-World Example</a:t>
                      </a:r>
                      <a:endParaRPr lang="fr-FR" sz="1400" dirty="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b="1">
                          <a:solidFill>
                            <a:srgbClr val="1F1F1F"/>
                          </a:solidFill>
                          <a:effectLst/>
                          <a:latin typeface="Google Sans Text"/>
                        </a:rPr>
                        <a:t>How Deep Learning (DL) Works</a:t>
                      </a:r>
                      <a:endParaRPr lang="en-US"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033842375"/>
                  </a:ext>
                </a:extLst>
              </a:tr>
              <a:tr h="591834">
                <a:tc>
                  <a:txBody>
                    <a:bodyPr/>
                    <a:lstStyle/>
                    <a:p>
                      <a:pPr rtl="0"/>
                      <a:r>
                        <a:rPr lang="fr-FR" sz="1400" b="1">
                          <a:solidFill>
                            <a:srgbClr val="1F1F1F"/>
                          </a:solidFill>
                          <a:effectLst/>
                          <a:latin typeface="Google Sans Text"/>
                        </a:rPr>
                        <a:t>Chatbots &amp; Customer Service</a:t>
                      </a:r>
                      <a:endParaRPr lang="fr-FR"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Automated retail order tracking and support assistants</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Processes and understands natural language (NLP) to generate human-like text responses to customer questions automatically.</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679379366"/>
                  </a:ext>
                </a:extLst>
              </a:tr>
              <a:tr h="724997">
                <a:tc>
                  <a:txBody>
                    <a:bodyPr/>
                    <a:lstStyle/>
                    <a:p>
                      <a:pPr rtl="0"/>
                      <a:r>
                        <a:rPr lang="fr-FR" sz="1400" b="1">
                          <a:solidFill>
                            <a:srgbClr val="1F1F1F"/>
                          </a:solidFill>
                          <a:effectLst/>
                          <a:latin typeface="Google Sans Text"/>
                        </a:rPr>
                        <a:t>Self-Driving Vehicles</a:t>
                      </a:r>
                      <a:endParaRPr lang="fr-FR"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Autonomous cars detecting road obstacles in real time</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dirty="0">
                          <a:solidFill>
                            <a:srgbClr val="1F1F1F"/>
                          </a:solidFill>
                          <a:effectLst/>
                          <a:latin typeface="Google Sans Text"/>
                        </a:rPr>
                        <a:t>Uses Convolutional Neural Networks (CNNs) to analyze camera frames and detect pedestrians, lane markers, and traffic signals instantly.</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728161823"/>
                  </a:ext>
                </a:extLst>
              </a:tr>
              <a:tr h="724997">
                <a:tc>
                  <a:txBody>
                    <a:bodyPr/>
                    <a:lstStyle/>
                    <a:p>
                      <a:pPr rtl="0"/>
                      <a:r>
                        <a:rPr lang="fr-FR" sz="1400" b="1">
                          <a:solidFill>
                            <a:srgbClr val="1F1F1F"/>
                          </a:solidFill>
                          <a:effectLst/>
                          <a:latin typeface="Google Sans Text"/>
                        </a:rPr>
                        <a:t>Healthcare Diagnostics</a:t>
                      </a:r>
                      <a:endParaRPr lang="fr-FR"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dirty="0">
                          <a:solidFill>
                            <a:srgbClr val="1F1F1F"/>
                          </a:solidFill>
                          <a:effectLst/>
                          <a:latin typeface="Google Sans Text"/>
                        </a:rPr>
                        <a:t>Early tumor and disease detection from medical scans</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Scans X-rays, MRIs, and CT scans using computer vision to spot micro-abnormalities faster and more accurately than manual inspection.</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797206187"/>
                  </a:ext>
                </a:extLst>
              </a:tr>
              <a:tr h="724997">
                <a:tc>
                  <a:txBody>
                    <a:bodyPr/>
                    <a:lstStyle/>
                    <a:p>
                      <a:pPr rtl="0"/>
                      <a:r>
                        <a:rPr lang="fr-FR" sz="1400" b="1">
                          <a:solidFill>
                            <a:srgbClr val="1F1F1F"/>
                          </a:solidFill>
                          <a:effectLst/>
                          <a:latin typeface="Google Sans Text"/>
                        </a:rPr>
                        <a:t>Financial Trend Forecasting</a:t>
                      </a:r>
                      <a:endParaRPr lang="fr-FR"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Market trend prediction and automated risk management</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Analyzes high-frequency tick data, market indicators, and news sentiment (via LSTMs/Transformers) to detect non-linear financial patterns.</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911659689"/>
                  </a:ext>
                </a:extLst>
              </a:tr>
              <a:tr h="724997">
                <a:tc>
                  <a:txBody>
                    <a:bodyPr/>
                    <a:lstStyle/>
                    <a:p>
                      <a:pPr rtl="0"/>
                      <a:r>
                        <a:rPr lang="fr-FR" sz="1400" b="1">
                          <a:solidFill>
                            <a:srgbClr val="1F1F1F"/>
                          </a:solidFill>
                          <a:effectLst/>
                          <a:latin typeface="Google Sans Text"/>
                        </a:rPr>
                        <a:t>Personalized Recommendations</a:t>
                      </a:r>
                      <a:endParaRPr lang="fr-FR"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Movie and product suggestions (e.g., Netflix, Amazon)</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Evaluates user interaction histories using collaborative filtering networks to predict and recommend items a user is most likely to prefer.</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291598654"/>
                  </a:ext>
                </a:extLst>
              </a:tr>
              <a:tr h="724997">
                <a:tc>
                  <a:txBody>
                    <a:bodyPr/>
                    <a:lstStyle/>
                    <a:p>
                      <a:pPr rtl="0"/>
                      <a:r>
                        <a:rPr lang="fr-FR" sz="1400" b="1">
                          <a:solidFill>
                            <a:srgbClr val="1F1F1F"/>
                          </a:solidFill>
                          <a:effectLst/>
                          <a:latin typeface="Google Sans Text"/>
                        </a:rPr>
                        <a:t>Architectural Design &amp; Efficiency</a:t>
                      </a:r>
                      <a:endParaRPr lang="fr-FR"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Floor plan generation and structural performance optimization</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dirty="0">
                          <a:solidFill>
                            <a:srgbClr val="1F1F1F"/>
                          </a:solidFill>
                          <a:effectLst/>
                          <a:latin typeface="Google Sans Text"/>
                        </a:rPr>
                        <a:t>Tests thousands of 3D layouts, window placements, and massing shapes in seconds to maximize natural sunlight, airflow, and structural integrity.</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930987596"/>
                  </a:ext>
                </a:extLst>
              </a:tr>
              <a:tr h="858159">
                <a:tc>
                  <a:txBody>
                    <a:bodyPr/>
                    <a:lstStyle/>
                    <a:p>
                      <a:pPr rtl="0"/>
                      <a:r>
                        <a:rPr lang="fr-FR" sz="1400" b="1">
                          <a:solidFill>
                            <a:srgbClr val="1F1F1F"/>
                          </a:solidFill>
                          <a:effectLst/>
                          <a:latin typeface="Google Sans Text"/>
                        </a:rPr>
                        <a:t>Scientific Discovery</a:t>
                      </a:r>
                      <a:endParaRPr lang="fr-FR" sz="1400">
                        <a:solidFill>
                          <a:srgbClr val="1F1F1F"/>
                        </a:solidFill>
                        <a:effectLst/>
                        <a:latin typeface="Google Sans Text"/>
                      </a:endParaRP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a:solidFill>
                            <a:srgbClr val="1F1F1F"/>
                          </a:solidFill>
                          <a:effectLst/>
                          <a:latin typeface="Google Sans Text"/>
                        </a:rPr>
                        <a:t>Rapid drug discovery and novel material design</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pPr rtl="0"/>
                      <a:r>
                        <a:rPr lang="en-US" sz="1400" dirty="0">
                          <a:solidFill>
                            <a:srgbClr val="1F1F1F"/>
                          </a:solidFill>
                          <a:effectLst/>
                          <a:latin typeface="Google Sans Text"/>
                        </a:rPr>
                        <a:t>Filters massive chemical and molecular databases to predict which compound combinations will yield safe, effective medicines without years of manual lab testing.</a:t>
                      </a:r>
                    </a:p>
                  </a:txBody>
                  <a:tcPr marL="36669" marR="36669" marT="24446" marB="2444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611446481"/>
                  </a:ext>
                </a:extLst>
              </a:tr>
            </a:tbl>
          </a:graphicData>
        </a:graphic>
      </p:graphicFrame>
    </p:spTree>
    <p:extLst>
      <p:ext uri="{BB962C8B-B14F-4D97-AF65-F5344CB8AC3E}">
        <p14:creationId xmlns:p14="http://schemas.microsoft.com/office/powerpoint/2010/main" val="2307792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lstStyle/>
          <a:p>
            <a:r>
              <a:rPr lang="fr-FR" dirty="0"/>
              <a:t>Tools </a:t>
            </a:r>
          </a:p>
        </p:txBody>
      </p:sp>
      <p:sp>
        <p:nvSpPr>
          <p:cNvPr id="4" name="Espace réservé du contenu 3">
            <a:extLst>
              <a:ext uri="{FF2B5EF4-FFF2-40B4-BE49-F238E27FC236}">
                <a16:creationId xmlns:a16="http://schemas.microsoft.com/office/drawing/2014/main" id="{8CE85294-6AA8-7F44-BFAD-40971CB0C4C5}"/>
              </a:ext>
            </a:extLst>
          </p:cNvPr>
          <p:cNvSpPr>
            <a:spLocks noGrp="1"/>
          </p:cNvSpPr>
          <p:nvPr>
            <p:ph idx="1"/>
          </p:nvPr>
        </p:nvSpPr>
        <p:spPr/>
        <p:txBody>
          <a:bodyPr/>
          <a:lstStyle/>
          <a:p>
            <a:pPr algn="l" rtl="0" fontAlgn="base"/>
            <a:r>
              <a:rPr lang="en-US" sz="2400" b="0" i="0" dirty="0">
                <a:solidFill>
                  <a:srgbClr val="273239"/>
                </a:solidFill>
                <a:effectLst/>
                <a:latin typeface="Nunito" pitchFamily="2" charset="0"/>
              </a:rPr>
              <a:t>TensorFlow is an open-source framework for machine learning and artificial intelligence developed by Google Brain. It provides tools to build, train and deploy models across different platforms, especially for deep learning tasks.</a:t>
            </a:r>
          </a:p>
          <a:p>
            <a:pPr marL="0" indent="0">
              <a:buNone/>
            </a:pPr>
            <a:endParaRPr lang="fr-FR" dirty="0"/>
          </a:p>
        </p:txBody>
      </p:sp>
      <p:pic>
        <p:nvPicPr>
          <p:cNvPr id="3074" name="Picture 2" descr="TensorFlow">
            <a:extLst>
              <a:ext uri="{FF2B5EF4-FFF2-40B4-BE49-F238E27FC236}">
                <a16:creationId xmlns:a16="http://schemas.microsoft.com/office/drawing/2014/main" id="{3B1A81CC-7A0E-E5BC-B598-C4D1E9F14C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6225" y="3209925"/>
            <a:ext cx="5715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5403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lstStyle/>
          <a:p>
            <a:r>
              <a:rPr lang="fr-FR" dirty="0"/>
              <a:t>Tools </a:t>
            </a:r>
          </a:p>
        </p:txBody>
      </p:sp>
      <p:sp>
        <p:nvSpPr>
          <p:cNvPr id="4" name="Espace réservé du contenu 3">
            <a:extLst>
              <a:ext uri="{FF2B5EF4-FFF2-40B4-BE49-F238E27FC236}">
                <a16:creationId xmlns:a16="http://schemas.microsoft.com/office/drawing/2014/main" id="{8CE85294-6AA8-7F44-BFAD-40971CB0C4C5}"/>
              </a:ext>
            </a:extLst>
          </p:cNvPr>
          <p:cNvSpPr>
            <a:spLocks noGrp="1"/>
          </p:cNvSpPr>
          <p:nvPr>
            <p:ph idx="1"/>
          </p:nvPr>
        </p:nvSpPr>
        <p:spPr/>
        <p:txBody>
          <a:bodyPr>
            <a:normAutofit/>
          </a:bodyPr>
          <a:lstStyle/>
          <a:p>
            <a:pPr algn="l" rtl="0" fontAlgn="base"/>
            <a:r>
              <a:rPr lang="en-US" sz="2000" b="0" i="0" dirty="0" err="1">
                <a:solidFill>
                  <a:srgbClr val="273239"/>
                </a:solidFill>
                <a:effectLst/>
                <a:latin typeface="Nunito" pitchFamily="2" charset="0"/>
              </a:rPr>
              <a:t>Keras</a:t>
            </a:r>
            <a:r>
              <a:rPr lang="en-US" sz="2000" b="0" i="0" dirty="0">
                <a:solidFill>
                  <a:srgbClr val="273239"/>
                </a:solidFill>
                <a:effectLst/>
                <a:latin typeface="Nunito" pitchFamily="2" charset="0"/>
              </a:rPr>
              <a:t> is a deep learning API that simplifies the process of building deep neural networks. Initially it was developed as an independent library, </a:t>
            </a:r>
            <a:r>
              <a:rPr lang="en-US" sz="2000" b="0" i="0" dirty="0" err="1">
                <a:solidFill>
                  <a:srgbClr val="273239"/>
                </a:solidFill>
                <a:effectLst/>
                <a:latin typeface="Nunito" pitchFamily="2" charset="0"/>
              </a:rPr>
              <a:t>Keras</a:t>
            </a:r>
            <a:r>
              <a:rPr lang="en-US" sz="2000" b="0" i="0" dirty="0">
                <a:solidFill>
                  <a:srgbClr val="273239"/>
                </a:solidFill>
                <a:effectLst/>
                <a:latin typeface="Nunito" pitchFamily="2" charset="0"/>
              </a:rPr>
              <a:t> is now tightly integrated into TensorFlow as its official high-level API.</a:t>
            </a:r>
            <a:endParaRPr lang="fr-FR" sz="3600" dirty="0"/>
          </a:p>
        </p:txBody>
      </p:sp>
      <p:pic>
        <p:nvPicPr>
          <p:cNvPr id="4098" name="Picture 2" descr="Keras Recommenders">
            <a:extLst>
              <a:ext uri="{FF2B5EF4-FFF2-40B4-BE49-F238E27FC236}">
                <a16:creationId xmlns:a16="http://schemas.microsoft.com/office/drawing/2014/main" id="{41893E31-FE9F-51F6-EEE8-FBEC08313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3186113"/>
            <a:ext cx="8267700"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913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8D9A714-4EF9-AC35-C4B2-127C3C451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635" y="173086"/>
            <a:ext cx="7612678" cy="3952363"/>
          </a:xfrm>
          <a:prstGeom prst="rect">
            <a:avLst/>
          </a:prstGeom>
        </p:spPr>
      </p:pic>
      <p:pic>
        <p:nvPicPr>
          <p:cNvPr id="9" name="Image 8">
            <a:extLst>
              <a:ext uri="{FF2B5EF4-FFF2-40B4-BE49-F238E27FC236}">
                <a16:creationId xmlns:a16="http://schemas.microsoft.com/office/drawing/2014/main" id="{216E59AC-6733-6A3D-BDC6-C734E32E7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7185" y="4287374"/>
            <a:ext cx="8762269" cy="1961025"/>
          </a:xfrm>
          <a:prstGeom prst="rect">
            <a:avLst/>
          </a:prstGeom>
        </p:spPr>
      </p:pic>
    </p:spTree>
    <p:extLst>
      <p:ext uri="{BB962C8B-B14F-4D97-AF65-F5344CB8AC3E}">
        <p14:creationId xmlns:p14="http://schemas.microsoft.com/office/powerpoint/2010/main" val="1048149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i="0" dirty="0" err="1">
                <a:effectLst/>
                <a:latin typeface="Source Sans 3"/>
              </a:rPr>
              <a:t>What</a:t>
            </a:r>
            <a:r>
              <a:rPr lang="fr-FR" b="1" i="0" dirty="0">
                <a:effectLst/>
                <a:latin typeface="Source Sans 3"/>
              </a:rPr>
              <a:t> </a:t>
            </a:r>
            <a:r>
              <a:rPr lang="fr-FR" b="1" i="0" dirty="0" err="1">
                <a:effectLst/>
                <a:latin typeface="Source Sans 3"/>
              </a:rPr>
              <a:t>is</a:t>
            </a:r>
            <a:r>
              <a:rPr lang="fr-FR" b="1" i="0" dirty="0">
                <a:effectLst/>
                <a:latin typeface="Source Sans 3"/>
              </a:rPr>
              <a:t> Perceptron (Input/Output Layer Neural Network)?</a:t>
            </a:r>
            <a:endParaRPr lang="fr-FR" dirty="0"/>
          </a:p>
        </p:txBody>
      </p:sp>
      <p:sp>
        <p:nvSpPr>
          <p:cNvPr id="6" name="Espace réservé du contenu 5">
            <a:extLst>
              <a:ext uri="{FF2B5EF4-FFF2-40B4-BE49-F238E27FC236}">
                <a16:creationId xmlns:a16="http://schemas.microsoft.com/office/drawing/2014/main" id="{1BB4144B-2E7B-782B-D8EC-3F7E8247AAE8}"/>
              </a:ext>
            </a:extLst>
          </p:cNvPr>
          <p:cNvSpPr>
            <a:spLocks noGrp="1"/>
          </p:cNvSpPr>
          <p:nvPr>
            <p:ph idx="1"/>
          </p:nvPr>
        </p:nvSpPr>
        <p:spPr>
          <a:xfrm>
            <a:off x="838200" y="1844675"/>
            <a:ext cx="10515600" cy="4351338"/>
          </a:xfrm>
        </p:spPr>
        <p:txBody>
          <a:bodyPr/>
          <a:lstStyle/>
          <a:p>
            <a:pPr algn="l" rtl="0" fontAlgn="base"/>
            <a:r>
              <a:rPr lang="en-US" b="0" i="0" dirty="0">
                <a:effectLst/>
                <a:latin typeface="Nunito" pitchFamily="2" charset="0"/>
              </a:rPr>
              <a:t>A Perceptron is the simplest form of a neural network that makes decisions by combining inputs with weights and applying an activation function. It is mainly used </a:t>
            </a:r>
            <a:r>
              <a:rPr lang="en-US" b="1" i="0" dirty="0">
                <a:effectLst/>
                <a:latin typeface="Nunito" pitchFamily="2" charset="0"/>
              </a:rPr>
              <a:t>for binary classification problems</a:t>
            </a:r>
            <a:r>
              <a:rPr lang="en-US" b="0" i="0" dirty="0">
                <a:effectLst/>
                <a:latin typeface="Nunito" pitchFamily="2" charset="0"/>
              </a:rPr>
              <a:t>. It forms the basic building block of many deep learning models.</a:t>
            </a:r>
          </a:p>
          <a:p>
            <a:pPr algn="l" fontAlgn="base">
              <a:buFont typeface="Arial" panose="020B0604020202020204" pitchFamily="34" charset="0"/>
              <a:buChar char="•"/>
            </a:pPr>
            <a:r>
              <a:rPr lang="en-US" b="0" i="0" dirty="0">
                <a:effectLst/>
                <a:latin typeface="Nunito" pitchFamily="2" charset="0"/>
              </a:rPr>
              <a:t>Takes multiple inputs and assigns weights</a:t>
            </a:r>
          </a:p>
          <a:p>
            <a:pPr algn="l" fontAlgn="base">
              <a:buFont typeface="Arial" panose="020B0604020202020204" pitchFamily="34" charset="0"/>
              <a:buChar char="•"/>
            </a:pPr>
            <a:r>
              <a:rPr lang="en-US" b="0" i="0" dirty="0">
                <a:effectLst/>
                <a:latin typeface="Nunito" pitchFamily="2" charset="0"/>
              </a:rPr>
              <a:t>Computes a weighted sum and applies a threshold</a:t>
            </a:r>
          </a:p>
          <a:p>
            <a:pPr algn="l" fontAlgn="base">
              <a:buFont typeface="Arial" panose="020B0604020202020204" pitchFamily="34" charset="0"/>
              <a:buChar char="•"/>
            </a:pPr>
            <a:r>
              <a:rPr lang="en-US" b="0" i="0" dirty="0">
                <a:effectLst/>
                <a:latin typeface="Nunito" pitchFamily="2" charset="0"/>
              </a:rPr>
              <a:t>Outputs either 0 or 1 (binary outcome)</a:t>
            </a:r>
          </a:p>
          <a:p>
            <a:pPr algn="l" fontAlgn="base">
              <a:buFont typeface="Arial" panose="020B0604020202020204" pitchFamily="34" charset="0"/>
              <a:buChar char="•"/>
            </a:pPr>
            <a:r>
              <a:rPr lang="en-US" b="0" i="0" dirty="0">
                <a:effectLst/>
                <a:latin typeface="Nunito" pitchFamily="2" charset="0"/>
              </a:rPr>
              <a:t>Forms the foundation of larger neural networks</a:t>
            </a:r>
          </a:p>
          <a:p>
            <a:pPr marL="0" indent="0">
              <a:buNone/>
            </a:pPr>
            <a:endParaRPr lang="fr-FR" dirty="0">
              <a:sym typeface="Wingdings" panose="05000000000000000000" pitchFamily="2" charset="2"/>
            </a:endParaRPr>
          </a:p>
        </p:txBody>
      </p:sp>
    </p:spTree>
    <p:extLst>
      <p:ext uri="{BB962C8B-B14F-4D97-AF65-F5344CB8AC3E}">
        <p14:creationId xmlns:p14="http://schemas.microsoft.com/office/powerpoint/2010/main" val="3027448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Concept of Artificial Neurons (Perceptrons) in Neural Networks |  Towards Data Science">
            <a:extLst>
              <a:ext uri="{FF2B5EF4-FFF2-40B4-BE49-F238E27FC236}">
                <a16:creationId xmlns:a16="http://schemas.microsoft.com/office/drawing/2014/main" id="{766CF47F-2EDA-3D8C-73F2-0158CB849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 y="936625"/>
            <a:ext cx="11629064" cy="4984750"/>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E3283FC9-790B-745A-0468-37F38774E508}"/>
              </a:ext>
            </a:extLst>
          </p:cNvPr>
          <p:cNvSpPr txBox="1"/>
          <p:nvPr/>
        </p:nvSpPr>
        <p:spPr>
          <a:xfrm>
            <a:off x="2019300" y="6029325"/>
            <a:ext cx="3848100" cy="369332"/>
          </a:xfrm>
          <a:prstGeom prst="rect">
            <a:avLst/>
          </a:prstGeom>
          <a:noFill/>
        </p:spPr>
        <p:txBody>
          <a:bodyPr wrap="square" rtlCol="0">
            <a:spAutoFit/>
          </a:bodyPr>
          <a:lstStyle/>
          <a:p>
            <a:r>
              <a:rPr lang="fr-FR" dirty="0"/>
              <a:t>Frank </a:t>
            </a:r>
            <a:r>
              <a:rPr lang="fr-FR" dirty="0" err="1"/>
              <a:t>Rosenblatt</a:t>
            </a:r>
            <a:r>
              <a:rPr lang="fr-FR" dirty="0"/>
              <a:t>, 1957</a:t>
            </a:r>
          </a:p>
        </p:txBody>
      </p:sp>
    </p:spTree>
    <p:extLst>
      <p:ext uri="{BB962C8B-B14F-4D97-AF65-F5344CB8AC3E}">
        <p14:creationId xmlns:p14="http://schemas.microsoft.com/office/powerpoint/2010/main" val="2216289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lstStyle/>
          <a:p>
            <a:r>
              <a:rPr lang="fr-FR" b="1" dirty="0" err="1">
                <a:latin typeface="Source Sans 3"/>
              </a:rPr>
              <a:t>What</a:t>
            </a:r>
            <a:r>
              <a:rPr lang="fr-FR" b="1" dirty="0">
                <a:latin typeface="Source Sans 3"/>
              </a:rPr>
              <a:t> </a:t>
            </a:r>
            <a:r>
              <a:rPr lang="fr-FR" b="1" dirty="0" err="1">
                <a:latin typeface="Source Sans 3"/>
              </a:rPr>
              <a:t>is</a:t>
            </a:r>
            <a:r>
              <a:rPr lang="fr-FR" b="1" dirty="0">
                <a:latin typeface="Source Sans 3"/>
              </a:rPr>
              <a:t> a </a:t>
            </a:r>
            <a:r>
              <a:rPr lang="fr-FR" b="1" dirty="0" err="1">
                <a:latin typeface="Source Sans 3"/>
              </a:rPr>
              <a:t>neuron</a:t>
            </a:r>
            <a:r>
              <a:rPr lang="fr-FR" b="1" dirty="0">
                <a:latin typeface="Source Sans 3"/>
              </a:rPr>
              <a:t>?</a:t>
            </a:r>
          </a:p>
        </p:txBody>
      </p:sp>
      <p:sp>
        <p:nvSpPr>
          <p:cNvPr id="8" name="ZoneTexte 7">
            <a:extLst>
              <a:ext uri="{FF2B5EF4-FFF2-40B4-BE49-F238E27FC236}">
                <a16:creationId xmlns:a16="http://schemas.microsoft.com/office/drawing/2014/main" id="{53A0A2B8-D535-2B0C-3A7A-8148DC298F95}"/>
              </a:ext>
            </a:extLst>
          </p:cNvPr>
          <p:cNvSpPr txBox="1"/>
          <p:nvPr/>
        </p:nvSpPr>
        <p:spPr>
          <a:xfrm>
            <a:off x="3700461" y="1659532"/>
            <a:ext cx="5434013" cy="1077218"/>
          </a:xfrm>
          <a:prstGeom prst="rect">
            <a:avLst/>
          </a:prstGeom>
          <a:noFill/>
        </p:spPr>
        <p:txBody>
          <a:bodyPr wrap="square">
            <a:spAutoFit/>
          </a:bodyPr>
          <a:lstStyle/>
          <a:p>
            <a:pPr rtl="0">
              <a:spcBef>
                <a:spcPts val="0"/>
              </a:spcBef>
              <a:spcAft>
                <a:spcPts val="0"/>
              </a:spcAft>
            </a:pPr>
            <a:r>
              <a:rPr lang="fr-FR" sz="2800" b="0" i="0" u="none" strike="noStrike" dirty="0">
                <a:solidFill>
                  <a:srgbClr val="000000"/>
                </a:solidFill>
                <a:effectLst/>
                <a:latin typeface="Arial" panose="020B0604020202020204" pitchFamily="34" charset="0"/>
              </a:rPr>
              <a:t>h(x) = b + w1x1+ w2x2+ w3x3</a:t>
            </a:r>
            <a:endParaRPr lang="fr-FR" sz="2800" b="0" dirty="0">
              <a:effectLst/>
            </a:endParaRPr>
          </a:p>
          <a:p>
            <a:br>
              <a:rPr lang="fr-FR" dirty="0"/>
            </a:br>
            <a:endParaRPr lang="fr-FR" dirty="0"/>
          </a:p>
        </p:txBody>
      </p:sp>
      <p:sp>
        <p:nvSpPr>
          <p:cNvPr id="11" name="Ellipse 10">
            <a:extLst>
              <a:ext uri="{FF2B5EF4-FFF2-40B4-BE49-F238E27FC236}">
                <a16:creationId xmlns:a16="http://schemas.microsoft.com/office/drawing/2014/main" id="{112DE968-0C9C-DC7D-2828-E0FDEBAF07F0}"/>
              </a:ext>
            </a:extLst>
          </p:cNvPr>
          <p:cNvSpPr/>
          <p:nvPr/>
        </p:nvSpPr>
        <p:spPr>
          <a:xfrm>
            <a:off x="2919412" y="4310418"/>
            <a:ext cx="7315200" cy="21336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4A2EBF3B-F399-3A3C-4AE9-C01C062F3A50}"/>
                  </a:ext>
                </a:extLst>
              </p:cNvPr>
              <p:cNvSpPr txBox="1"/>
              <p:nvPr/>
            </p:nvSpPr>
            <p:spPr>
              <a:xfrm>
                <a:off x="3536158" y="5166139"/>
                <a:ext cx="3157538" cy="422039"/>
              </a:xfrm>
              <a:prstGeom prst="rect">
                <a:avLst/>
              </a:prstGeom>
              <a:noFill/>
            </p:spPr>
            <p:txBody>
              <a:bodyPr wrap="square">
                <a:spAutoFit/>
              </a:bodyPr>
              <a:lstStyle/>
              <a:p>
                <a:pPr rtl="0">
                  <a:spcBef>
                    <a:spcPts val="0"/>
                  </a:spcBef>
                  <a:spcAft>
                    <a:spcPts val="0"/>
                  </a:spcAft>
                </a:pPr>
                <a:r>
                  <a:rPr lang="fr-FR" b="0" i="0" u="none" strike="noStrike" dirty="0">
                    <a:solidFill>
                      <a:srgbClr val="000000"/>
                    </a:solidFill>
                    <a:effectLst/>
                    <a:latin typeface="Arial" panose="020B0604020202020204" pitchFamily="34" charset="0"/>
                  </a:rPr>
                  <a:t>h(x) = </a:t>
                </a:r>
                <a14:m>
                  <m:oMath xmlns:m="http://schemas.openxmlformats.org/officeDocument/2006/math">
                    <m:r>
                      <a:rPr lang="fr-FR" b="0" i="1" u="none" strike="noStrike" smtClean="0">
                        <a:solidFill>
                          <a:srgbClr val="000000"/>
                        </a:solidFill>
                        <a:effectLst/>
                        <a:latin typeface="Cambria Math" panose="02040503050406030204" pitchFamily="18" charset="0"/>
                      </a:rPr>
                      <m:t>𝑏</m:t>
                    </m:r>
                    <m:r>
                      <a:rPr lang="pt-BR" b="0" i="1" u="none" strike="noStrike" smtClean="0">
                        <a:solidFill>
                          <a:srgbClr val="000000"/>
                        </a:solidFill>
                        <a:effectLst/>
                        <a:latin typeface="Cambria Math" panose="02040503050406030204" pitchFamily="18" charset="0"/>
                      </a:rPr>
                      <m:t>+</m:t>
                    </m:r>
                    <m:nary>
                      <m:naryPr>
                        <m:chr m:val="∑"/>
                        <m:ctrlPr>
                          <a:rPr lang="pt-BR" b="0" i="1" u="none" strike="noStrike" smtClean="0">
                            <a:solidFill>
                              <a:srgbClr val="000000"/>
                            </a:solidFill>
                            <a:effectLst/>
                            <a:latin typeface="Cambria Math" panose="02040503050406030204" pitchFamily="18" charset="0"/>
                          </a:rPr>
                        </m:ctrlPr>
                      </m:naryPr>
                      <m:sub/>
                      <m:sup/>
                      <m:e>
                        <m:r>
                          <a:rPr lang="fr-FR" b="0" i="1" u="none" strike="noStrike" smtClean="0">
                            <a:solidFill>
                              <a:srgbClr val="000000"/>
                            </a:solidFill>
                            <a:effectLst/>
                            <a:latin typeface="Cambria Math" panose="02040503050406030204" pitchFamily="18" charset="0"/>
                          </a:rPr>
                          <m:t>𝑤𝑖𝑥𝑖</m:t>
                        </m:r>
                      </m:e>
                    </m:nary>
                  </m:oMath>
                </a14:m>
                <a:endParaRPr lang="fr-FR" dirty="0"/>
              </a:p>
            </p:txBody>
          </p:sp>
        </mc:Choice>
        <mc:Fallback xmlns="">
          <p:sp>
            <p:nvSpPr>
              <p:cNvPr id="12" name="ZoneTexte 11">
                <a:extLst>
                  <a:ext uri="{FF2B5EF4-FFF2-40B4-BE49-F238E27FC236}">
                    <a16:creationId xmlns:a16="http://schemas.microsoft.com/office/drawing/2014/main" id="{4A2EBF3B-F399-3A3C-4AE9-C01C062F3A50}"/>
                  </a:ext>
                </a:extLst>
              </p:cNvPr>
              <p:cNvSpPr txBox="1">
                <a:spLocks noRot="1" noChangeAspect="1" noMove="1" noResize="1" noEditPoints="1" noAdjustHandles="1" noChangeArrowheads="1" noChangeShapeType="1" noTextEdit="1"/>
              </p:cNvSpPr>
              <p:nvPr/>
            </p:nvSpPr>
            <p:spPr>
              <a:xfrm>
                <a:off x="3536158" y="5166139"/>
                <a:ext cx="3157538" cy="422039"/>
              </a:xfrm>
              <a:prstGeom prst="rect">
                <a:avLst/>
              </a:prstGeom>
              <a:blipFill>
                <a:blip r:embed="rId2"/>
                <a:stretch>
                  <a:fillRect l="-1544" t="-92857" b="-158571"/>
                </a:stretch>
              </a:blipFill>
            </p:spPr>
            <p:txBody>
              <a:bodyPr/>
              <a:lstStyle/>
              <a:p>
                <a:r>
                  <a:rPr lang="fr-FR">
                    <a:noFill/>
                  </a:rPr>
                  <a:t> </a:t>
                </a:r>
              </a:p>
            </p:txBody>
          </p:sp>
        </mc:Fallback>
      </mc:AlternateContent>
      <p:cxnSp>
        <p:nvCxnSpPr>
          <p:cNvPr id="16" name="Connecteur droit 15">
            <a:extLst>
              <a:ext uri="{FF2B5EF4-FFF2-40B4-BE49-F238E27FC236}">
                <a16:creationId xmlns:a16="http://schemas.microsoft.com/office/drawing/2014/main" id="{B9C8A118-A3DB-88A6-E595-0DC85A8D5F52}"/>
              </a:ext>
            </a:extLst>
          </p:cNvPr>
          <p:cNvCxnSpPr>
            <a:stCxn id="11" idx="0"/>
            <a:endCxn id="11" idx="4"/>
          </p:cNvCxnSpPr>
          <p:nvPr/>
        </p:nvCxnSpPr>
        <p:spPr>
          <a:xfrm>
            <a:off x="6577012" y="4310418"/>
            <a:ext cx="0" cy="21336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ABEB1347-DC23-17EC-4944-BB2B9E921A04}"/>
                  </a:ext>
                </a:extLst>
              </p:cNvPr>
              <p:cNvSpPr txBox="1"/>
              <p:nvPr/>
            </p:nvSpPr>
            <p:spPr>
              <a:xfrm>
                <a:off x="7077074" y="5202492"/>
                <a:ext cx="3157538" cy="380810"/>
              </a:xfrm>
              <a:prstGeom prst="rect">
                <a:avLst/>
              </a:prstGeom>
              <a:noFill/>
            </p:spPr>
            <p:txBody>
              <a:bodyPr wrap="square">
                <a:spAutoFit/>
              </a:bodyPr>
              <a:lstStyle/>
              <a:p>
                <a:pPr rtl="0">
                  <a:spcBef>
                    <a:spcPts val="0"/>
                  </a:spcBef>
                  <a:spcAft>
                    <a:spcPts val="0"/>
                  </a:spcAft>
                </a:pPr>
                <a:r>
                  <a:rPr lang="fr-FR" b="0" i="0" u="none" strike="noStrike" dirty="0">
                    <a:solidFill>
                      <a:srgbClr val="000000"/>
                    </a:solidFill>
                    <a:effectLst/>
                    <a:latin typeface="Arial" panose="020B0604020202020204" pitchFamily="34" charset="0"/>
                  </a:rPr>
                  <a:t>Z = 1 / (1+</a:t>
                </a:r>
                <a14:m>
                  <m:oMath xmlns:m="http://schemas.openxmlformats.org/officeDocument/2006/math">
                    <m:sSup>
                      <m:sSupPr>
                        <m:ctrlPr>
                          <a:rPr lang="fr-FR" b="0" i="1" u="none" strike="noStrike" smtClean="0">
                            <a:solidFill>
                              <a:srgbClr val="000000"/>
                            </a:solidFill>
                            <a:effectLst/>
                            <a:latin typeface="Cambria Math" panose="02040503050406030204" pitchFamily="18" charset="0"/>
                          </a:rPr>
                        </m:ctrlPr>
                      </m:sSupPr>
                      <m:e>
                        <m:r>
                          <a:rPr lang="fr-FR" b="0" i="1" u="none" strike="noStrike" smtClean="0">
                            <a:solidFill>
                              <a:srgbClr val="000000"/>
                            </a:solidFill>
                            <a:effectLst/>
                            <a:latin typeface="Cambria Math" panose="02040503050406030204" pitchFamily="18" charset="0"/>
                          </a:rPr>
                          <m:t>𝑒</m:t>
                        </m:r>
                      </m:e>
                      <m:sup>
                        <m:r>
                          <a:rPr lang="fr-FR" b="0" i="1" u="none" strike="noStrike" smtClean="0">
                            <a:solidFill>
                              <a:srgbClr val="000000"/>
                            </a:solidFill>
                            <a:effectLst/>
                            <a:latin typeface="Cambria Math" panose="02040503050406030204" pitchFamily="18" charset="0"/>
                          </a:rPr>
                          <m:t>−</m:t>
                        </m:r>
                        <m:r>
                          <a:rPr lang="fr-FR" b="0" i="1" u="none" strike="noStrike" smtClean="0">
                            <a:solidFill>
                              <a:srgbClr val="000000"/>
                            </a:solidFill>
                            <a:effectLst/>
                            <a:latin typeface="Cambria Math" panose="02040503050406030204" pitchFamily="18" charset="0"/>
                          </a:rPr>
                          <m:t>𝑦</m:t>
                        </m:r>
                      </m:sup>
                    </m:sSup>
                    <m:r>
                      <a:rPr lang="fr-FR" b="0" i="1" u="none" strike="noStrike" smtClean="0">
                        <a:solidFill>
                          <a:srgbClr val="000000"/>
                        </a:solidFill>
                        <a:effectLst/>
                        <a:latin typeface="Cambria Math" panose="02040503050406030204" pitchFamily="18" charset="0"/>
                      </a:rPr>
                      <m:t>)</m:t>
                    </m:r>
                  </m:oMath>
                </a14:m>
                <a:endParaRPr lang="fr-FR" dirty="0"/>
              </a:p>
            </p:txBody>
          </p:sp>
        </mc:Choice>
        <mc:Fallback xmlns="">
          <p:sp>
            <p:nvSpPr>
              <p:cNvPr id="17" name="ZoneTexte 16">
                <a:extLst>
                  <a:ext uri="{FF2B5EF4-FFF2-40B4-BE49-F238E27FC236}">
                    <a16:creationId xmlns:a16="http://schemas.microsoft.com/office/drawing/2014/main" id="{ABEB1347-DC23-17EC-4944-BB2B9E921A04}"/>
                  </a:ext>
                </a:extLst>
              </p:cNvPr>
              <p:cNvSpPr txBox="1">
                <a:spLocks noRot="1" noChangeAspect="1" noMove="1" noResize="1" noEditPoints="1" noAdjustHandles="1" noChangeArrowheads="1" noChangeShapeType="1" noTextEdit="1"/>
              </p:cNvSpPr>
              <p:nvPr/>
            </p:nvSpPr>
            <p:spPr>
              <a:xfrm>
                <a:off x="7077074" y="5202492"/>
                <a:ext cx="3157538" cy="380810"/>
              </a:xfrm>
              <a:prstGeom prst="rect">
                <a:avLst/>
              </a:prstGeom>
              <a:blipFill>
                <a:blip r:embed="rId3"/>
                <a:stretch>
                  <a:fillRect l="-1737" t="-9524" b="-19048"/>
                </a:stretch>
              </a:blipFill>
            </p:spPr>
            <p:txBody>
              <a:bodyPr/>
              <a:lstStyle/>
              <a:p>
                <a:r>
                  <a:rPr lang="fr-FR">
                    <a:noFill/>
                  </a:rPr>
                  <a:t> </a:t>
                </a:r>
              </a:p>
            </p:txBody>
          </p:sp>
        </mc:Fallback>
      </mc:AlternateContent>
      <p:cxnSp>
        <p:nvCxnSpPr>
          <p:cNvPr id="4" name="Connecteur droit avec flèche 3">
            <a:extLst>
              <a:ext uri="{FF2B5EF4-FFF2-40B4-BE49-F238E27FC236}">
                <a16:creationId xmlns:a16="http://schemas.microsoft.com/office/drawing/2014/main" id="{DCCCAC7F-1DC3-86EA-BF6D-A93674647243}"/>
              </a:ext>
            </a:extLst>
          </p:cNvPr>
          <p:cNvCxnSpPr/>
          <p:nvPr/>
        </p:nvCxnSpPr>
        <p:spPr>
          <a:xfrm>
            <a:off x="6305550" y="2133600"/>
            <a:ext cx="542925" cy="523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Connecteur droit avec flèche 4">
            <a:extLst>
              <a:ext uri="{FF2B5EF4-FFF2-40B4-BE49-F238E27FC236}">
                <a16:creationId xmlns:a16="http://schemas.microsoft.com/office/drawing/2014/main" id="{4D5A9C86-14F6-E6E9-0DAB-48D77E2376AE}"/>
              </a:ext>
            </a:extLst>
          </p:cNvPr>
          <p:cNvCxnSpPr/>
          <p:nvPr/>
        </p:nvCxnSpPr>
        <p:spPr>
          <a:xfrm>
            <a:off x="7448549" y="2160041"/>
            <a:ext cx="542925" cy="523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4B6BF629-8EBA-2DCC-89DE-3513795DD86A}"/>
              </a:ext>
            </a:extLst>
          </p:cNvPr>
          <p:cNvCxnSpPr/>
          <p:nvPr/>
        </p:nvCxnSpPr>
        <p:spPr>
          <a:xfrm>
            <a:off x="8591548" y="2118556"/>
            <a:ext cx="542925" cy="523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93E8AC1E-6613-4E0F-B80D-59BA7B705BDB}"/>
              </a:ext>
            </a:extLst>
          </p:cNvPr>
          <p:cNvSpPr txBox="1"/>
          <p:nvPr/>
        </p:nvSpPr>
        <p:spPr>
          <a:xfrm>
            <a:off x="6648450" y="2678430"/>
            <a:ext cx="652460" cy="369332"/>
          </a:xfrm>
          <a:prstGeom prst="rect">
            <a:avLst/>
          </a:prstGeom>
          <a:noFill/>
        </p:spPr>
        <p:txBody>
          <a:bodyPr wrap="square">
            <a:spAutoFit/>
          </a:bodyPr>
          <a:lstStyle/>
          <a:p>
            <a:r>
              <a:rPr lang="fr-FR" b="0" i="0" u="none" strike="noStrike" dirty="0">
                <a:solidFill>
                  <a:srgbClr val="000000"/>
                </a:solidFill>
                <a:effectLst/>
                <a:latin typeface="Arial" panose="020B0604020202020204" pitchFamily="34" charset="0"/>
              </a:rPr>
              <a:t>Age</a:t>
            </a:r>
            <a:endParaRPr lang="fr-FR" dirty="0"/>
          </a:p>
        </p:txBody>
      </p:sp>
      <p:sp>
        <p:nvSpPr>
          <p:cNvPr id="10" name="ZoneTexte 9">
            <a:extLst>
              <a:ext uri="{FF2B5EF4-FFF2-40B4-BE49-F238E27FC236}">
                <a16:creationId xmlns:a16="http://schemas.microsoft.com/office/drawing/2014/main" id="{8FBABC75-0084-335C-7DE8-8B961F3E095B}"/>
              </a:ext>
            </a:extLst>
          </p:cNvPr>
          <p:cNvSpPr txBox="1"/>
          <p:nvPr/>
        </p:nvSpPr>
        <p:spPr>
          <a:xfrm>
            <a:off x="7720010" y="2717354"/>
            <a:ext cx="1100137" cy="369332"/>
          </a:xfrm>
          <a:prstGeom prst="rect">
            <a:avLst/>
          </a:prstGeom>
          <a:noFill/>
        </p:spPr>
        <p:txBody>
          <a:bodyPr wrap="square">
            <a:spAutoFit/>
          </a:bodyPr>
          <a:lstStyle/>
          <a:p>
            <a:r>
              <a:rPr lang="fr-FR" b="0" i="0" u="none" strike="noStrike" dirty="0" err="1">
                <a:solidFill>
                  <a:srgbClr val="000000"/>
                </a:solidFill>
                <a:effectLst/>
                <a:latin typeface="Arial" panose="020B0604020202020204" pitchFamily="34" charset="0"/>
              </a:rPr>
              <a:t>Income</a:t>
            </a:r>
            <a:endParaRPr lang="fr-FR" dirty="0"/>
          </a:p>
        </p:txBody>
      </p:sp>
      <p:sp>
        <p:nvSpPr>
          <p:cNvPr id="13" name="ZoneTexte 12">
            <a:extLst>
              <a:ext uri="{FF2B5EF4-FFF2-40B4-BE49-F238E27FC236}">
                <a16:creationId xmlns:a16="http://schemas.microsoft.com/office/drawing/2014/main" id="{FB2D44E2-7BB0-6CAC-BC60-5FABDB1C8373}"/>
              </a:ext>
            </a:extLst>
          </p:cNvPr>
          <p:cNvSpPr txBox="1"/>
          <p:nvPr/>
        </p:nvSpPr>
        <p:spPr>
          <a:xfrm>
            <a:off x="8901109" y="2717115"/>
            <a:ext cx="1481141" cy="369332"/>
          </a:xfrm>
          <a:prstGeom prst="rect">
            <a:avLst/>
          </a:prstGeom>
          <a:noFill/>
        </p:spPr>
        <p:txBody>
          <a:bodyPr wrap="square">
            <a:spAutoFit/>
          </a:bodyPr>
          <a:lstStyle/>
          <a:p>
            <a:r>
              <a:rPr lang="fr-FR" b="0" i="0" u="none" strike="noStrike" dirty="0">
                <a:solidFill>
                  <a:srgbClr val="000000"/>
                </a:solidFill>
                <a:effectLst/>
                <a:latin typeface="Arial" panose="020B0604020202020204" pitchFamily="34" charset="0"/>
              </a:rPr>
              <a:t>Education</a:t>
            </a:r>
            <a:endParaRPr lang="fr-FR" dirty="0"/>
          </a:p>
        </p:txBody>
      </p:sp>
      <p:sp>
        <p:nvSpPr>
          <p:cNvPr id="20" name="ZoneTexte 19">
            <a:extLst>
              <a:ext uri="{FF2B5EF4-FFF2-40B4-BE49-F238E27FC236}">
                <a16:creationId xmlns:a16="http://schemas.microsoft.com/office/drawing/2014/main" id="{D0963837-FB83-B953-E263-074CCFBBF7C0}"/>
              </a:ext>
            </a:extLst>
          </p:cNvPr>
          <p:cNvSpPr txBox="1"/>
          <p:nvPr/>
        </p:nvSpPr>
        <p:spPr>
          <a:xfrm>
            <a:off x="3860005" y="3296949"/>
            <a:ext cx="5434013" cy="1077218"/>
          </a:xfrm>
          <a:prstGeom prst="rect">
            <a:avLst/>
          </a:prstGeom>
          <a:noFill/>
        </p:spPr>
        <p:txBody>
          <a:bodyPr wrap="square">
            <a:spAutoFit/>
          </a:bodyPr>
          <a:lstStyle/>
          <a:p>
            <a:pPr rtl="0">
              <a:spcBef>
                <a:spcPts val="0"/>
              </a:spcBef>
              <a:spcAft>
                <a:spcPts val="0"/>
              </a:spcAft>
            </a:pPr>
            <a:r>
              <a:rPr lang="fr-FR" sz="2800" b="0" i="0" u="none" strike="noStrike" dirty="0">
                <a:solidFill>
                  <a:srgbClr val="000000"/>
                </a:solidFill>
                <a:effectLst/>
                <a:latin typeface="Arial" panose="020B0604020202020204" pitchFamily="34" charset="0"/>
              </a:rPr>
              <a:t>h(x) = 2 + 1.2x1+ 0.9x2- 0.83x3</a:t>
            </a:r>
            <a:endParaRPr lang="fr-FR" sz="2800" b="0" dirty="0">
              <a:effectLst/>
            </a:endParaRPr>
          </a:p>
          <a:p>
            <a:br>
              <a:rPr lang="fr-FR" dirty="0"/>
            </a:br>
            <a:endParaRPr lang="fr-FR" dirty="0"/>
          </a:p>
        </p:txBody>
      </p:sp>
      <p:sp>
        <p:nvSpPr>
          <p:cNvPr id="21" name="Ellipse 20">
            <a:extLst>
              <a:ext uri="{FF2B5EF4-FFF2-40B4-BE49-F238E27FC236}">
                <a16:creationId xmlns:a16="http://schemas.microsoft.com/office/drawing/2014/main" id="{69BD2451-85BA-08E1-75A0-1C60778CF6F1}"/>
              </a:ext>
            </a:extLst>
          </p:cNvPr>
          <p:cNvSpPr/>
          <p:nvPr/>
        </p:nvSpPr>
        <p:spPr>
          <a:xfrm>
            <a:off x="545300" y="3045118"/>
            <a:ext cx="1481141" cy="93082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Age </a:t>
            </a:r>
          </a:p>
        </p:txBody>
      </p:sp>
      <p:sp>
        <p:nvSpPr>
          <p:cNvPr id="22" name="Ellipse 21">
            <a:extLst>
              <a:ext uri="{FF2B5EF4-FFF2-40B4-BE49-F238E27FC236}">
                <a16:creationId xmlns:a16="http://schemas.microsoft.com/office/drawing/2014/main" id="{DC6FB8A0-111D-8316-BE1E-38CE5162AF3A}"/>
              </a:ext>
            </a:extLst>
          </p:cNvPr>
          <p:cNvSpPr/>
          <p:nvPr/>
        </p:nvSpPr>
        <p:spPr>
          <a:xfrm>
            <a:off x="210736" y="4446336"/>
            <a:ext cx="1600202" cy="93082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Education</a:t>
            </a:r>
          </a:p>
        </p:txBody>
      </p:sp>
      <p:sp>
        <p:nvSpPr>
          <p:cNvPr id="23" name="Ellipse 22">
            <a:extLst>
              <a:ext uri="{FF2B5EF4-FFF2-40B4-BE49-F238E27FC236}">
                <a16:creationId xmlns:a16="http://schemas.microsoft.com/office/drawing/2014/main" id="{9727528E-C3FC-1EFE-7D97-5ED644539E1B}"/>
              </a:ext>
            </a:extLst>
          </p:cNvPr>
          <p:cNvSpPr/>
          <p:nvPr/>
        </p:nvSpPr>
        <p:spPr>
          <a:xfrm>
            <a:off x="210736" y="5666149"/>
            <a:ext cx="1481141" cy="93082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solidFill>
              </a:rPr>
              <a:t>Income</a:t>
            </a:r>
            <a:endParaRPr lang="fr-FR" dirty="0">
              <a:solidFill>
                <a:schemeClr val="tx1"/>
              </a:solidFill>
            </a:endParaRPr>
          </a:p>
        </p:txBody>
      </p:sp>
      <p:cxnSp>
        <p:nvCxnSpPr>
          <p:cNvPr id="27" name="Connecteur droit avec flèche 26">
            <a:extLst>
              <a:ext uri="{FF2B5EF4-FFF2-40B4-BE49-F238E27FC236}">
                <a16:creationId xmlns:a16="http://schemas.microsoft.com/office/drawing/2014/main" id="{EB064EBA-DB31-B70B-BF99-6A82E2490047}"/>
              </a:ext>
            </a:extLst>
          </p:cNvPr>
          <p:cNvCxnSpPr>
            <a:stCxn id="21" idx="6"/>
            <a:endCxn id="11" idx="1"/>
          </p:cNvCxnSpPr>
          <p:nvPr/>
        </p:nvCxnSpPr>
        <p:spPr>
          <a:xfrm>
            <a:off x="2026441" y="3510529"/>
            <a:ext cx="1964257" cy="1112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1CC5E0F2-B6FE-19D6-3A4A-D5190D733634}"/>
              </a:ext>
            </a:extLst>
          </p:cNvPr>
          <p:cNvCxnSpPr>
            <a:stCxn id="22" idx="6"/>
            <a:endCxn id="11" idx="2"/>
          </p:cNvCxnSpPr>
          <p:nvPr/>
        </p:nvCxnSpPr>
        <p:spPr>
          <a:xfrm>
            <a:off x="1810938" y="4911747"/>
            <a:ext cx="1108474" cy="465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2ED0E013-2B3D-FF39-C1FE-05C1760F5ED1}"/>
              </a:ext>
            </a:extLst>
          </p:cNvPr>
          <p:cNvCxnSpPr>
            <a:stCxn id="23" idx="6"/>
            <a:endCxn id="11" idx="3"/>
          </p:cNvCxnSpPr>
          <p:nvPr/>
        </p:nvCxnSpPr>
        <p:spPr>
          <a:xfrm>
            <a:off x="1691877" y="6131560"/>
            <a:ext cx="22988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03711D7E-19CC-2476-DEB8-B64B41F0487F}"/>
              </a:ext>
            </a:extLst>
          </p:cNvPr>
          <p:cNvSpPr txBox="1"/>
          <p:nvPr/>
        </p:nvSpPr>
        <p:spPr>
          <a:xfrm rot="1825236">
            <a:off x="2900210" y="3725807"/>
            <a:ext cx="488158" cy="369332"/>
          </a:xfrm>
          <a:prstGeom prst="rect">
            <a:avLst/>
          </a:prstGeom>
          <a:noFill/>
        </p:spPr>
        <p:txBody>
          <a:bodyPr wrap="square">
            <a:spAutoFit/>
          </a:bodyPr>
          <a:lstStyle/>
          <a:p>
            <a:r>
              <a:rPr lang="fr-FR" b="0" i="0" u="none" strike="noStrike" dirty="0">
                <a:solidFill>
                  <a:srgbClr val="000000"/>
                </a:solidFill>
                <a:effectLst/>
                <a:latin typeface="Arial" panose="020B0604020202020204" pitchFamily="34" charset="0"/>
              </a:rPr>
              <a:t>w1</a:t>
            </a:r>
            <a:endParaRPr lang="fr-FR" dirty="0"/>
          </a:p>
        </p:txBody>
      </p:sp>
      <p:sp>
        <p:nvSpPr>
          <p:cNvPr id="39" name="ZoneTexte 38">
            <a:extLst>
              <a:ext uri="{FF2B5EF4-FFF2-40B4-BE49-F238E27FC236}">
                <a16:creationId xmlns:a16="http://schemas.microsoft.com/office/drawing/2014/main" id="{16FC9B84-A55F-678C-B7DE-5A00F17DBA7E}"/>
              </a:ext>
            </a:extLst>
          </p:cNvPr>
          <p:cNvSpPr txBox="1"/>
          <p:nvPr/>
        </p:nvSpPr>
        <p:spPr>
          <a:xfrm rot="1825236">
            <a:off x="2254219" y="4803697"/>
            <a:ext cx="488158" cy="369332"/>
          </a:xfrm>
          <a:prstGeom prst="rect">
            <a:avLst/>
          </a:prstGeom>
          <a:noFill/>
        </p:spPr>
        <p:txBody>
          <a:bodyPr wrap="square">
            <a:spAutoFit/>
          </a:bodyPr>
          <a:lstStyle/>
          <a:p>
            <a:r>
              <a:rPr lang="fr-FR" b="0" i="0" u="none" strike="noStrike" dirty="0">
                <a:solidFill>
                  <a:srgbClr val="000000"/>
                </a:solidFill>
                <a:effectLst/>
                <a:latin typeface="Arial" panose="020B0604020202020204" pitchFamily="34" charset="0"/>
              </a:rPr>
              <a:t>w2</a:t>
            </a:r>
            <a:endParaRPr lang="fr-FR" dirty="0"/>
          </a:p>
        </p:txBody>
      </p:sp>
      <p:sp>
        <p:nvSpPr>
          <p:cNvPr id="40" name="ZoneTexte 39">
            <a:extLst>
              <a:ext uri="{FF2B5EF4-FFF2-40B4-BE49-F238E27FC236}">
                <a16:creationId xmlns:a16="http://schemas.microsoft.com/office/drawing/2014/main" id="{EC8A29C3-5C3E-7760-E9FA-E6202423EA60}"/>
              </a:ext>
            </a:extLst>
          </p:cNvPr>
          <p:cNvSpPr txBox="1"/>
          <p:nvPr/>
        </p:nvSpPr>
        <p:spPr>
          <a:xfrm>
            <a:off x="2252290" y="5739504"/>
            <a:ext cx="488158" cy="369332"/>
          </a:xfrm>
          <a:prstGeom prst="rect">
            <a:avLst/>
          </a:prstGeom>
          <a:noFill/>
        </p:spPr>
        <p:txBody>
          <a:bodyPr wrap="square">
            <a:spAutoFit/>
          </a:bodyPr>
          <a:lstStyle/>
          <a:p>
            <a:r>
              <a:rPr lang="fr-FR" b="0" i="0" u="none" strike="noStrike" dirty="0">
                <a:solidFill>
                  <a:srgbClr val="000000"/>
                </a:solidFill>
                <a:effectLst/>
                <a:latin typeface="Arial" panose="020B0604020202020204" pitchFamily="34" charset="0"/>
              </a:rPr>
              <a:t>w3</a:t>
            </a:r>
            <a:endParaRPr lang="fr-FR" dirty="0"/>
          </a:p>
        </p:txBody>
      </p:sp>
      <p:sp>
        <p:nvSpPr>
          <p:cNvPr id="41" name="Flèche : droite 40">
            <a:extLst>
              <a:ext uri="{FF2B5EF4-FFF2-40B4-BE49-F238E27FC236}">
                <a16:creationId xmlns:a16="http://schemas.microsoft.com/office/drawing/2014/main" id="{CF14BCCA-0B07-8768-CDC7-68D1A286167A}"/>
              </a:ext>
            </a:extLst>
          </p:cNvPr>
          <p:cNvSpPr/>
          <p:nvPr/>
        </p:nvSpPr>
        <p:spPr>
          <a:xfrm>
            <a:off x="10382250" y="5271195"/>
            <a:ext cx="960836" cy="3121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20525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i="0" dirty="0" err="1">
                <a:effectLst/>
                <a:latin typeface="Source Sans 3"/>
              </a:rPr>
              <a:t>What</a:t>
            </a:r>
            <a:r>
              <a:rPr lang="fr-FR" b="1" i="0" dirty="0">
                <a:effectLst/>
                <a:latin typeface="Source Sans 3"/>
              </a:rPr>
              <a:t> </a:t>
            </a:r>
            <a:r>
              <a:rPr lang="fr-FR" b="1" i="0" dirty="0" err="1">
                <a:effectLst/>
                <a:latin typeface="Source Sans 3"/>
              </a:rPr>
              <a:t>is</a:t>
            </a:r>
            <a:r>
              <a:rPr lang="fr-FR" b="1" i="0" dirty="0">
                <a:effectLst/>
                <a:latin typeface="Source Sans 3"/>
              </a:rPr>
              <a:t> Perceptron</a:t>
            </a:r>
            <a:endParaRPr lang="fr-FR" dirty="0"/>
          </a:p>
        </p:txBody>
      </p:sp>
      <p:sp>
        <p:nvSpPr>
          <p:cNvPr id="4" name="Espace réservé du contenu 3">
            <a:extLst>
              <a:ext uri="{FF2B5EF4-FFF2-40B4-BE49-F238E27FC236}">
                <a16:creationId xmlns:a16="http://schemas.microsoft.com/office/drawing/2014/main" id="{5D354EBC-57AF-C172-978C-775B2768F459}"/>
              </a:ext>
            </a:extLst>
          </p:cNvPr>
          <p:cNvSpPr>
            <a:spLocks noGrp="1"/>
          </p:cNvSpPr>
          <p:nvPr>
            <p:ph idx="1"/>
          </p:nvPr>
        </p:nvSpPr>
        <p:spPr/>
        <p:txBody>
          <a:bodyPr/>
          <a:lstStyle/>
          <a:p>
            <a:r>
              <a:rPr lang="fr-FR" b="1" i="0" dirty="0">
                <a:effectLst/>
                <a:latin typeface="Nunito" pitchFamily="2" charset="0"/>
              </a:rPr>
              <a:t>Inputs </a:t>
            </a:r>
            <a:r>
              <a:rPr lang="fr-FR" b="1" dirty="0">
                <a:latin typeface="Nunito" pitchFamily="2" charset="0"/>
              </a:rPr>
              <a:t>: </a:t>
            </a:r>
            <a:r>
              <a:rPr lang="en-US" b="0" i="0" dirty="0">
                <a:effectLst/>
                <a:latin typeface="Nunito" pitchFamily="2" charset="0"/>
              </a:rPr>
              <a:t>These are the features or measurable attributes of a data point that the perceptron uses to make a decision. Each input provides a signal that contributes to the final output.</a:t>
            </a:r>
          </a:p>
          <a:p>
            <a:r>
              <a:rPr lang="en-US" b="1" dirty="0">
                <a:latin typeface="Nunito" pitchFamily="2" charset="0"/>
              </a:rPr>
              <a:t>Weights</a:t>
            </a:r>
            <a:r>
              <a:rPr lang="en-US" dirty="0">
                <a:latin typeface="Nunito" pitchFamily="2" charset="0"/>
              </a:rPr>
              <a:t>: </a:t>
            </a:r>
            <a:r>
              <a:rPr lang="en-US" b="0" i="0" dirty="0">
                <a:effectLst/>
                <a:latin typeface="Nunito" pitchFamily="2" charset="0"/>
              </a:rPr>
              <a:t>Weights determine how strongly each input contributes to the prediction. A larger weight means the corresponding input has a higher impact.</a:t>
            </a:r>
            <a:endParaRPr lang="en-US" dirty="0">
              <a:latin typeface="Nunito" pitchFamily="2" charset="0"/>
            </a:endParaRPr>
          </a:p>
          <a:p>
            <a:pPr algn="l" rtl="0" fontAlgn="base"/>
            <a:r>
              <a:rPr lang="en-US" b="1" i="0" dirty="0">
                <a:effectLst/>
                <a:latin typeface="Nunito" pitchFamily="2" charset="0"/>
              </a:rPr>
              <a:t>Bias: </a:t>
            </a:r>
            <a:r>
              <a:rPr lang="en-US" b="0" i="0" dirty="0">
                <a:effectLst/>
                <a:latin typeface="Nunito" pitchFamily="2" charset="0"/>
              </a:rPr>
              <a:t>The bias is a constant value added to the weighted sum to shift the decision boundary.</a:t>
            </a:r>
            <a:r>
              <a:rPr lang="fr-FR" b="1" dirty="0">
                <a:latin typeface="Nunito" pitchFamily="2" charset="0"/>
              </a:rPr>
              <a:t> If by </a:t>
            </a:r>
            <a:r>
              <a:rPr lang="fr-FR" b="1" dirty="0" err="1">
                <a:latin typeface="Nunito" pitchFamily="2" charset="0"/>
              </a:rPr>
              <a:t>mistake</a:t>
            </a:r>
            <a:r>
              <a:rPr lang="fr-FR" b="1" dirty="0">
                <a:latin typeface="Nunito" pitchFamily="2" charset="0"/>
              </a:rPr>
              <a:t> </a:t>
            </a:r>
            <a:r>
              <a:rPr lang="fr-FR" b="1" dirty="0" err="1">
                <a:latin typeface="Nunito" pitchFamily="2" charset="0"/>
              </a:rPr>
              <a:t>assigns</a:t>
            </a:r>
            <a:r>
              <a:rPr lang="fr-FR" b="1" dirty="0">
                <a:latin typeface="Nunito" pitchFamily="2" charset="0"/>
              </a:rPr>
              <a:t> </a:t>
            </a:r>
            <a:r>
              <a:rPr lang="fr-FR" b="1" dirty="0" err="1">
                <a:latin typeface="Nunito" pitchFamily="2" charset="0"/>
              </a:rPr>
              <a:t>weights</a:t>
            </a:r>
            <a:r>
              <a:rPr lang="fr-FR" b="1" dirty="0">
                <a:latin typeface="Nunito" pitchFamily="2" charset="0"/>
              </a:rPr>
              <a:t> to </a:t>
            </a:r>
            <a:r>
              <a:rPr lang="fr-FR" b="1" dirty="0" err="1">
                <a:latin typeface="Nunito" pitchFamily="2" charset="0"/>
              </a:rPr>
              <a:t>zero</a:t>
            </a:r>
            <a:r>
              <a:rPr lang="fr-FR" b="1" dirty="0">
                <a:latin typeface="Nunito" pitchFamily="2" charset="0"/>
              </a:rPr>
              <a:t> the training continue and </a:t>
            </a:r>
            <a:r>
              <a:rPr lang="fr-FR" b="1" dirty="0" err="1">
                <a:latin typeface="Nunito" pitchFamily="2" charset="0"/>
              </a:rPr>
              <a:t>we</a:t>
            </a:r>
            <a:r>
              <a:rPr lang="fr-FR" b="1" dirty="0">
                <a:latin typeface="Nunito" pitchFamily="2" charset="0"/>
              </a:rPr>
              <a:t> update </a:t>
            </a:r>
            <a:r>
              <a:rPr lang="fr-FR" b="1" dirty="0" err="1">
                <a:latin typeface="Nunito" pitchFamily="2" charset="0"/>
              </a:rPr>
              <a:t>weights</a:t>
            </a:r>
            <a:r>
              <a:rPr lang="fr-FR" b="1" dirty="0">
                <a:latin typeface="Nunito" pitchFamily="2" charset="0"/>
              </a:rPr>
              <a:t> </a:t>
            </a:r>
            <a:r>
              <a:rPr lang="fr-FR" b="1" dirty="0" err="1">
                <a:latin typeface="Nunito" pitchFamily="2" charset="0"/>
              </a:rPr>
              <a:t>later</a:t>
            </a:r>
            <a:r>
              <a:rPr lang="fr-FR" b="1" dirty="0">
                <a:latin typeface="Nunito" pitchFamily="2" charset="0"/>
              </a:rPr>
              <a:t>.</a:t>
            </a:r>
            <a:endParaRPr lang="en-US" b="0" i="0" dirty="0">
              <a:effectLst/>
              <a:latin typeface="Nunito" pitchFamily="2" charset="0"/>
            </a:endParaRPr>
          </a:p>
        </p:txBody>
      </p:sp>
    </p:spTree>
    <p:extLst>
      <p:ext uri="{BB962C8B-B14F-4D97-AF65-F5344CB8AC3E}">
        <p14:creationId xmlns:p14="http://schemas.microsoft.com/office/powerpoint/2010/main" val="4223098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839307-5453-755B-BF4E-8B848EB32B38}"/>
              </a:ext>
            </a:extLst>
          </p:cNvPr>
          <p:cNvSpPr>
            <a:spLocks noGrp="1"/>
          </p:cNvSpPr>
          <p:nvPr>
            <p:ph type="title"/>
          </p:nvPr>
        </p:nvSpPr>
        <p:spPr/>
        <p:txBody>
          <a:bodyPr/>
          <a:lstStyle/>
          <a:p>
            <a:r>
              <a:rPr lang="en-GB" dirty="0"/>
              <a:t>Advantages and Disadvantages of Perceptron</a:t>
            </a:r>
          </a:p>
        </p:txBody>
      </p:sp>
      <p:pic>
        <p:nvPicPr>
          <p:cNvPr id="5" name="Espace réservé du contenu 4">
            <a:extLst>
              <a:ext uri="{FF2B5EF4-FFF2-40B4-BE49-F238E27FC236}">
                <a16:creationId xmlns:a16="http://schemas.microsoft.com/office/drawing/2014/main" id="{14EB568F-A101-21F6-F248-DBEE465CEC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1162" y="1948656"/>
            <a:ext cx="7434263" cy="3978730"/>
          </a:xfrm>
        </p:spPr>
      </p:pic>
    </p:spTree>
    <p:extLst>
      <p:ext uri="{BB962C8B-B14F-4D97-AF65-F5344CB8AC3E}">
        <p14:creationId xmlns:p14="http://schemas.microsoft.com/office/powerpoint/2010/main" val="2258221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9A60A3-16C8-94B5-B2D3-1B1DB86917C7}"/>
              </a:ext>
            </a:extLst>
          </p:cNvPr>
          <p:cNvSpPr>
            <a:spLocks noGrp="1"/>
          </p:cNvSpPr>
          <p:nvPr>
            <p:ph type="title"/>
          </p:nvPr>
        </p:nvSpPr>
        <p:spPr/>
        <p:txBody>
          <a:bodyPr/>
          <a:lstStyle/>
          <a:p>
            <a:r>
              <a:rPr lang="en-GB" dirty="0"/>
              <a:t>Multi Layered Neural Network</a:t>
            </a:r>
          </a:p>
        </p:txBody>
      </p:sp>
      <p:sp>
        <p:nvSpPr>
          <p:cNvPr id="3" name="Espace réservé du contenu 2">
            <a:extLst>
              <a:ext uri="{FF2B5EF4-FFF2-40B4-BE49-F238E27FC236}">
                <a16:creationId xmlns:a16="http://schemas.microsoft.com/office/drawing/2014/main" id="{183F7DCD-665A-5834-0F16-171A663519B8}"/>
              </a:ext>
            </a:extLst>
          </p:cNvPr>
          <p:cNvSpPr>
            <a:spLocks noGrp="1"/>
          </p:cNvSpPr>
          <p:nvPr>
            <p:ph idx="1"/>
          </p:nvPr>
        </p:nvSpPr>
        <p:spPr/>
        <p:txBody>
          <a:bodyPr/>
          <a:lstStyle/>
          <a:p>
            <a:pPr algn="l" rtl="0" fontAlgn="base"/>
            <a:r>
              <a:rPr lang="en-US" sz="2400" b="0" i="0" dirty="0">
                <a:solidFill>
                  <a:srgbClr val="273239"/>
                </a:solidFill>
                <a:effectLst/>
                <a:latin typeface="Nunito" pitchFamily="2" charset="0"/>
              </a:rPr>
              <a:t>Artificial Neural Networks (ANNs) are the fundamental building blocks of modern deep learning systems. They consist of interconnected artificial neurons organized into layers that learn from training data to recognize patterns, make predictions and solve complex problems.</a:t>
            </a:r>
          </a:p>
          <a:p>
            <a:pPr marL="0" indent="0">
              <a:buNone/>
            </a:pPr>
            <a:endParaRPr lang="fr-FR" dirty="0"/>
          </a:p>
        </p:txBody>
      </p:sp>
      <p:pic>
        <p:nvPicPr>
          <p:cNvPr id="5" name="Image 4">
            <a:extLst>
              <a:ext uri="{FF2B5EF4-FFF2-40B4-BE49-F238E27FC236}">
                <a16:creationId xmlns:a16="http://schemas.microsoft.com/office/drawing/2014/main" id="{52306712-6EE9-7BB3-2B9E-D885F9D7D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0992" y="3271258"/>
            <a:ext cx="6443233" cy="3221617"/>
          </a:xfrm>
          <a:prstGeom prst="rect">
            <a:avLst/>
          </a:prstGeom>
        </p:spPr>
      </p:pic>
    </p:spTree>
    <p:extLst>
      <p:ext uri="{BB962C8B-B14F-4D97-AF65-F5344CB8AC3E}">
        <p14:creationId xmlns:p14="http://schemas.microsoft.com/office/powerpoint/2010/main" val="558268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marL="0" indent="0" algn="l" fontAlgn="base">
              <a:buNone/>
            </a:pPr>
            <a:r>
              <a:rPr lang="fr-FR" b="1" dirty="0" err="1">
                <a:latin typeface="Nunito" pitchFamily="2" charset="0"/>
              </a:rPr>
              <a:t>Forward</a:t>
            </a:r>
            <a:r>
              <a:rPr lang="fr-FR" b="1" dirty="0">
                <a:latin typeface="Nunito" pitchFamily="2" charset="0"/>
              </a:rPr>
              <a:t> </a:t>
            </a:r>
            <a:r>
              <a:rPr lang="fr-FR" b="1" dirty="0" err="1">
                <a:latin typeface="Nunito" pitchFamily="2" charset="0"/>
              </a:rPr>
              <a:t>propogation</a:t>
            </a:r>
            <a:r>
              <a:rPr lang="fr-FR" b="1" dirty="0">
                <a:latin typeface="Nunito" pitchFamily="2" charset="0"/>
              </a:rPr>
              <a:t>:</a:t>
            </a:r>
          </a:p>
        </p:txBody>
      </p:sp>
      <p:sp>
        <p:nvSpPr>
          <p:cNvPr id="4" name="Espace réservé du contenu 3">
            <a:extLst>
              <a:ext uri="{FF2B5EF4-FFF2-40B4-BE49-F238E27FC236}">
                <a16:creationId xmlns:a16="http://schemas.microsoft.com/office/drawing/2014/main" id="{5D354EBC-57AF-C172-978C-775B2768F459}"/>
              </a:ext>
            </a:extLst>
          </p:cNvPr>
          <p:cNvSpPr>
            <a:spLocks noGrp="1"/>
          </p:cNvSpPr>
          <p:nvPr>
            <p:ph idx="1"/>
          </p:nvPr>
        </p:nvSpPr>
        <p:spPr/>
        <p:txBody>
          <a:bodyPr/>
          <a:lstStyle/>
          <a:p>
            <a:pPr marL="0" indent="0" algn="l" fontAlgn="base">
              <a:buNone/>
            </a:pPr>
            <a:r>
              <a:rPr lang="en-US" b="0" i="0" dirty="0">
                <a:effectLst/>
                <a:latin typeface="Nunito" pitchFamily="2" charset="0"/>
              </a:rPr>
              <a:t>Forward propagation in neural networks is the process where input data flows through each layer of the model to generate an output. It’s the step-by-step computation that transforms raw inputs into </a:t>
            </a:r>
            <a:r>
              <a:rPr lang="en-US" b="0" i="0" dirty="0">
                <a:solidFill>
                  <a:srgbClr val="FFFFFF"/>
                </a:solidFill>
                <a:effectLst/>
                <a:latin typeface="Nunito" pitchFamily="2" charset="0"/>
              </a:rPr>
              <a:t>predictions using weights, biases and activation functions. This operation forms the backbone of how neural networks learn patterns and make decisions.</a:t>
            </a:r>
            <a:endParaRPr lang="fr-FR" b="1" dirty="0">
              <a:latin typeface="Nunito" pitchFamily="2" charset="0"/>
            </a:endParaRPr>
          </a:p>
        </p:txBody>
      </p:sp>
      <p:pic>
        <p:nvPicPr>
          <p:cNvPr id="3" name="Image 2">
            <a:extLst>
              <a:ext uri="{FF2B5EF4-FFF2-40B4-BE49-F238E27FC236}">
                <a16:creationId xmlns:a16="http://schemas.microsoft.com/office/drawing/2014/main" id="{E3D36405-175D-3A60-B0ED-63F29CA52D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1892" y="3266098"/>
            <a:ext cx="6253770" cy="3134702"/>
          </a:xfrm>
          <a:prstGeom prst="rect">
            <a:avLst/>
          </a:prstGeom>
        </p:spPr>
      </p:pic>
    </p:spTree>
    <p:extLst>
      <p:ext uri="{BB962C8B-B14F-4D97-AF65-F5344CB8AC3E}">
        <p14:creationId xmlns:p14="http://schemas.microsoft.com/office/powerpoint/2010/main" val="3733234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1" i="0" dirty="0">
                <a:effectLst/>
                <a:latin typeface="Nunito" pitchFamily="2" charset="0"/>
              </a:rPr>
              <a:t>Forward </a:t>
            </a:r>
            <a:r>
              <a:rPr lang="en-US" b="1" i="0" dirty="0" err="1">
                <a:effectLst/>
                <a:latin typeface="Nunito" pitchFamily="2" charset="0"/>
              </a:rPr>
              <a:t>Propogation</a:t>
            </a:r>
            <a:endParaRPr lang="fr-FR" dirty="0"/>
          </a:p>
        </p:txBody>
      </p:sp>
      <p:sp>
        <p:nvSpPr>
          <p:cNvPr id="4" name="Espace réservé du contenu 3">
            <a:extLst>
              <a:ext uri="{FF2B5EF4-FFF2-40B4-BE49-F238E27FC236}">
                <a16:creationId xmlns:a16="http://schemas.microsoft.com/office/drawing/2014/main" id="{5D354EBC-57AF-C172-978C-775B2768F459}"/>
              </a:ext>
            </a:extLst>
          </p:cNvPr>
          <p:cNvSpPr>
            <a:spLocks noGrp="1"/>
          </p:cNvSpPr>
          <p:nvPr>
            <p:ph idx="1"/>
          </p:nvPr>
        </p:nvSpPr>
        <p:spPr/>
        <p:txBody>
          <a:bodyPr>
            <a:normAutofit/>
          </a:bodyPr>
          <a:lstStyle/>
          <a:p>
            <a:pPr algn="l" fontAlgn="base"/>
            <a:r>
              <a:rPr lang="fr-FR" b="1" i="0" dirty="0">
                <a:effectLst/>
                <a:latin typeface="Nunito" pitchFamily="2" charset="0"/>
              </a:rPr>
              <a:t>Initial Calculation</a:t>
            </a:r>
          </a:p>
        </p:txBody>
      </p:sp>
      <p:pic>
        <p:nvPicPr>
          <p:cNvPr id="6" name="Image 5">
            <a:extLst>
              <a:ext uri="{FF2B5EF4-FFF2-40B4-BE49-F238E27FC236}">
                <a16:creationId xmlns:a16="http://schemas.microsoft.com/office/drawing/2014/main" id="{FFA35BD7-B4CA-6064-FD27-3BAA8B5712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642" y="2404736"/>
            <a:ext cx="8839966" cy="3772227"/>
          </a:xfrm>
          <a:prstGeom prst="rect">
            <a:avLst/>
          </a:prstGeom>
        </p:spPr>
      </p:pic>
    </p:spTree>
    <p:extLst>
      <p:ext uri="{BB962C8B-B14F-4D97-AF65-F5344CB8AC3E}">
        <p14:creationId xmlns:p14="http://schemas.microsoft.com/office/powerpoint/2010/main" val="2045638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1" i="0" dirty="0">
                <a:effectLst/>
                <a:latin typeface="Nunito" pitchFamily="2" charset="0"/>
              </a:rPr>
              <a:t>Backward </a:t>
            </a:r>
            <a:r>
              <a:rPr lang="en-US" b="1" i="0" dirty="0" err="1">
                <a:effectLst/>
                <a:latin typeface="Nunito" pitchFamily="2" charset="0"/>
              </a:rPr>
              <a:t>Propogation</a:t>
            </a:r>
            <a:endParaRPr lang="fr-FR" dirty="0"/>
          </a:p>
        </p:txBody>
      </p:sp>
      <p:sp>
        <p:nvSpPr>
          <p:cNvPr id="4" name="Espace réservé du contenu 3">
            <a:extLst>
              <a:ext uri="{FF2B5EF4-FFF2-40B4-BE49-F238E27FC236}">
                <a16:creationId xmlns:a16="http://schemas.microsoft.com/office/drawing/2014/main" id="{5D354EBC-57AF-C172-978C-775B2768F459}"/>
              </a:ext>
            </a:extLst>
          </p:cNvPr>
          <p:cNvSpPr>
            <a:spLocks noGrp="1"/>
          </p:cNvSpPr>
          <p:nvPr>
            <p:ph idx="1"/>
          </p:nvPr>
        </p:nvSpPr>
        <p:spPr>
          <a:xfrm>
            <a:off x="838200" y="1690688"/>
            <a:ext cx="10515600" cy="4351338"/>
          </a:xfrm>
        </p:spPr>
        <p:txBody>
          <a:bodyPr>
            <a:normAutofit/>
          </a:bodyPr>
          <a:lstStyle/>
          <a:p>
            <a:pPr marL="0" indent="0" fontAlgn="base">
              <a:buNone/>
            </a:pPr>
            <a:r>
              <a:rPr lang="en-US" sz="1800" b="0" i="0" dirty="0">
                <a:effectLst/>
                <a:latin typeface="Nunito" pitchFamily="2" charset="0"/>
              </a:rPr>
              <a:t>It works by propagating errors backward through the network, using the chain rule of calculus to compute gradients and then iteratively updating the weights and biases. Combined with optimization techniques like gradient descent, backpropagation enables the model to reduce loss across epochs and effectively learn complex patterns from data.</a:t>
            </a:r>
            <a:br>
              <a:rPr lang="fr-FR" sz="1800" dirty="0"/>
            </a:br>
            <a:endParaRPr lang="fr-FR" sz="1800" b="1" i="0" dirty="0">
              <a:effectLst/>
              <a:latin typeface="Nunito" pitchFamily="2" charset="0"/>
            </a:endParaRPr>
          </a:p>
          <a:p>
            <a:pPr algn="l" fontAlgn="base"/>
            <a:endParaRPr lang="fr-FR" b="1" i="0" dirty="0">
              <a:effectLst/>
              <a:latin typeface="Nunito" pitchFamily="2" charset="0"/>
            </a:endParaRPr>
          </a:p>
        </p:txBody>
      </p:sp>
      <p:pic>
        <p:nvPicPr>
          <p:cNvPr id="5" name="Image 4">
            <a:extLst>
              <a:ext uri="{FF2B5EF4-FFF2-40B4-BE49-F238E27FC236}">
                <a16:creationId xmlns:a16="http://schemas.microsoft.com/office/drawing/2014/main" id="{506B931F-228D-8CC1-73BD-012C85015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8093" y="2855334"/>
            <a:ext cx="6643258" cy="3321629"/>
          </a:xfrm>
          <a:prstGeom prst="rect">
            <a:avLst/>
          </a:prstGeom>
        </p:spPr>
      </p:pic>
      <p:sp>
        <p:nvSpPr>
          <p:cNvPr id="6" name="ZoneTexte 5">
            <a:extLst>
              <a:ext uri="{FF2B5EF4-FFF2-40B4-BE49-F238E27FC236}">
                <a16:creationId xmlns:a16="http://schemas.microsoft.com/office/drawing/2014/main" id="{4FE6B49D-D84F-C6E9-EBD6-51EB93B52A7A}"/>
              </a:ext>
            </a:extLst>
          </p:cNvPr>
          <p:cNvSpPr txBox="1"/>
          <p:nvPr/>
        </p:nvSpPr>
        <p:spPr>
          <a:xfrm>
            <a:off x="257174" y="6405602"/>
            <a:ext cx="6981825" cy="369332"/>
          </a:xfrm>
          <a:prstGeom prst="rect">
            <a:avLst/>
          </a:prstGeom>
          <a:noFill/>
        </p:spPr>
        <p:txBody>
          <a:bodyPr wrap="square">
            <a:spAutoFit/>
          </a:bodyPr>
          <a:lstStyle/>
          <a:p>
            <a:pPr algn="l">
              <a:buFont typeface="Arial" panose="020B0604020202020204" pitchFamily="34" charset="0"/>
              <a:buChar char="•"/>
            </a:pPr>
            <a:r>
              <a:rPr lang="en-US" b="0" i="0" u="sng" dirty="0">
                <a:solidFill>
                  <a:srgbClr val="025E8D"/>
                </a:solidFill>
                <a:effectLst/>
                <a:latin typeface="-apple-system"/>
              </a:rPr>
              <a:t>David E. </a:t>
            </a:r>
            <a:r>
              <a:rPr lang="en-US" b="0" i="0" u="sng" dirty="0" err="1">
                <a:solidFill>
                  <a:srgbClr val="025E8D"/>
                </a:solidFill>
                <a:effectLst/>
                <a:latin typeface="-apple-system"/>
              </a:rPr>
              <a:t>Rumelhart</a:t>
            </a:r>
            <a:r>
              <a:rPr lang="en-US" b="0" i="0" dirty="0">
                <a:solidFill>
                  <a:srgbClr val="222222"/>
                </a:solidFill>
                <a:effectLst/>
                <a:latin typeface="-apple-system"/>
              </a:rPr>
              <a:t>, </a:t>
            </a:r>
            <a:r>
              <a:rPr lang="en-US" b="0" i="0" u="sng" dirty="0">
                <a:solidFill>
                  <a:srgbClr val="025E8D"/>
                </a:solidFill>
                <a:effectLst/>
                <a:latin typeface="-apple-system"/>
              </a:rPr>
              <a:t>Geoffrey E. Hinton</a:t>
            </a:r>
            <a:r>
              <a:rPr lang="en-US" b="0" i="0" dirty="0">
                <a:solidFill>
                  <a:srgbClr val="222222"/>
                </a:solidFill>
                <a:effectLst/>
                <a:latin typeface="-apple-system"/>
              </a:rPr>
              <a:t> &amp; </a:t>
            </a:r>
            <a:r>
              <a:rPr lang="en-US" b="0" i="0" u="sng" dirty="0">
                <a:solidFill>
                  <a:srgbClr val="025E8D"/>
                </a:solidFill>
                <a:effectLst/>
                <a:latin typeface="-apple-system"/>
              </a:rPr>
              <a:t>Ronald J. Williams, 1986</a:t>
            </a:r>
            <a:r>
              <a:rPr lang="en-US" b="0" i="0" dirty="0">
                <a:solidFill>
                  <a:srgbClr val="222222"/>
                </a:solidFill>
                <a:effectLst/>
                <a:latin typeface="-apple-system"/>
              </a:rPr>
              <a:t> </a:t>
            </a:r>
          </a:p>
        </p:txBody>
      </p:sp>
    </p:spTree>
    <p:extLst>
      <p:ext uri="{BB962C8B-B14F-4D97-AF65-F5344CB8AC3E}">
        <p14:creationId xmlns:p14="http://schemas.microsoft.com/office/powerpoint/2010/main" val="2638047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fontScale="90000"/>
          </a:bodyPr>
          <a:lstStyle/>
          <a:p>
            <a:pPr algn="l" fontAlgn="base"/>
            <a:r>
              <a:rPr lang="en-US" b="1" i="0" dirty="0">
                <a:effectLst/>
                <a:latin typeface="Nunito" pitchFamily="2" charset="0"/>
              </a:rPr>
              <a:t>Example of Back Propagation in Machine Learning</a:t>
            </a:r>
            <a:br>
              <a:rPr lang="en-US" dirty="0"/>
            </a:br>
            <a:endParaRPr lang="fr-FR" dirty="0"/>
          </a:p>
        </p:txBody>
      </p:sp>
      <p:sp>
        <p:nvSpPr>
          <p:cNvPr id="4" name="Espace réservé du contenu 3">
            <a:extLst>
              <a:ext uri="{FF2B5EF4-FFF2-40B4-BE49-F238E27FC236}">
                <a16:creationId xmlns:a16="http://schemas.microsoft.com/office/drawing/2014/main" id="{5D354EBC-57AF-C172-978C-775B2768F459}"/>
              </a:ext>
            </a:extLst>
          </p:cNvPr>
          <p:cNvSpPr>
            <a:spLocks noGrp="1"/>
          </p:cNvSpPr>
          <p:nvPr>
            <p:ph idx="1"/>
          </p:nvPr>
        </p:nvSpPr>
        <p:spPr/>
        <p:txBody>
          <a:bodyPr>
            <a:normAutofit/>
          </a:bodyPr>
          <a:lstStyle/>
          <a:p>
            <a:pPr algn="l" rtl="0" fontAlgn="base"/>
            <a:r>
              <a:rPr lang="en-US" b="0" i="0" dirty="0">
                <a:effectLst/>
                <a:latin typeface="Nunito" pitchFamily="2" charset="0"/>
              </a:rPr>
              <a:t>The target output is 0.5.</a:t>
            </a:r>
          </a:p>
          <a:p>
            <a:pPr marL="0" indent="0">
              <a:buNone/>
            </a:pPr>
            <a:br>
              <a:rPr lang="en-US" dirty="0"/>
            </a:br>
            <a:endParaRPr lang="fr-FR" b="1" i="0" dirty="0">
              <a:effectLst/>
              <a:latin typeface="Nunito" pitchFamily="2" charset="0"/>
            </a:endParaRPr>
          </a:p>
        </p:txBody>
      </p:sp>
      <p:pic>
        <p:nvPicPr>
          <p:cNvPr id="8" name="Image 7">
            <a:extLst>
              <a:ext uri="{FF2B5EF4-FFF2-40B4-BE49-F238E27FC236}">
                <a16:creationId xmlns:a16="http://schemas.microsoft.com/office/drawing/2014/main" id="{763B2998-3C8D-FC0A-9F30-C0C82ABC8D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6692" y="2775414"/>
            <a:ext cx="6786133" cy="3401549"/>
          </a:xfrm>
          <a:prstGeom prst="rect">
            <a:avLst/>
          </a:prstGeom>
        </p:spPr>
      </p:pic>
      <p:sp>
        <p:nvSpPr>
          <p:cNvPr id="3" name="Espace réservé du contenu 3">
            <a:extLst>
              <a:ext uri="{FF2B5EF4-FFF2-40B4-BE49-F238E27FC236}">
                <a16:creationId xmlns:a16="http://schemas.microsoft.com/office/drawing/2014/main" id="{DFC2B8AF-331F-19FA-F307-733902922A12}"/>
              </a:ext>
            </a:extLst>
          </p:cNvPr>
          <p:cNvSpPr txBox="1">
            <a:spLocks/>
          </p:cNvSpPr>
          <p:nvPr/>
        </p:nvSpPr>
        <p:spPr>
          <a:xfrm>
            <a:off x="428625" y="3511550"/>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fr-FR" b="1" dirty="0" err="1">
                <a:latin typeface="Nunito" pitchFamily="2" charset="0"/>
              </a:rPr>
              <a:t>Loss</a:t>
            </a:r>
            <a:r>
              <a:rPr lang="fr-FR" b="1" dirty="0">
                <a:latin typeface="Nunito" pitchFamily="2" charset="0"/>
              </a:rPr>
              <a:t> </a:t>
            </a:r>
            <a:r>
              <a:rPr lang="fr-FR" b="1" dirty="0" err="1">
                <a:latin typeface="Nunito" pitchFamily="2" charset="0"/>
              </a:rPr>
              <a:t>Function</a:t>
            </a:r>
            <a:r>
              <a:rPr lang="fr-FR" b="1" dirty="0">
                <a:latin typeface="Nunito" pitchFamily="2" charset="0"/>
              </a:rPr>
              <a:t> :</a:t>
            </a:r>
          </a:p>
          <a:p>
            <a:pPr marL="0" indent="0" fontAlgn="base">
              <a:buFont typeface="Arial" panose="020B0604020202020204" pitchFamily="34" charset="0"/>
              <a:buNone/>
            </a:pPr>
            <a:r>
              <a:rPr lang="fr-FR" b="1" dirty="0">
                <a:latin typeface="Nunito" pitchFamily="2" charset="0"/>
              </a:rPr>
              <a:t>0.5-0.76 = -0.17</a:t>
            </a:r>
          </a:p>
        </p:txBody>
      </p:sp>
    </p:spTree>
    <p:extLst>
      <p:ext uri="{BB962C8B-B14F-4D97-AF65-F5344CB8AC3E}">
        <p14:creationId xmlns:p14="http://schemas.microsoft.com/office/powerpoint/2010/main" val="3544621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r>
              <a:rPr lang="en-US" b="1" i="0" dirty="0">
                <a:effectLst/>
                <a:latin typeface="Nunito" pitchFamily="2" charset="0"/>
              </a:rPr>
              <a:t>Backward </a:t>
            </a:r>
            <a:r>
              <a:rPr lang="en-US" b="1" i="0" dirty="0" err="1">
                <a:effectLst/>
                <a:latin typeface="Nunito" pitchFamily="2" charset="0"/>
              </a:rPr>
              <a:t>Propogation</a:t>
            </a:r>
            <a:r>
              <a:rPr lang="en-US" b="1" i="0" dirty="0">
                <a:effectLst/>
                <a:latin typeface="Nunito" pitchFamily="2" charset="0"/>
              </a:rPr>
              <a:t>: </a:t>
            </a:r>
            <a:r>
              <a:rPr lang="fr-FR" b="1" i="0" dirty="0" err="1">
                <a:effectLst/>
                <a:latin typeface="Nunito" pitchFamily="2" charset="0"/>
              </a:rPr>
              <a:t>Weight</a:t>
            </a:r>
            <a:r>
              <a:rPr lang="fr-FR" b="1" i="0" dirty="0">
                <a:effectLst/>
                <a:latin typeface="Nunito" pitchFamily="2" charset="0"/>
              </a:rPr>
              <a:t> Update</a:t>
            </a:r>
            <a:endParaRPr lang="fr-FR" dirty="0"/>
          </a:p>
        </p:txBody>
      </p:sp>
      <p:pic>
        <p:nvPicPr>
          <p:cNvPr id="7" name="Image 6">
            <a:extLst>
              <a:ext uri="{FF2B5EF4-FFF2-40B4-BE49-F238E27FC236}">
                <a16:creationId xmlns:a16="http://schemas.microsoft.com/office/drawing/2014/main" id="{CBEBEC47-B1F2-7262-9782-67BA2A9C4F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415" y="2704887"/>
            <a:ext cx="4309664" cy="2238588"/>
          </a:xfrm>
          <a:prstGeom prst="rect">
            <a:avLst/>
          </a:prstGeom>
        </p:spPr>
      </p:pic>
      <p:pic>
        <p:nvPicPr>
          <p:cNvPr id="5" name="Image 4">
            <a:extLst>
              <a:ext uri="{FF2B5EF4-FFF2-40B4-BE49-F238E27FC236}">
                <a16:creationId xmlns:a16="http://schemas.microsoft.com/office/drawing/2014/main" id="{131B003A-234B-DB32-FA68-6C9EF8890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364" y="2317986"/>
            <a:ext cx="5422222" cy="3784127"/>
          </a:xfrm>
          <a:prstGeom prst="rect">
            <a:avLst/>
          </a:prstGeom>
        </p:spPr>
      </p:pic>
    </p:spTree>
    <p:extLst>
      <p:ext uri="{BB962C8B-B14F-4D97-AF65-F5344CB8AC3E}">
        <p14:creationId xmlns:p14="http://schemas.microsoft.com/office/powerpoint/2010/main" val="181227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r>
              <a:rPr lang="en-US" b="1" i="0" dirty="0">
                <a:effectLst/>
                <a:latin typeface="Nunito" pitchFamily="2" charset="0"/>
              </a:rPr>
              <a:t>Backward </a:t>
            </a:r>
            <a:r>
              <a:rPr lang="en-US" b="1" i="0" dirty="0" err="1">
                <a:effectLst/>
                <a:latin typeface="Nunito" pitchFamily="2" charset="0"/>
              </a:rPr>
              <a:t>Propogation</a:t>
            </a:r>
            <a:r>
              <a:rPr lang="en-US" b="1" i="0" dirty="0">
                <a:effectLst/>
                <a:latin typeface="Nunito" pitchFamily="2" charset="0"/>
              </a:rPr>
              <a:t>: </a:t>
            </a:r>
            <a:r>
              <a:rPr lang="fr-FR" b="1" i="0" dirty="0">
                <a:effectLst/>
                <a:latin typeface="Nunito" pitchFamily="2" charset="0"/>
              </a:rPr>
              <a:t>Chain </a:t>
            </a:r>
            <a:r>
              <a:rPr lang="fr-FR" b="1" i="0" dirty="0" err="1">
                <a:effectLst/>
                <a:latin typeface="Nunito" pitchFamily="2" charset="0"/>
              </a:rPr>
              <a:t>rule</a:t>
            </a:r>
            <a:r>
              <a:rPr lang="fr-FR" b="1" i="0" dirty="0">
                <a:effectLst/>
                <a:latin typeface="Nunito" pitchFamily="2" charset="0"/>
              </a:rPr>
              <a:t> of </a:t>
            </a:r>
            <a:r>
              <a:rPr lang="fr-FR" b="1" i="0" dirty="0" err="1">
                <a:effectLst/>
                <a:latin typeface="Nunito" pitchFamily="2" charset="0"/>
              </a:rPr>
              <a:t>Derivatives</a:t>
            </a:r>
            <a:endParaRPr lang="fr-FR" dirty="0"/>
          </a:p>
        </p:txBody>
      </p:sp>
      <p:pic>
        <p:nvPicPr>
          <p:cNvPr id="5" name="Image 4">
            <a:extLst>
              <a:ext uri="{FF2B5EF4-FFF2-40B4-BE49-F238E27FC236}">
                <a16:creationId xmlns:a16="http://schemas.microsoft.com/office/drawing/2014/main" id="{65678E34-BD39-01BD-26DD-49D41D948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462" y="2943197"/>
            <a:ext cx="6552176" cy="1647853"/>
          </a:xfrm>
          <a:prstGeom prst="rect">
            <a:avLst/>
          </a:prstGeom>
        </p:spPr>
      </p:pic>
      <p:pic>
        <p:nvPicPr>
          <p:cNvPr id="6" name="Image 5">
            <a:extLst>
              <a:ext uri="{FF2B5EF4-FFF2-40B4-BE49-F238E27FC236}">
                <a16:creationId xmlns:a16="http://schemas.microsoft.com/office/drawing/2014/main" id="{9863FB76-704D-7F41-0693-65C66FD16A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5029" y="1400175"/>
            <a:ext cx="4835612" cy="5295900"/>
          </a:xfrm>
          <a:prstGeom prst="rect">
            <a:avLst/>
          </a:prstGeom>
        </p:spPr>
      </p:pic>
    </p:spTree>
    <p:extLst>
      <p:ext uri="{BB962C8B-B14F-4D97-AF65-F5344CB8AC3E}">
        <p14:creationId xmlns:p14="http://schemas.microsoft.com/office/powerpoint/2010/main" val="2313119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1" i="0" dirty="0">
                <a:effectLst/>
                <a:latin typeface="Nunito" pitchFamily="2" charset="0"/>
              </a:rPr>
              <a:t>Activation Functions</a:t>
            </a:r>
            <a:endParaRPr lang="fr-FR" dirty="0"/>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1200329"/>
          </a:xfrm>
          <a:prstGeom prst="rect">
            <a:avLst/>
          </a:prstGeom>
          <a:noFill/>
        </p:spPr>
        <p:txBody>
          <a:bodyPr wrap="square">
            <a:spAutoFit/>
          </a:bodyPr>
          <a:lstStyle/>
          <a:p>
            <a:pPr algn="l" rtl="0" fontAlgn="base"/>
            <a:r>
              <a:rPr lang="en-US" b="0" i="0" dirty="0">
                <a:solidFill>
                  <a:srgbClr val="273239"/>
                </a:solidFill>
                <a:effectLst/>
                <a:latin typeface="Nunito" pitchFamily="2" charset="0"/>
              </a:rPr>
              <a:t>An activation function is applied to the weighted sum of inputs before producing the final output of a neuron. It introduces non-linearity, allowing the network to learn complex patterns.</a:t>
            </a:r>
          </a:p>
          <a:p>
            <a:br>
              <a:rPr lang="en-US" dirty="0"/>
            </a:br>
            <a:endParaRPr lang="fr-FR" dirty="0"/>
          </a:p>
        </p:txBody>
      </p:sp>
      <p:pic>
        <p:nvPicPr>
          <p:cNvPr id="3" name="Espace réservé du contenu 4">
            <a:extLst>
              <a:ext uri="{FF2B5EF4-FFF2-40B4-BE49-F238E27FC236}">
                <a16:creationId xmlns:a16="http://schemas.microsoft.com/office/drawing/2014/main" id="{6DEC933C-11B7-3B8E-EE63-38DA63C19C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9385" y="2506662"/>
            <a:ext cx="8653229" cy="4351338"/>
          </a:xfrm>
        </p:spPr>
      </p:pic>
    </p:spTree>
    <p:extLst>
      <p:ext uri="{BB962C8B-B14F-4D97-AF65-F5344CB8AC3E}">
        <p14:creationId xmlns:p14="http://schemas.microsoft.com/office/powerpoint/2010/main" val="190762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dirty="0">
                <a:latin typeface="Nunito" pitchFamily="2" charset="0"/>
              </a:rPr>
              <a:t>The </a:t>
            </a:r>
            <a:r>
              <a:rPr lang="fr-FR" b="1" dirty="0" err="1">
                <a:latin typeface="Nunito" pitchFamily="2" charset="0"/>
              </a:rPr>
              <a:t>vanishing</a:t>
            </a:r>
            <a:r>
              <a:rPr lang="fr-FR" b="1" dirty="0">
                <a:latin typeface="Nunito" pitchFamily="2" charset="0"/>
              </a:rPr>
              <a:t> gradient </a:t>
            </a:r>
            <a:r>
              <a:rPr lang="fr-FR" b="1" dirty="0" err="1">
                <a:latin typeface="Nunito" pitchFamily="2" charset="0"/>
              </a:rPr>
              <a:t>problem</a:t>
            </a:r>
            <a:r>
              <a:rPr lang="fr-FR" b="1" dirty="0">
                <a:latin typeface="Nunito" pitchFamily="2" charset="0"/>
              </a:rPr>
              <a:t> and </a:t>
            </a:r>
            <a:r>
              <a:rPr lang="fr-FR" b="1" dirty="0" err="1">
                <a:latin typeface="Nunito" pitchFamily="2" charset="0"/>
              </a:rPr>
              <a:t>Sigmoid</a:t>
            </a:r>
            <a:r>
              <a:rPr lang="fr-FR" b="1" dirty="0">
                <a:latin typeface="Nunito" pitchFamily="2" charset="0"/>
              </a:rPr>
              <a:t> </a:t>
            </a: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923330"/>
          </a:xfrm>
          <a:prstGeom prst="rect">
            <a:avLst/>
          </a:prstGeom>
          <a:noFill/>
        </p:spPr>
        <p:txBody>
          <a:bodyPr wrap="square">
            <a:spAutoFit/>
          </a:bodyPr>
          <a:lstStyle/>
          <a:p>
            <a:pPr algn="l" rtl="0" fontAlgn="base"/>
            <a:r>
              <a:rPr lang="en-US" b="0" u="none" strike="noStrike" dirty="0">
                <a:effectLst/>
                <a:latin typeface="Google Sans"/>
              </a:rPr>
              <a:t>The vanishing gradient problem with the sigmoid function </a:t>
            </a:r>
            <a:r>
              <a:rPr lang="en-US" dirty="0"/>
              <a:t>happens because its derivative has a maximum value of only 0.25.</a:t>
            </a:r>
            <a:br>
              <a:rPr lang="en-US" dirty="0"/>
            </a:br>
            <a:endParaRPr lang="fr-FR" dirty="0"/>
          </a:p>
        </p:txBody>
      </p:sp>
      <p:pic>
        <p:nvPicPr>
          <p:cNvPr id="4" name="Image 3">
            <a:extLst>
              <a:ext uri="{FF2B5EF4-FFF2-40B4-BE49-F238E27FC236}">
                <a16:creationId xmlns:a16="http://schemas.microsoft.com/office/drawing/2014/main" id="{3498E4FB-1A9E-62CE-B8C0-F4E9CF310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9299" y="2195396"/>
            <a:ext cx="7239202" cy="4588056"/>
          </a:xfrm>
          <a:prstGeom prst="rect">
            <a:avLst/>
          </a:prstGeom>
        </p:spPr>
      </p:pic>
    </p:spTree>
    <p:extLst>
      <p:ext uri="{BB962C8B-B14F-4D97-AF65-F5344CB8AC3E}">
        <p14:creationId xmlns:p14="http://schemas.microsoft.com/office/powerpoint/2010/main" val="2261335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1" i="0" dirty="0">
                <a:solidFill>
                  <a:srgbClr val="273239"/>
                </a:solidFill>
                <a:effectLst/>
                <a:latin typeface="Source Sans 3"/>
              </a:rPr>
              <a:t>Weight Initialization Techniques for Deep Neural Networks</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1754326"/>
          </a:xfrm>
          <a:prstGeom prst="rect">
            <a:avLst/>
          </a:prstGeom>
          <a:noFill/>
        </p:spPr>
        <p:txBody>
          <a:bodyPr wrap="square">
            <a:spAutoFit/>
          </a:bodyPr>
          <a:lstStyle/>
          <a:p>
            <a:pPr algn="l" fontAlgn="base"/>
            <a:r>
              <a:rPr lang="en-US" b="0" i="0" dirty="0">
                <a:solidFill>
                  <a:srgbClr val="273239"/>
                </a:solidFill>
                <a:effectLst/>
                <a:latin typeface="Nunito" pitchFamily="2" charset="0"/>
              </a:rPr>
              <a:t>While building and training neural networks, it is crucial to initialize the weights appropriately to ensure a model with high accuracy. If the weights are not correctly initialized, it may give rise to the Vanishing Gradient problem or the Exploding Gradient problem. Hence, selecting an appropriate weight initialization strategy is critical when training DL models. In this article, we will learn some of the most common weight initialization techniques, along with their implementation in Python using </a:t>
            </a:r>
            <a:r>
              <a:rPr lang="en-US" b="0" i="1" dirty="0" err="1">
                <a:solidFill>
                  <a:srgbClr val="273239"/>
                </a:solidFill>
                <a:effectLst/>
                <a:latin typeface="Nunito" pitchFamily="2" charset="0"/>
              </a:rPr>
              <a:t>Keras</a:t>
            </a:r>
            <a:r>
              <a:rPr lang="en-US" b="0" i="1" dirty="0">
                <a:solidFill>
                  <a:srgbClr val="273239"/>
                </a:solidFill>
                <a:effectLst/>
                <a:latin typeface="Nunito" pitchFamily="2" charset="0"/>
              </a:rPr>
              <a:t> </a:t>
            </a:r>
            <a:r>
              <a:rPr lang="en-US" b="0" i="0" dirty="0">
                <a:solidFill>
                  <a:srgbClr val="273239"/>
                </a:solidFill>
                <a:effectLst/>
                <a:latin typeface="Nunito" pitchFamily="2" charset="0"/>
              </a:rPr>
              <a:t>in </a:t>
            </a:r>
            <a:r>
              <a:rPr lang="en-US" b="0" i="1" dirty="0">
                <a:solidFill>
                  <a:srgbClr val="273239"/>
                </a:solidFill>
                <a:effectLst/>
                <a:latin typeface="Nunito" pitchFamily="2" charset="0"/>
              </a:rPr>
              <a:t>TensorFlow</a:t>
            </a:r>
            <a:r>
              <a:rPr lang="en-US" b="0" i="0" dirty="0">
                <a:solidFill>
                  <a:srgbClr val="273239"/>
                </a:solidFill>
                <a:effectLst/>
                <a:latin typeface="Nunito" pitchFamily="2" charset="0"/>
              </a:rPr>
              <a:t>.</a:t>
            </a:r>
          </a:p>
        </p:txBody>
      </p:sp>
      <p:pic>
        <p:nvPicPr>
          <p:cNvPr id="6" name="Image 5">
            <a:extLst>
              <a:ext uri="{FF2B5EF4-FFF2-40B4-BE49-F238E27FC236}">
                <a16:creationId xmlns:a16="http://schemas.microsoft.com/office/drawing/2014/main" id="{C9AB3534-B443-60AB-A6BA-F21C52A503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260070"/>
            <a:ext cx="3232805" cy="3232805"/>
          </a:xfrm>
          <a:prstGeom prst="rect">
            <a:avLst/>
          </a:prstGeom>
        </p:spPr>
      </p:pic>
    </p:spTree>
    <p:extLst>
      <p:ext uri="{BB962C8B-B14F-4D97-AF65-F5344CB8AC3E}">
        <p14:creationId xmlns:p14="http://schemas.microsoft.com/office/powerpoint/2010/main" val="1892309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dirty="0" err="1">
                <a:latin typeface="Nunito" pitchFamily="2" charset="0"/>
              </a:rPr>
              <a:t>Sigmoid</a:t>
            </a:r>
            <a:r>
              <a:rPr lang="fr-FR" b="1" dirty="0">
                <a:latin typeface="Nunito" pitchFamily="2" charset="0"/>
              </a:rPr>
              <a:t> Activation </a:t>
            </a:r>
            <a:r>
              <a:rPr lang="fr-FR" b="1" dirty="0" err="1">
                <a:latin typeface="Nunito" pitchFamily="2" charset="0"/>
              </a:rPr>
              <a:t>Function</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923330"/>
          </a:xfrm>
          <a:prstGeom prst="rect">
            <a:avLst/>
          </a:prstGeom>
          <a:noFill/>
        </p:spPr>
        <p:txBody>
          <a:bodyPr wrap="square">
            <a:spAutoFit/>
          </a:bodyPr>
          <a:lstStyle/>
          <a:p>
            <a:pPr algn="l" rtl="0" fontAlgn="base"/>
            <a:r>
              <a:rPr lang="en-US" b="0" i="0" dirty="0">
                <a:solidFill>
                  <a:srgbClr val="273239"/>
                </a:solidFill>
                <a:effectLst/>
                <a:latin typeface="Nunito" pitchFamily="2" charset="0"/>
              </a:rPr>
              <a:t>Sigmoid is a mathematical function that maps any real-valued number into a value between 0 and 1. Its characteristic "S"-shaped curve makes it particularly useful in scenarios where we need to convert outputs into probabilities. This function is often called the logistic function.</a:t>
            </a:r>
          </a:p>
        </p:txBody>
      </p:sp>
      <p:pic>
        <p:nvPicPr>
          <p:cNvPr id="6" name="Image 5">
            <a:extLst>
              <a:ext uri="{FF2B5EF4-FFF2-40B4-BE49-F238E27FC236}">
                <a16:creationId xmlns:a16="http://schemas.microsoft.com/office/drawing/2014/main" id="{13B9493C-76C2-D854-8566-20BC78D6F0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0" y="2819400"/>
            <a:ext cx="5924550" cy="3834347"/>
          </a:xfrm>
          <a:prstGeom prst="rect">
            <a:avLst/>
          </a:prstGeom>
        </p:spPr>
      </p:pic>
      <p:pic>
        <p:nvPicPr>
          <p:cNvPr id="8" name="Image 7">
            <a:extLst>
              <a:ext uri="{FF2B5EF4-FFF2-40B4-BE49-F238E27FC236}">
                <a16:creationId xmlns:a16="http://schemas.microsoft.com/office/drawing/2014/main" id="{1E331EFE-A2E3-BC85-6185-FE14F75445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299" y="2895599"/>
            <a:ext cx="5662721" cy="3673475"/>
          </a:xfrm>
          <a:prstGeom prst="rect">
            <a:avLst/>
          </a:prstGeom>
        </p:spPr>
      </p:pic>
    </p:spTree>
    <p:extLst>
      <p:ext uri="{BB962C8B-B14F-4D97-AF65-F5344CB8AC3E}">
        <p14:creationId xmlns:p14="http://schemas.microsoft.com/office/powerpoint/2010/main" val="35201113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dirty="0" err="1">
                <a:latin typeface="Nunito" pitchFamily="2" charset="0"/>
              </a:rPr>
              <a:t>Tanh</a:t>
            </a:r>
            <a:r>
              <a:rPr lang="fr-FR" b="1" dirty="0">
                <a:latin typeface="Nunito" pitchFamily="2" charset="0"/>
              </a:rPr>
              <a:t> Activation </a:t>
            </a:r>
            <a:r>
              <a:rPr lang="fr-FR" b="1" dirty="0" err="1">
                <a:latin typeface="Nunito" pitchFamily="2" charset="0"/>
              </a:rPr>
              <a:t>Function</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923330"/>
          </a:xfrm>
          <a:prstGeom prst="rect">
            <a:avLst/>
          </a:prstGeom>
          <a:noFill/>
        </p:spPr>
        <p:txBody>
          <a:bodyPr wrap="square">
            <a:spAutoFit/>
          </a:bodyPr>
          <a:lstStyle/>
          <a:p>
            <a:pPr algn="l" rtl="0" fontAlgn="base"/>
            <a:r>
              <a:rPr lang="en-US" b="0" i="0" dirty="0">
                <a:solidFill>
                  <a:srgbClr val="273239"/>
                </a:solidFill>
                <a:effectLst/>
                <a:latin typeface="Nunito" pitchFamily="2" charset="0"/>
              </a:rPr>
              <a:t>Tanh (hyperbolic tangent) is a type of activation function that transforms its input into a value between -1 and 1.</a:t>
            </a:r>
          </a:p>
          <a:p>
            <a:endParaRPr lang="en-US" b="0" i="0" dirty="0">
              <a:solidFill>
                <a:srgbClr val="273239"/>
              </a:solidFill>
              <a:effectLst/>
              <a:latin typeface="Nunito" pitchFamily="2" charset="0"/>
            </a:endParaRPr>
          </a:p>
        </p:txBody>
      </p:sp>
      <p:pic>
        <p:nvPicPr>
          <p:cNvPr id="4" name="Image 3">
            <a:extLst>
              <a:ext uri="{FF2B5EF4-FFF2-40B4-BE49-F238E27FC236}">
                <a16:creationId xmlns:a16="http://schemas.microsoft.com/office/drawing/2014/main" id="{903F4404-1505-35D4-6D73-933E40E2C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874367"/>
            <a:ext cx="5972436" cy="3594695"/>
          </a:xfrm>
          <a:prstGeom prst="rect">
            <a:avLst/>
          </a:prstGeom>
        </p:spPr>
      </p:pic>
      <p:pic>
        <p:nvPicPr>
          <p:cNvPr id="9" name="Image 8">
            <a:extLst>
              <a:ext uri="{FF2B5EF4-FFF2-40B4-BE49-F238E27FC236}">
                <a16:creationId xmlns:a16="http://schemas.microsoft.com/office/drawing/2014/main" id="{AEFD7035-F3C1-7368-13AF-94F7F085C1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25" y="2874367"/>
            <a:ext cx="5744684" cy="3390305"/>
          </a:xfrm>
          <a:prstGeom prst="rect">
            <a:avLst/>
          </a:prstGeom>
        </p:spPr>
      </p:pic>
    </p:spTree>
    <p:extLst>
      <p:ext uri="{BB962C8B-B14F-4D97-AF65-F5344CB8AC3E}">
        <p14:creationId xmlns:p14="http://schemas.microsoft.com/office/powerpoint/2010/main" val="935025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dirty="0" err="1">
                <a:latin typeface="Nunito" pitchFamily="2" charset="0"/>
              </a:rPr>
              <a:t>ReLU</a:t>
            </a:r>
            <a:r>
              <a:rPr lang="fr-FR" b="1" dirty="0">
                <a:latin typeface="Nunito" pitchFamily="2" charset="0"/>
              </a:rPr>
              <a:t> Activation </a:t>
            </a:r>
            <a:r>
              <a:rPr lang="fr-FR" b="1" dirty="0" err="1">
                <a:latin typeface="Nunito" pitchFamily="2" charset="0"/>
              </a:rPr>
              <a:t>Function</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1200329"/>
          </a:xfrm>
          <a:prstGeom prst="rect">
            <a:avLst/>
          </a:prstGeom>
          <a:noFill/>
        </p:spPr>
        <p:txBody>
          <a:bodyPr wrap="square">
            <a:spAutoFit/>
          </a:bodyPr>
          <a:lstStyle/>
          <a:p>
            <a:pPr algn="l" rtl="0" fontAlgn="base"/>
            <a:r>
              <a:rPr lang="en-US" dirty="0" err="1">
                <a:solidFill>
                  <a:srgbClr val="273239"/>
                </a:solidFill>
                <a:latin typeface="Nunito" pitchFamily="2" charset="0"/>
              </a:rPr>
              <a:t>ReLU</a:t>
            </a:r>
            <a:r>
              <a:rPr lang="en-US" dirty="0">
                <a:solidFill>
                  <a:srgbClr val="273239"/>
                </a:solidFill>
                <a:latin typeface="Nunito" pitchFamily="2" charset="0"/>
              </a:rPr>
              <a:t> (</a:t>
            </a:r>
            <a:r>
              <a:rPr lang="fr-FR" dirty="0" err="1"/>
              <a:t>Rectified</a:t>
            </a:r>
            <a:r>
              <a:rPr lang="fr-FR" dirty="0"/>
              <a:t> </a:t>
            </a:r>
            <a:r>
              <a:rPr lang="fr-FR" dirty="0" err="1"/>
              <a:t>Linear</a:t>
            </a:r>
            <a:r>
              <a:rPr lang="fr-FR" dirty="0"/>
              <a:t> Unit) </a:t>
            </a:r>
            <a:r>
              <a:rPr lang="en-US" dirty="0">
                <a:solidFill>
                  <a:srgbClr val="273239"/>
                </a:solidFill>
                <a:latin typeface="Nunito" pitchFamily="2" charset="0"/>
              </a:rPr>
              <a:t>is a widely used activation function in deep learning that outputs the input directly if it is positive and returns zero otherwise. Its simplicity and efficiency make it a default choice in many neural network architectures, helping models learn complex patterns while reducing issues like the vanishing gradient problem.</a:t>
            </a:r>
          </a:p>
        </p:txBody>
      </p:sp>
      <p:pic>
        <p:nvPicPr>
          <p:cNvPr id="6" name="Image 5">
            <a:extLst>
              <a:ext uri="{FF2B5EF4-FFF2-40B4-BE49-F238E27FC236}">
                <a16:creationId xmlns:a16="http://schemas.microsoft.com/office/drawing/2014/main" id="{F2BE0697-DDDE-B22A-0010-64F20CEA6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075" y="2868546"/>
            <a:ext cx="5915025" cy="3873432"/>
          </a:xfrm>
          <a:prstGeom prst="rect">
            <a:avLst/>
          </a:prstGeom>
        </p:spPr>
      </p:pic>
      <p:pic>
        <p:nvPicPr>
          <p:cNvPr id="8" name="Image 7">
            <a:extLst>
              <a:ext uri="{FF2B5EF4-FFF2-40B4-BE49-F238E27FC236}">
                <a16:creationId xmlns:a16="http://schemas.microsoft.com/office/drawing/2014/main" id="{CF39EAE0-DE35-78FD-59C1-7F5998B489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5011" y="2608027"/>
            <a:ext cx="5230378" cy="4187960"/>
          </a:xfrm>
          <a:prstGeom prst="rect">
            <a:avLst/>
          </a:prstGeom>
        </p:spPr>
      </p:pic>
    </p:spTree>
    <p:extLst>
      <p:ext uri="{BB962C8B-B14F-4D97-AF65-F5344CB8AC3E}">
        <p14:creationId xmlns:p14="http://schemas.microsoft.com/office/powerpoint/2010/main" val="935243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dirty="0" err="1">
                <a:latin typeface="Nunito" pitchFamily="2" charset="0"/>
              </a:rPr>
              <a:t>Leaky</a:t>
            </a:r>
            <a:r>
              <a:rPr lang="fr-FR" b="1" dirty="0">
                <a:latin typeface="Nunito" pitchFamily="2" charset="0"/>
              </a:rPr>
              <a:t> </a:t>
            </a:r>
            <a:r>
              <a:rPr lang="fr-FR" b="1" dirty="0" err="1">
                <a:latin typeface="Nunito" pitchFamily="2" charset="0"/>
              </a:rPr>
              <a:t>ReLU</a:t>
            </a:r>
            <a:r>
              <a:rPr lang="fr-FR" b="1" dirty="0">
                <a:latin typeface="Nunito" pitchFamily="2" charset="0"/>
              </a:rPr>
              <a:t> Activation </a:t>
            </a:r>
            <a:r>
              <a:rPr lang="fr-FR" b="1" dirty="0" err="1">
                <a:latin typeface="Nunito" pitchFamily="2" charset="0"/>
              </a:rPr>
              <a:t>Function</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1477328"/>
          </a:xfrm>
          <a:prstGeom prst="rect">
            <a:avLst/>
          </a:prstGeom>
          <a:noFill/>
        </p:spPr>
        <p:txBody>
          <a:bodyPr wrap="square">
            <a:spAutoFit/>
          </a:bodyPr>
          <a:lstStyle/>
          <a:p>
            <a:pPr algn="l" rtl="0" fontAlgn="base"/>
            <a:r>
              <a:rPr lang="en-US" b="0" i="0" dirty="0">
                <a:solidFill>
                  <a:srgbClr val="273239"/>
                </a:solidFill>
                <a:effectLst/>
                <a:latin typeface="Nunito" pitchFamily="2" charset="0"/>
              </a:rPr>
              <a:t>Leaky </a:t>
            </a:r>
            <a:r>
              <a:rPr lang="en-US" b="0" i="0" dirty="0" err="1">
                <a:solidFill>
                  <a:srgbClr val="273239"/>
                </a:solidFill>
                <a:effectLst/>
                <a:latin typeface="Nunito" pitchFamily="2" charset="0"/>
              </a:rPr>
              <a:t>ReLU</a:t>
            </a:r>
            <a:r>
              <a:rPr lang="en-US" b="0" i="0" dirty="0">
                <a:solidFill>
                  <a:srgbClr val="273239"/>
                </a:solidFill>
                <a:effectLst/>
                <a:latin typeface="Nunito" pitchFamily="2" charset="0"/>
              </a:rPr>
              <a:t> is a modified version of </a:t>
            </a:r>
            <a:r>
              <a:rPr lang="en-US" b="0" i="0" dirty="0" err="1">
                <a:solidFill>
                  <a:srgbClr val="273239"/>
                </a:solidFill>
                <a:effectLst/>
                <a:latin typeface="Nunito" pitchFamily="2" charset="0"/>
              </a:rPr>
              <a:t>ReLU</a:t>
            </a:r>
            <a:r>
              <a:rPr lang="en-US" b="0" i="0" dirty="0">
                <a:solidFill>
                  <a:srgbClr val="273239"/>
                </a:solidFill>
                <a:effectLst/>
                <a:latin typeface="Nunito" pitchFamily="2" charset="0"/>
              </a:rPr>
              <a:t> designed to fix the problem of dead neurons. Instead of returning zero for negative inputs it allows a small, non-zero value. It introduces a slight modification to the standard </a:t>
            </a:r>
            <a:r>
              <a:rPr lang="en-US" b="0" i="0" dirty="0" err="1">
                <a:solidFill>
                  <a:srgbClr val="273239"/>
                </a:solidFill>
                <a:effectLst/>
                <a:latin typeface="Nunito" pitchFamily="2" charset="0"/>
              </a:rPr>
              <a:t>ReLU</a:t>
            </a:r>
            <a:r>
              <a:rPr lang="en-US" b="0" i="0" dirty="0">
                <a:solidFill>
                  <a:srgbClr val="273239"/>
                </a:solidFill>
                <a:effectLst/>
                <a:latin typeface="Nunito" pitchFamily="2" charset="0"/>
              </a:rPr>
              <a:t> by assigning a small, fixed slope to the negative part of the input. </a:t>
            </a:r>
            <a:br>
              <a:rPr lang="en-US" dirty="0"/>
            </a:br>
            <a:endParaRPr lang="en-US" dirty="0">
              <a:solidFill>
                <a:srgbClr val="273239"/>
              </a:solidFill>
              <a:latin typeface="Nunito" pitchFamily="2" charset="0"/>
            </a:endParaRPr>
          </a:p>
        </p:txBody>
      </p:sp>
      <p:pic>
        <p:nvPicPr>
          <p:cNvPr id="4" name="Image 3">
            <a:extLst>
              <a:ext uri="{FF2B5EF4-FFF2-40B4-BE49-F238E27FC236}">
                <a16:creationId xmlns:a16="http://schemas.microsoft.com/office/drawing/2014/main" id="{0B86A1F6-44DC-4952-463E-F511A3E22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237" y="3328275"/>
            <a:ext cx="5391150" cy="3032522"/>
          </a:xfrm>
          <a:prstGeom prst="rect">
            <a:avLst/>
          </a:prstGeom>
        </p:spPr>
      </p:pic>
      <p:pic>
        <p:nvPicPr>
          <p:cNvPr id="9" name="Image 8">
            <a:extLst>
              <a:ext uri="{FF2B5EF4-FFF2-40B4-BE49-F238E27FC236}">
                <a16:creationId xmlns:a16="http://schemas.microsoft.com/office/drawing/2014/main" id="{1E2102DA-76E0-4E1D-F64C-E7FA5FAA5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3423" y="3108697"/>
            <a:ext cx="7116177" cy="3471678"/>
          </a:xfrm>
          <a:prstGeom prst="rect">
            <a:avLst/>
          </a:prstGeom>
        </p:spPr>
      </p:pic>
    </p:spTree>
    <p:extLst>
      <p:ext uri="{BB962C8B-B14F-4D97-AF65-F5344CB8AC3E}">
        <p14:creationId xmlns:p14="http://schemas.microsoft.com/office/powerpoint/2010/main" val="3297903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dirty="0">
                <a:latin typeface="Nunito" pitchFamily="2" charset="0"/>
              </a:rPr>
              <a:t>ELU Activation </a:t>
            </a:r>
            <a:r>
              <a:rPr lang="fr-FR" b="1" dirty="0" err="1">
                <a:latin typeface="Nunito" pitchFamily="2" charset="0"/>
              </a:rPr>
              <a:t>Function</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923330"/>
          </a:xfrm>
          <a:prstGeom prst="rect">
            <a:avLst/>
          </a:prstGeom>
          <a:noFill/>
        </p:spPr>
        <p:txBody>
          <a:bodyPr wrap="square">
            <a:spAutoFit/>
          </a:bodyPr>
          <a:lstStyle/>
          <a:p>
            <a:pPr algn="l" rtl="0" fontAlgn="base"/>
            <a:r>
              <a:rPr lang="en-US" b="0" i="0" dirty="0">
                <a:solidFill>
                  <a:srgbClr val="273239"/>
                </a:solidFill>
                <a:effectLst/>
                <a:latin typeface="Nunito" pitchFamily="2" charset="0"/>
              </a:rPr>
              <a:t>ELU (</a:t>
            </a:r>
            <a:r>
              <a:rPr lang="fr-FR" dirty="0" err="1"/>
              <a:t>Exponential</a:t>
            </a:r>
            <a:r>
              <a:rPr lang="fr-FR" dirty="0"/>
              <a:t> </a:t>
            </a:r>
            <a:r>
              <a:rPr lang="fr-FR" dirty="0" err="1"/>
              <a:t>Linear</a:t>
            </a:r>
            <a:r>
              <a:rPr lang="fr-FR" dirty="0"/>
              <a:t> Unit)</a:t>
            </a:r>
            <a:r>
              <a:rPr lang="en-US" b="0" i="0" dirty="0">
                <a:solidFill>
                  <a:srgbClr val="273239"/>
                </a:solidFill>
                <a:effectLst/>
                <a:latin typeface="Nunito" pitchFamily="2" charset="0"/>
              </a:rPr>
              <a:t> is a activation function used in neural networks which is an advanced version of widely used </a:t>
            </a:r>
            <a:r>
              <a:rPr lang="en-US" b="0" i="0" dirty="0" err="1">
                <a:solidFill>
                  <a:srgbClr val="273239"/>
                </a:solidFill>
                <a:effectLst/>
                <a:latin typeface="Nunito" pitchFamily="2" charset="0"/>
              </a:rPr>
              <a:t>relu</a:t>
            </a:r>
            <a:r>
              <a:rPr lang="en-US" b="0" i="0" dirty="0">
                <a:solidFill>
                  <a:srgbClr val="273239"/>
                </a:solidFill>
                <a:effectLst/>
                <a:latin typeface="Nunito" pitchFamily="2" charset="0"/>
              </a:rPr>
              <a:t> activation function. But before understanding ELU it's important to recognize the shortcomings of </a:t>
            </a:r>
            <a:r>
              <a:rPr lang="en-US" b="0" i="0" dirty="0" err="1">
                <a:solidFill>
                  <a:srgbClr val="273239"/>
                </a:solidFill>
                <a:effectLst/>
                <a:latin typeface="Nunito" pitchFamily="2" charset="0"/>
              </a:rPr>
              <a:t>ReLU</a:t>
            </a:r>
            <a:r>
              <a:rPr lang="en-US" b="0" i="0" dirty="0">
                <a:solidFill>
                  <a:srgbClr val="273239"/>
                </a:solidFill>
                <a:effectLst/>
                <a:latin typeface="Nunito" pitchFamily="2" charset="0"/>
              </a:rPr>
              <a:t> and Leaky </a:t>
            </a:r>
            <a:r>
              <a:rPr lang="en-US" b="0" i="0" dirty="0" err="1">
                <a:solidFill>
                  <a:srgbClr val="273239"/>
                </a:solidFill>
                <a:effectLst/>
                <a:latin typeface="Nunito" pitchFamily="2" charset="0"/>
              </a:rPr>
              <a:t>ReLU</a:t>
            </a:r>
            <a:r>
              <a:rPr lang="en-US" b="0" i="0" dirty="0">
                <a:solidFill>
                  <a:srgbClr val="273239"/>
                </a:solidFill>
                <a:effectLst/>
                <a:latin typeface="Nunito" pitchFamily="2" charset="0"/>
              </a:rPr>
              <a:t> activation function.</a:t>
            </a:r>
          </a:p>
        </p:txBody>
      </p:sp>
      <p:pic>
        <p:nvPicPr>
          <p:cNvPr id="6" name="Image 5">
            <a:extLst>
              <a:ext uri="{FF2B5EF4-FFF2-40B4-BE49-F238E27FC236}">
                <a16:creationId xmlns:a16="http://schemas.microsoft.com/office/drawing/2014/main" id="{A4C485D7-ED01-240A-43D2-956701B02B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6543" y="2719386"/>
            <a:ext cx="5907881" cy="3938587"/>
          </a:xfrm>
          <a:prstGeom prst="rect">
            <a:avLst/>
          </a:prstGeom>
        </p:spPr>
      </p:pic>
    </p:spTree>
    <p:extLst>
      <p:ext uri="{BB962C8B-B14F-4D97-AF65-F5344CB8AC3E}">
        <p14:creationId xmlns:p14="http://schemas.microsoft.com/office/powerpoint/2010/main" val="41110311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1" i="0" dirty="0" err="1">
                <a:solidFill>
                  <a:srgbClr val="273239"/>
                </a:solidFill>
                <a:effectLst/>
                <a:latin typeface="Source Sans 3"/>
              </a:rPr>
              <a:t>Softmax</a:t>
            </a:r>
            <a:r>
              <a:rPr lang="en-US" b="1" i="0" dirty="0">
                <a:solidFill>
                  <a:srgbClr val="273239"/>
                </a:solidFill>
                <a:effectLst/>
                <a:latin typeface="Source Sans 3"/>
              </a:rPr>
              <a:t> Activation Function</a:t>
            </a:r>
            <a:br>
              <a:rPr lang="en-US" b="1" i="0" dirty="0">
                <a:solidFill>
                  <a:srgbClr val="273239"/>
                </a:solidFill>
                <a:effectLst/>
                <a:latin typeface="Source Sans 3"/>
              </a:rPr>
            </a:b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1477328"/>
          </a:xfrm>
          <a:prstGeom prst="rect">
            <a:avLst/>
          </a:prstGeom>
          <a:noFill/>
        </p:spPr>
        <p:txBody>
          <a:bodyPr wrap="square">
            <a:spAutoFit/>
          </a:bodyPr>
          <a:lstStyle/>
          <a:p>
            <a:pPr algn="l" rtl="0" fontAlgn="base"/>
            <a:r>
              <a:rPr lang="en-US" b="0" i="0" dirty="0" err="1">
                <a:solidFill>
                  <a:srgbClr val="273239"/>
                </a:solidFill>
                <a:effectLst/>
                <a:latin typeface="Nunito" pitchFamily="2" charset="0"/>
              </a:rPr>
              <a:t>Softmax</a:t>
            </a:r>
            <a:r>
              <a:rPr lang="en-US" b="0" i="0" dirty="0">
                <a:solidFill>
                  <a:srgbClr val="273239"/>
                </a:solidFill>
                <a:effectLst/>
                <a:latin typeface="Nunito" pitchFamily="2" charset="0"/>
              </a:rPr>
              <a:t> Activation Function transforms a vector of numbers into a probability distribution, where each value represents the likelihood of a particular class. It is especially important for multi-class classification problems.</a:t>
            </a:r>
          </a:p>
          <a:p>
            <a:br>
              <a:rPr lang="en-US" dirty="0"/>
            </a:br>
            <a:endParaRPr lang="en-US" b="0" i="0" dirty="0">
              <a:solidFill>
                <a:srgbClr val="273239"/>
              </a:solidFill>
              <a:effectLst/>
              <a:latin typeface="Nunito" pitchFamily="2" charset="0"/>
            </a:endParaRPr>
          </a:p>
        </p:txBody>
      </p:sp>
      <p:pic>
        <p:nvPicPr>
          <p:cNvPr id="4" name="Image 3">
            <a:extLst>
              <a:ext uri="{FF2B5EF4-FFF2-40B4-BE49-F238E27FC236}">
                <a16:creationId xmlns:a16="http://schemas.microsoft.com/office/drawing/2014/main" id="{EB5DEA99-DCF2-8932-BC18-76BC429783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634" y="2485015"/>
            <a:ext cx="5381341" cy="4007860"/>
          </a:xfrm>
          <a:prstGeom prst="rect">
            <a:avLst/>
          </a:prstGeom>
        </p:spPr>
      </p:pic>
    </p:spTree>
    <p:extLst>
      <p:ext uri="{BB962C8B-B14F-4D97-AF65-F5344CB8AC3E}">
        <p14:creationId xmlns:p14="http://schemas.microsoft.com/office/powerpoint/2010/main" val="2288094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1" i="0" dirty="0">
                <a:solidFill>
                  <a:srgbClr val="273239"/>
                </a:solidFill>
                <a:effectLst/>
                <a:latin typeface="Source Sans 3"/>
              </a:rPr>
              <a:t>Loss Function vs Cost Function</a:t>
            </a:r>
            <a:endParaRPr lang="fr-FR" b="1" dirty="0">
              <a:latin typeface="Nunito" pitchFamily="2" charset="0"/>
            </a:endParaRPr>
          </a:p>
        </p:txBody>
      </p:sp>
      <p:pic>
        <p:nvPicPr>
          <p:cNvPr id="6" name="Image 5">
            <a:extLst>
              <a:ext uri="{FF2B5EF4-FFF2-40B4-BE49-F238E27FC236}">
                <a16:creationId xmlns:a16="http://schemas.microsoft.com/office/drawing/2014/main" id="{0E212B0F-94B8-2DEF-DC5A-D6942420EC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549" y="1490662"/>
            <a:ext cx="8582025" cy="4494836"/>
          </a:xfrm>
          <a:prstGeom prst="rect">
            <a:avLst/>
          </a:prstGeom>
        </p:spPr>
      </p:pic>
    </p:spTree>
    <p:extLst>
      <p:ext uri="{BB962C8B-B14F-4D97-AF65-F5344CB8AC3E}">
        <p14:creationId xmlns:p14="http://schemas.microsoft.com/office/powerpoint/2010/main" val="2004118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1" i="0" dirty="0" err="1">
                <a:solidFill>
                  <a:srgbClr val="273239"/>
                </a:solidFill>
                <a:effectLst/>
                <a:latin typeface="Source Sans 3"/>
              </a:rPr>
              <a:t>Optimi</a:t>
            </a:r>
            <a:r>
              <a:rPr lang="en-GB" b="1" dirty="0">
                <a:solidFill>
                  <a:srgbClr val="273239"/>
                </a:solidFill>
                <a:latin typeface="Source Sans 3"/>
              </a:rPr>
              <a:t>z</a:t>
            </a:r>
            <a:r>
              <a:rPr lang="en-US" b="1" i="0" dirty="0" err="1">
                <a:solidFill>
                  <a:srgbClr val="273239"/>
                </a:solidFill>
                <a:effectLst/>
                <a:latin typeface="Source Sans 3"/>
              </a:rPr>
              <a:t>ers</a:t>
            </a:r>
            <a:endParaRPr lang="fr-FR" b="1" dirty="0">
              <a:latin typeface="Nunito" pitchFamily="2" charset="0"/>
            </a:endParaRPr>
          </a:p>
        </p:txBody>
      </p:sp>
      <p:pic>
        <p:nvPicPr>
          <p:cNvPr id="4" name="Image 3">
            <a:extLst>
              <a:ext uri="{FF2B5EF4-FFF2-40B4-BE49-F238E27FC236}">
                <a16:creationId xmlns:a16="http://schemas.microsoft.com/office/drawing/2014/main" id="{FB1EDA03-C06D-368C-0AF1-20E8C7F6D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8541" y="1466818"/>
            <a:ext cx="6205009" cy="5026057"/>
          </a:xfrm>
          <a:prstGeom prst="rect">
            <a:avLst/>
          </a:prstGeom>
        </p:spPr>
      </p:pic>
    </p:spTree>
    <p:extLst>
      <p:ext uri="{BB962C8B-B14F-4D97-AF65-F5344CB8AC3E}">
        <p14:creationId xmlns:p14="http://schemas.microsoft.com/office/powerpoint/2010/main" val="4187470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1" i="0" dirty="0">
                <a:solidFill>
                  <a:srgbClr val="273239"/>
                </a:solidFill>
                <a:effectLst/>
                <a:latin typeface="Source Sans 3"/>
              </a:rPr>
              <a:t>Gradient Descent</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2031325"/>
          </a:xfrm>
          <a:prstGeom prst="rect">
            <a:avLst/>
          </a:prstGeom>
          <a:noFill/>
        </p:spPr>
        <p:txBody>
          <a:bodyPr wrap="square">
            <a:spAutoFit/>
          </a:bodyPr>
          <a:lstStyle/>
          <a:p>
            <a:pPr algn="l" rtl="0" fontAlgn="base"/>
            <a:r>
              <a:rPr lang="en-US" b="0" i="0" u="sng" dirty="0">
                <a:solidFill>
                  <a:srgbClr val="357960"/>
                </a:solidFill>
                <a:effectLst/>
                <a:latin typeface="Nunito" pitchFamily="2" charset="0"/>
              </a:rPr>
              <a:t>Gradient descent </a:t>
            </a:r>
            <a:r>
              <a:rPr lang="en-US" b="0" i="0" dirty="0">
                <a:solidFill>
                  <a:srgbClr val="273239"/>
                </a:solidFill>
                <a:effectLst/>
                <a:latin typeface="Nunito" pitchFamily="2" charset="0"/>
              </a:rPr>
              <a:t>is a optimization algorithm in machine learning used to minimize functions by iteratively moving towards the minimum. It's important as fine-tuning parameters helps us to reduce prediction errors. In this article we are going to explore different variants of gradient descent algorithms.</a:t>
            </a:r>
          </a:p>
          <a:p>
            <a:br>
              <a:rPr lang="en-US" dirty="0"/>
            </a:br>
            <a:br>
              <a:rPr lang="en-US" dirty="0"/>
            </a:br>
            <a:endParaRPr lang="en-US" b="0" i="0" dirty="0">
              <a:solidFill>
                <a:srgbClr val="273239"/>
              </a:solidFill>
              <a:effectLst/>
              <a:latin typeface="Nunito" pitchFamily="2" charset="0"/>
            </a:endParaRPr>
          </a:p>
        </p:txBody>
      </p:sp>
      <p:pic>
        <p:nvPicPr>
          <p:cNvPr id="6" name="Image 5">
            <a:extLst>
              <a:ext uri="{FF2B5EF4-FFF2-40B4-BE49-F238E27FC236}">
                <a16:creationId xmlns:a16="http://schemas.microsoft.com/office/drawing/2014/main" id="{E399F4BF-EFB3-BF41-5D29-1C5C062531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7941" y="3016251"/>
            <a:ext cx="6535309" cy="3263575"/>
          </a:xfrm>
          <a:prstGeom prst="rect">
            <a:avLst/>
          </a:prstGeom>
        </p:spPr>
      </p:pic>
    </p:spTree>
    <p:extLst>
      <p:ext uri="{BB962C8B-B14F-4D97-AF65-F5344CB8AC3E}">
        <p14:creationId xmlns:p14="http://schemas.microsoft.com/office/powerpoint/2010/main" val="718202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i="0" dirty="0" err="1">
                <a:solidFill>
                  <a:srgbClr val="273239"/>
                </a:solidFill>
                <a:effectLst/>
                <a:latin typeface="Source Sans 3"/>
              </a:rPr>
              <a:t>Stochastic</a:t>
            </a:r>
            <a:r>
              <a:rPr lang="fr-FR" b="1" i="0" dirty="0">
                <a:solidFill>
                  <a:srgbClr val="273239"/>
                </a:solidFill>
                <a:effectLst/>
                <a:latin typeface="Source Sans 3"/>
              </a:rPr>
              <a:t> Gradient </a:t>
            </a:r>
            <a:r>
              <a:rPr lang="fr-FR" b="1" i="0" dirty="0" err="1">
                <a:solidFill>
                  <a:srgbClr val="273239"/>
                </a:solidFill>
                <a:effectLst/>
                <a:latin typeface="Source Sans 3"/>
              </a:rPr>
              <a:t>Descent</a:t>
            </a:r>
            <a:r>
              <a:rPr lang="fr-FR" b="1" i="0" dirty="0">
                <a:solidFill>
                  <a:srgbClr val="273239"/>
                </a:solidFill>
                <a:effectLst/>
                <a:latin typeface="Source Sans 3"/>
              </a:rPr>
              <a:t> (SGD)</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1754326"/>
          </a:xfrm>
          <a:prstGeom prst="rect">
            <a:avLst/>
          </a:prstGeom>
          <a:noFill/>
        </p:spPr>
        <p:txBody>
          <a:bodyPr wrap="square">
            <a:spAutoFit/>
          </a:bodyPr>
          <a:lstStyle/>
          <a:p>
            <a:pPr algn="l" rtl="0" fontAlgn="base"/>
            <a:r>
              <a:rPr lang="en-US" b="0" i="0" dirty="0">
                <a:solidFill>
                  <a:srgbClr val="273239"/>
                </a:solidFill>
                <a:effectLst/>
                <a:latin typeface="Nunito" pitchFamily="2" charset="0"/>
              </a:rPr>
              <a:t>Stochastic Gradient Descent is an optimization algorithm used in machine learning, especially for large datasets, that updates model parameters efficiently using small batches or single samples.</a:t>
            </a:r>
          </a:p>
          <a:p>
            <a:br>
              <a:rPr lang="en-US" dirty="0"/>
            </a:br>
            <a:br>
              <a:rPr lang="en-US" dirty="0"/>
            </a:br>
            <a:br>
              <a:rPr lang="en-US" dirty="0"/>
            </a:br>
            <a:endParaRPr lang="en-US" b="0" i="0" dirty="0">
              <a:solidFill>
                <a:srgbClr val="273239"/>
              </a:solidFill>
              <a:effectLst/>
              <a:latin typeface="Nunito" pitchFamily="2" charset="0"/>
            </a:endParaRPr>
          </a:p>
        </p:txBody>
      </p:sp>
      <p:pic>
        <p:nvPicPr>
          <p:cNvPr id="4" name="Image 3">
            <a:extLst>
              <a:ext uri="{FF2B5EF4-FFF2-40B4-BE49-F238E27FC236}">
                <a16:creationId xmlns:a16="http://schemas.microsoft.com/office/drawing/2014/main" id="{DA746F18-1121-DF6D-E30B-279821759F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8350" y="2482196"/>
            <a:ext cx="7884103" cy="3942052"/>
          </a:xfrm>
          <a:prstGeom prst="rect">
            <a:avLst/>
          </a:prstGeom>
        </p:spPr>
      </p:pic>
    </p:spTree>
    <p:extLst>
      <p:ext uri="{BB962C8B-B14F-4D97-AF65-F5344CB8AC3E}">
        <p14:creationId xmlns:p14="http://schemas.microsoft.com/office/powerpoint/2010/main" val="7643689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i="0" dirty="0">
                <a:solidFill>
                  <a:srgbClr val="273239"/>
                </a:solidFill>
                <a:effectLst/>
                <a:latin typeface="Source Sans 3"/>
              </a:rPr>
              <a:t>Mini Batch </a:t>
            </a:r>
            <a:r>
              <a:rPr lang="fr-FR" b="1" i="0" dirty="0" err="1">
                <a:solidFill>
                  <a:srgbClr val="273239"/>
                </a:solidFill>
                <a:effectLst/>
                <a:latin typeface="Source Sans 3"/>
              </a:rPr>
              <a:t>Stochastic</a:t>
            </a:r>
            <a:r>
              <a:rPr lang="fr-FR" b="1" i="0" dirty="0">
                <a:solidFill>
                  <a:srgbClr val="273239"/>
                </a:solidFill>
                <a:effectLst/>
                <a:latin typeface="Source Sans 3"/>
              </a:rPr>
              <a:t> Gradient </a:t>
            </a:r>
            <a:r>
              <a:rPr lang="fr-FR" b="1" i="0" dirty="0" err="1">
                <a:solidFill>
                  <a:srgbClr val="273239"/>
                </a:solidFill>
                <a:effectLst/>
                <a:latin typeface="Source Sans 3"/>
              </a:rPr>
              <a:t>Descent</a:t>
            </a:r>
            <a:r>
              <a:rPr lang="fr-FR" b="1" i="0" dirty="0">
                <a:solidFill>
                  <a:srgbClr val="273239"/>
                </a:solidFill>
                <a:effectLst/>
                <a:latin typeface="Source Sans 3"/>
              </a:rPr>
              <a:t> (SGD)</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2031325"/>
          </a:xfrm>
          <a:prstGeom prst="rect">
            <a:avLst/>
          </a:prstGeom>
          <a:noFill/>
        </p:spPr>
        <p:txBody>
          <a:bodyPr wrap="square">
            <a:spAutoFit/>
          </a:bodyPr>
          <a:lstStyle/>
          <a:p>
            <a:pPr algn="l" rtl="0" fontAlgn="base"/>
            <a:r>
              <a:rPr lang="en-US" b="0" u="none" strike="noStrike" dirty="0">
                <a:effectLst/>
                <a:latin typeface="Google Sans"/>
              </a:rPr>
              <a:t>Mini-Batch Stochastic Gradient Descent (SGD) is </a:t>
            </a:r>
            <a:r>
              <a:rPr lang="en-US" dirty="0"/>
              <a:t>an optimization algorithm that splits the training data into small groups—called mini-batches (typically sized 32, 64, or 128)—to compute loss gradients and update model parameters. It combines the computational efficiency of standard batch gradient descent with the speed and adaptability of pure stochastic gradient descent.</a:t>
            </a:r>
            <a:br>
              <a:rPr lang="en-US" dirty="0"/>
            </a:br>
            <a:br>
              <a:rPr lang="en-US" dirty="0"/>
            </a:br>
            <a:br>
              <a:rPr lang="en-US" dirty="0"/>
            </a:br>
            <a:endParaRPr lang="en-US" b="0" i="0" dirty="0">
              <a:solidFill>
                <a:srgbClr val="273239"/>
              </a:solidFill>
              <a:effectLst/>
              <a:latin typeface="Nunito" pitchFamily="2" charset="0"/>
            </a:endParaRPr>
          </a:p>
        </p:txBody>
      </p:sp>
      <p:pic>
        <p:nvPicPr>
          <p:cNvPr id="6" name="Image 5">
            <a:extLst>
              <a:ext uri="{FF2B5EF4-FFF2-40B4-BE49-F238E27FC236}">
                <a16:creationId xmlns:a16="http://schemas.microsoft.com/office/drawing/2014/main" id="{325D7D8C-FB7B-8501-EB6D-51FC6DCB2D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3425" y="3429000"/>
            <a:ext cx="5460999" cy="2891117"/>
          </a:xfrm>
          <a:prstGeom prst="rect">
            <a:avLst/>
          </a:prstGeom>
        </p:spPr>
      </p:pic>
    </p:spTree>
    <p:extLst>
      <p:ext uri="{BB962C8B-B14F-4D97-AF65-F5344CB8AC3E}">
        <p14:creationId xmlns:p14="http://schemas.microsoft.com/office/powerpoint/2010/main" val="3281262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i="0" dirty="0" err="1">
                <a:solidFill>
                  <a:srgbClr val="273239"/>
                </a:solidFill>
                <a:effectLst/>
                <a:latin typeface="Source Sans 3"/>
              </a:rPr>
              <a:t>Stochastic</a:t>
            </a:r>
            <a:r>
              <a:rPr lang="fr-FR" b="1" i="0" dirty="0">
                <a:solidFill>
                  <a:srgbClr val="273239"/>
                </a:solidFill>
                <a:effectLst/>
                <a:latin typeface="Source Sans 3"/>
              </a:rPr>
              <a:t> Gradient </a:t>
            </a:r>
            <a:r>
              <a:rPr lang="fr-FR" b="1" i="0" dirty="0" err="1">
                <a:solidFill>
                  <a:srgbClr val="273239"/>
                </a:solidFill>
                <a:effectLst/>
                <a:latin typeface="Source Sans 3"/>
              </a:rPr>
              <a:t>Descent</a:t>
            </a:r>
            <a:r>
              <a:rPr lang="fr-FR" b="1" i="0" dirty="0">
                <a:solidFill>
                  <a:srgbClr val="273239"/>
                </a:solidFill>
                <a:effectLst/>
                <a:latin typeface="Source Sans 3"/>
              </a:rPr>
              <a:t> (SGD) Momentum</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1754326"/>
          </a:xfrm>
          <a:prstGeom prst="rect">
            <a:avLst/>
          </a:prstGeom>
          <a:noFill/>
        </p:spPr>
        <p:txBody>
          <a:bodyPr wrap="square">
            <a:spAutoFit/>
          </a:bodyPr>
          <a:lstStyle/>
          <a:p>
            <a:pPr algn="l" rtl="0" fontAlgn="base"/>
            <a:r>
              <a:rPr lang="en-US" b="0" i="0" u="sng" dirty="0">
                <a:solidFill>
                  <a:srgbClr val="357960"/>
                </a:solidFill>
                <a:effectLst/>
                <a:latin typeface="Nunito" pitchFamily="2" charset="0"/>
              </a:rPr>
              <a:t>Momentum-Based Gradient Descent</a:t>
            </a:r>
            <a:r>
              <a:rPr lang="en-US" b="0" i="0" dirty="0">
                <a:solidFill>
                  <a:srgbClr val="273239"/>
                </a:solidFill>
                <a:effectLst/>
                <a:latin typeface="Nunito" pitchFamily="2" charset="0"/>
              </a:rPr>
              <a:t> is an enhancement of standard gradient descent algorithm that aims to accelerate convergence particularly in the presence of high curvature, small but consistent gradients or noisy gradients. It introduces a velocity term that accumulates the gradient of the loss function over time thereby smoothing the path taken by the parameters.</a:t>
            </a:r>
          </a:p>
          <a:p>
            <a:br>
              <a:rPr lang="en-US" dirty="0"/>
            </a:br>
            <a:endParaRPr lang="en-US" b="0" i="0" dirty="0">
              <a:solidFill>
                <a:srgbClr val="273239"/>
              </a:solidFill>
              <a:effectLst/>
              <a:latin typeface="Nunito" pitchFamily="2" charset="0"/>
            </a:endParaRPr>
          </a:p>
        </p:txBody>
      </p:sp>
      <p:pic>
        <p:nvPicPr>
          <p:cNvPr id="4" name="Image 3">
            <a:extLst>
              <a:ext uri="{FF2B5EF4-FFF2-40B4-BE49-F238E27FC236}">
                <a16:creationId xmlns:a16="http://schemas.microsoft.com/office/drawing/2014/main" id="{496799EC-76DA-0BA8-D98F-2C7CC3856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5362" y="2940382"/>
            <a:ext cx="5097664" cy="3669968"/>
          </a:xfrm>
          <a:prstGeom prst="rect">
            <a:avLst/>
          </a:prstGeom>
        </p:spPr>
      </p:pic>
    </p:spTree>
    <p:extLst>
      <p:ext uri="{BB962C8B-B14F-4D97-AF65-F5344CB8AC3E}">
        <p14:creationId xmlns:p14="http://schemas.microsoft.com/office/powerpoint/2010/main" val="3958919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fr-FR" b="1" i="0" dirty="0">
                <a:solidFill>
                  <a:srgbClr val="273239"/>
                </a:solidFill>
                <a:effectLst/>
                <a:latin typeface="Source Sans 3"/>
              </a:rPr>
              <a:t>Adaptive Gradient </a:t>
            </a:r>
            <a:r>
              <a:rPr lang="fr-FR" b="1" i="0" dirty="0" err="1">
                <a:solidFill>
                  <a:srgbClr val="273239"/>
                </a:solidFill>
                <a:effectLst/>
                <a:latin typeface="Source Sans 3"/>
              </a:rPr>
              <a:t>Descent</a:t>
            </a:r>
            <a:r>
              <a:rPr lang="fr-FR" b="1" i="0" dirty="0">
                <a:solidFill>
                  <a:srgbClr val="273239"/>
                </a:solidFill>
                <a:effectLst/>
                <a:latin typeface="Source Sans 3"/>
              </a:rPr>
              <a:t> (</a:t>
            </a:r>
            <a:r>
              <a:rPr lang="fr-FR" b="1" i="0" dirty="0" err="1">
                <a:solidFill>
                  <a:srgbClr val="273239"/>
                </a:solidFill>
                <a:effectLst/>
                <a:latin typeface="Source Sans 3"/>
              </a:rPr>
              <a:t>Adagrad</a:t>
            </a:r>
            <a:r>
              <a:rPr lang="fr-FR" b="1" i="0" dirty="0">
                <a:solidFill>
                  <a:srgbClr val="273239"/>
                </a:solidFill>
                <a:effectLst/>
                <a:latin typeface="Source Sans 3"/>
              </a:rPr>
              <a:t>)</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1477328"/>
          </a:xfrm>
          <a:prstGeom prst="rect">
            <a:avLst/>
          </a:prstGeom>
          <a:noFill/>
        </p:spPr>
        <p:txBody>
          <a:bodyPr wrap="square">
            <a:spAutoFit/>
          </a:bodyPr>
          <a:lstStyle/>
          <a:p>
            <a:pPr algn="l" rtl="0" fontAlgn="base"/>
            <a:r>
              <a:rPr lang="en-US" b="0" i="0" dirty="0" err="1">
                <a:solidFill>
                  <a:srgbClr val="273239"/>
                </a:solidFill>
                <a:effectLst/>
                <a:latin typeface="Nunito" pitchFamily="2" charset="0"/>
              </a:rPr>
              <a:t>Adagrad</a:t>
            </a:r>
            <a:r>
              <a:rPr lang="en-US" b="0" i="0" dirty="0">
                <a:solidFill>
                  <a:srgbClr val="273239"/>
                </a:solidFill>
                <a:effectLst/>
                <a:latin typeface="Nunito" pitchFamily="2" charset="0"/>
              </a:rPr>
              <a:t> is an optimization method that adapts the learning rate for each parameter based on past gradients, improving learning for features with different frequencies.</a:t>
            </a:r>
          </a:p>
          <a:p>
            <a:br>
              <a:rPr lang="en-US" dirty="0"/>
            </a:br>
            <a:br>
              <a:rPr lang="en-US" dirty="0"/>
            </a:br>
            <a:endParaRPr lang="en-US" b="0" i="0" dirty="0">
              <a:solidFill>
                <a:srgbClr val="273239"/>
              </a:solidFill>
              <a:effectLst/>
              <a:latin typeface="Nunito" pitchFamily="2" charset="0"/>
            </a:endParaRPr>
          </a:p>
        </p:txBody>
      </p:sp>
      <p:pic>
        <p:nvPicPr>
          <p:cNvPr id="6" name="Image 5">
            <a:extLst>
              <a:ext uri="{FF2B5EF4-FFF2-40B4-BE49-F238E27FC236}">
                <a16:creationId xmlns:a16="http://schemas.microsoft.com/office/drawing/2014/main" id="{0D86B331-A90E-087D-79E9-BB3F04F33D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0474" y="2812416"/>
            <a:ext cx="5915025" cy="3689053"/>
          </a:xfrm>
          <a:prstGeom prst="rect">
            <a:avLst/>
          </a:prstGeom>
        </p:spPr>
      </p:pic>
    </p:spTree>
    <p:extLst>
      <p:ext uri="{BB962C8B-B14F-4D97-AF65-F5344CB8AC3E}">
        <p14:creationId xmlns:p14="http://schemas.microsoft.com/office/powerpoint/2010/main" val="4192368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2DF92-2835-7782-DE32-93CFDAE8AAC5}"/>
              </a:ext>
            </a:extLst>
          </p:cNvPr>
          <p:cNvSpPr>
            <a:spLocks noGrp="1"/>
          </p:cNvSpPr>
          <p:nvPr>
            <p:ph type="title"/>
          </p:nvPr>
        </p:nvSpPr>
        <p:spPr/>
        <p:txBody>
          <a:bodyPr>
            <a:normAutofit/>
          </a:bodyPr>
          <a:lstStyle/>
          <a:p>
            <a:pPr algn="l"/>
            <a:r>
              <a:rPr lang="en-US" b="0" i="0" dirty="0">
                <a:solidFill>
                  <a:srgbClr val="273239"/>
                </a:solidFill>
                <a:effectLst/>
                <a:latin typeface="Nunito" pitchFamily="2" charset="0"/>
              </a:rPr>
              <a:t>Adam (Adaptive Moment Estimation) optimizer</a:t>
            </a:r>
            <a:endParaRPr lang="fr-FR" b="1" dirty="0">
              <a:latin typeface="Nunito" pitchFamily="2" charset="0"/>
            </a:endParaRPr>
          </a:p>
        </p:txBody>
      </p:sp>
      <p:sp>
        <p:nvSpPr>
          <p:cNvPr id="5" name="ZoneTexte 4">
            <a:extLst>
              <a:ext uri="{FF2B5EF4-FFF2-40B4-BE49-F238E27FC236}">
                <a16:creationId xmlns:a16="http://schemas.microsoft.com/office/drawing/2014/main" id="{EDAF0155-3E77-D062-994B-09DE52BA75CD}"/>
              </a:ext>
            </a:extLst>
          </p:cNvPr>
          <p:cNvSpPr txBox="1"/>
          <p:nvPr/>
        </p:nvSpPr>
        <p:spPr>
          <a:xfrm>
            <a:off x="838200" y="1690688"/>
            <a:ext cx="10391775" cy="2585323"/>
          </a:xfrm>
          <a:prstGeom prst="rect">
            <a:avLst/>
          </a:prstGeom>
          <a:noFill/>
        </p:spPr>
        <p:txBody>
          <a:bodyPr wrap="square">
            <a:spAutoFit/>
          </a:bodyPr>
          <a:lstStyle/>
          <a:p>
            <a:pPr algn="l" rtl="0" fontAlgn="base"/>
            <a:r>
              <a:rPr lang="en-US" b="0" i="0" dirty="0">
                <a:solidFill>
                  <a:srgbClr val="273239"/>
                </a:solidFill>
                <a:effectLst/>
                <a:latin typeface="Nunito" pitchFamily="2" charset="0"/>
              </a:rPr>
              <a:t>Adam (Adaptive Moment Estimation) optimizer combines the advantages of Momentum and RMSprop techniques to adjust learning rates during training. It works well with large datasets and complex models because it uses memory efficiently and adapts the learning rate for each parameter automatically.</a:t>
            </a:r>
          </a:p>
          <a:p>
            <a:br>
              <a:rPr lang="en-US" dirty="0"/>
            </a:br>
            <a:br>
              <a:rPr lang="en-US" dirty="0"/>
            </a:br>
            <a:br>
              <a:rPr lang="en-US" dirty="0"/>
            </a:br>
            <a:br>
              <a:rPr lang="en-US" dirty="0"/>
            </a:br>
            <a:endParaRPr lang="en-US" b="0" i="0" dirty="0">
              <a:solidFill>
                <a:srgbClr val="273239"/>
              </a:solidFill>
              <a:effectLst/>
              <a:latin typeface="Nunito" pitchFamily="2" charset="0"/>
            </a:endParaRPr>
          </a:p>
        </p:txBody>
      </p:sp>
      <p:pic>
        <p:nvPicPr>
          <p:cNvPr id="4" name="Image 3">
            <a:extLst>
              <a:ext uri="{FF2B5EF4-FFF2-40B4-BE49-F238E27FC236}">
                <a16:creationId xmlns:a16="http://schemas.microsoft.com/office/drawing/2014/main" id="{08CCEF4E-274D-5A79-A1DA-DA1E34556F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886" y="3378401"/>
            <a:ext cx="6761946" cy="2404248"/>
          </a:xfrm>
          <a:prstGeom prst="rect">
            <a:avLst/>
          </a:prstGeom>
        </p:spPr>
      </p:pic>
    </p:spTree>
    <p:extLst>
      <p:ext uri="{BB962C8B-B14F-4D97-AF65-F5344CB8AC3E}">
        <p14:creationId xmlns:p14="http://schemas.microsoft.com/office/powerpoint/2010/main" val="382994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r>
              <a:rPr lang="en-US" b="1" i="0" dirty="0">
                <a:solidFill>
                  <a:srgbClr val="273239"/>
                </a:solidFill>
                <a:effectLst/>
                <a:latin typeface="Source Sans 3"/>
              </a:rPr>
              <a:t>Convolutional Neural Network (CNN) in Deep Learning</a:t>
            </a:r>
            <a:endParaRPr lang="fr-FR" dirty="0"/>
          </a:p>
        </p:txBody>
      </p:sp>
      <p:sp>
        <p:nvSpPr>
          <p:cNvPr id="3" name="Espace réservé du contenu 2">
            <a:extLst>
              <a:ext uri="{FF2B5EF4-FFF2-40B4-BE49-F238E27FC236}">
                <a16:creationId xmlns:a16="http://schemas.microsoft.com/office/drawing/2014/main" id="{E8760B50-D65C-61AF-350F-8F19F5D296E4}"/>
              </a:ext>
            </a:extLst>
          </p:cNvPr>
          <p:cNvSpPr>
            <a:spLocks noGrp="1"/>
          </p:cNvSpPr>
          <p:nvPr>
            <p:ph idx="1"/>
          </p:nvPr>
        </p:nvSpPr>
        <p:spPr/>
        <p:txBody>
          <a:bodyPr/>
          <a:lstStyle/>
          <a:p>
            <a:r>
              <a:rPr lang="en-US" sz="1800" dirty="0">
                <a:solidFill>
                  <a:srgbClr val="273239"/>
                </a:solidFill>
                <a:latin typeface="Nunito" pitchFamily="2" charset="0"/>
                <a:hlinkClick r:id="rId2">
                  <a:extLst>
                    <a:ext uri="{A12FA001-AC4F-418D-AE19-62706E023703}">
                      <ahyp:hlinkClr xmlns:ahyp="http://schemas.microsoft.com/office/drawing/2018/hyperlinkcolor" val="tx"/>
                    </a:ext>
                  </a:extLst>
                </a:hlinkClick>
              </a:rPr>
              <a:t>Convolutional Neural Networks (CNNs) </a:t>
            </a:r>
            <a:r>
              <a:rPr lang="en-US" sz="1800" dirty="0">
                <a:solidFill>
                  <a:srgbClr val="273239"/>
                </a:solidFill>
                <a:latin typeface="Nunito" pitchFamily="2" charset="0"/>
              </a:rPr>
              <a:t>are deep learning models designed to process data with a grid-like topology such as images. They are the foundation for most modern computer vision applications to detect features within visual data.</a:t>
            </a:r>
            <a:endParaRPr lang="fr-FR" sz="1800" dirty="0">
              <a:solidFill>
                <a:srgbClr val="273239"/>
              </a:solidFill>
              <a:latin typeface="Nunito" pitchFamily="2" charset="0"/>
            </a:endParaRPr>
          </a:p>
        </p:txBody>
      </p:sp>
      <p:pic>
        <p:nvPicPr>
          <p:cNvPr id="5" name="Image 4">
            <a:extLst>
              <a:ext uri="{FF2B5EF4-FFF2-40B4-BE49-F238E27FC236}">
                <a16:creationId xmlns:a16="http://schemas.microsoft.com/office/drawing/2014/main" id="{4440B268-339D-1C76-BC1E-A3735F1E60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00" y="2663825"/>
            <a:ext cx="5642764" cy="3946525"/>
          </a:xfrm>
          <a:prstGeom prst="rect">
            <a:avLst/>
          </a:prstGeom>
        </p:spPr>
      </p:pic>
    </p:spTree>
    <p:extLst>
      <p:ext uri="{BB962C8B-B14F-4D97-AF65-F5344CB8AC3E}">
        <p14:creationId xmlns:p14="http://schemas.microsoft.com/office/powerpoint/2010/main" val="1997129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r>
              <a:rPr lang="en-US" b="1" i="0" dirty="0">
                <a:solidFill>
                  <a:srgbClr val="273239"/>
                </a:solidFill>
                <a:effectLst/>
                <a:latin typeface="Source Sans 3"/>
              </a:rPr>
              <a:t>Convolutional Neural Network (CNN) in Deep Learning</a:t>
            </a:r>
            <a:endParaRPr lang="fr-FR" dirty="0"/>
          </a:p>
        </p:txBody>
      </p:sp>
      <p:sp>
        <p:nvSpPr>
          <p:cNvPr id="3" name="Espace réservé du contenu 2">
            <a:extLst>
              <a:ext uri="{FF2B5EF4-FFF2-40B4-BE49-F238E27FC236}">
                <a16:creationId xmlns:a16="http://schemas.microsoft.com/office/drawing/2014/main" id="{E8760B50-D65C-61AF-350F-8F19F5D296E4}"/>
              </a:ext>
            </a:extLst>
          </p:cNvPr>
          <p:cNvSpPr>
            <a:spLocks noGrp="1"/>
          </p:cNvSpPr>
          <p:nvPr>
            <p:ph idx="1"/>
          </p:nvPr>
        </p:nvSpPr>
        <p:spPr/>
        <p:txBody>
          <a:bodyPr>
            <a:normAutofit/>
          </a:bodyPr>
          <a:lstStyle/>
          <a:p>
            <a:r>
              <a:rPr lang="en-US" sz="1800" b="0" u="none" strike="noStrike" dirty="0">
                <a:effectLst/>
                <a:latin typeface="Google Sans"/>
              </a:rPr>
              <a:t>The visual cortex is </a:t>
            </a:r>
            <a:r>
              <a:rPr lang="en-US" sz="1800" dirty="0"/>
              <a:t>the part of the cerebral cortex at the back of the brain inside the occipital lobe. It receives, tracks, and turns light signals from the eyes into what we see. </a:t>
            </a:r>
            <a:endParaRPr lang="fr-FR" dirty="0">
              <a:solidFill>
                <a:srgbClr val="273239"/>
              </a:solidFill>
              <a:latin typeface="Nunito" pitchFamily="2" charset="0"/>
            </a:endParaRPr>
          </a:p>
        </p:txBody>
      </p:sp>
      <p:pic>
        <p:nvPicPr>
          <p:cNvPr id="8" name="Image 7">
            <a:extLst>
              <a:ext uri="{FF2B5EF4-FFF2-40B4-BE49-F238E27FC236}">
                <a16:creationId xmlns:a16="http://schemas.microsoft.com/office/drawing/2014/main" id="{54084076-DD5E-EF37-BD43-E338ADADB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7547" y="2733674"/>
            <a:ext cx="6106637" cy="4010025"/>
          </a:xfrm>
          <a:prstGeom prst="rect">
            <a:avLst/>
          </a:prstGeom>
        </p:spPr>
      </p:pic>
      <p:pic>
        <p:nvPicPr>
          <p:cNvPr id="1026" name="Picture 2" descr="Structural characteristics of the visual cortex. A large number of... |  Download Scientific Diagram">
            <a:extLst>
              <a:ext uri="{FF2B5EF4-FFF2-40B4-BE49-F238E27FC236}">
                <a16:creationId xmlns:a16="http://schemas.microsoft.com/office/drawing/2014/main" id="{9720A76B-5CB4-91FB-8BC4-8F6CEF02C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3069431"/>
            <a:ext cx="398145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2798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en-US" b="1" i="0" dirty="0">
                <a:solidFill>
                  <a:srgbClr val="273239"/>
                </a:solidFill>
                <a:effectLst/>
                <a:latin typeface="Source Sans 3"/>
              </a:rPr>
              <a:t>Differentiate Between Grayscale and RGB Images</a:t>
            </a:r>
            <a:endParaRPr lang="fr-FR" dirty="0"/>
          </a:p>
        </p:txBody>
      </p:sp>
      <p:sp>
        <p:nvSpPr>
          <p:cNvPr id="3" name="Espace réservé du contenu 2">
            <a:extLst>
              <a:ext uri="{FF2B5EF4-FFF2-40B4-BE49-F238E27FC236}">
                <a16:creationId xmlns:a16="http://schemas.microsoft.com/office/drawing/2014/main" id="{E8760B50-D65C-61AF-350F-8F19F5D296E4}"/>
              </a:ext>
            </a:extLst>
          </p:cNvPr>
          <p:cNvSpPr>
            <a:spLocks noGrp="1"/>
          </p:cNvSpPr>
          <p:nvPr>
            <p:ph idx="1"/>
          </p:nvPr>
        </p:nvSpPr>
        <p:spPr/>
        <p:txBody>
          <a:bodyPr>
            <a:normAutofit/>
          </a:bodyPr>
          <a:lstStyle/>
          <a:p>
            <a:pPr algn="l" rtl="0" fontAlgn="base"/>
            <a:r>
              <a:rPr lang="en-US" sz="1800" b="0" i="0" dirty="0">
                <a:solidFill>
                  <a:srgbClr val="273239"/>
                </a:solidFill>
                <a:effectLst/>
                <a:latin typeface="Nunito" pitchFamily="2" charset="0"/>
              </a:rPr>
              <a:t>There are two primary digital picture formats that are used for distinct purposes: grayscale and RGB (red, green, or blue). Images in grayscale consist of black and white pixels, each of which has a grey color intensity. However, RGB images can exhibit a wide variety of hues since they are made up of three color channels: red, green, and blue.</a:t>
            </a:r>
          </a:p>
        </p:txBody>
      </p:sp>
      <p:pic>
        <p:nvPicPr>
          <p:cNvPr id="2050" name="Picture 2" descr="Convert RGB Image to Grayscale Image using OpenCV | Lindevs">
            <a:extLst>
              <a:ext uri="{FF2B5EF4-FFF2-40B4-BE49-F238E27FC236}">
                <a16:creationId xmlns:a16="http://schemas.microsoft.com/office/drawing/2014/main" id="{D881D372-EDC8-66DD-D5BE-9759F32A7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3330575"/>
            <a:ext cx="7410450" cy="2981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78172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en-US" b="1" i="0" dirty="0">
                <a:solidFill>
                  <a:srgbClr val="273239"/>
                </a:solidFill>
                <a:effectLst/>
                <a:latin typeface="Source Sans 3"/>
              </a:rPr>
              <a:t>Kernels (Filters) in convolutional neural network</a:t>
            </a:r>
            <a:endParaRPr lang="fr-FR" dirty="0"/>
          </a:p>
        </p:txBody>
      </p:sp>
      <p:sp>
        <p:nvSpPr>
          <p:cNvPr id="3" name="Espace réservé du contenu 2">
            <a:extLst>
              <a:ext uri="{FF2B5EF4-FFF2-40B4-BE49-F238E27FC236}">
                <a16:creationId xmlns:a16="http://schemas.microsoft.com/office/drawing/2014/main" id="{E8760B50-D65C-61AF-350F-8F19F5D296E4}"/>
              </a:ext>
            </a:extLst>
          </p:cNvPr>
          <p:cNvSpPr>
            <a:spLocks noGrp="1"/>
          </p:cNvSpPr>
          <p:nvPr>
            <p:ph idx="1"/>
          </p:nvPr>
        </p:nvSpPr>
        <p:spPr/>
        <p:txBody>
          <a:bodyPr>
            <a:normAutofit/>
          </a:bodyPr>
          <a:lstStyle/>
          <a:p>
            <a:pPr algn="l" rtl="0" fontAlgn="base"/>
            <a:r>
              <a:rPr lang="en-US" sz="1800" b="1" i="0" u="sng" dirty="0">
                <a:solidFill>
                  <a:srgbClr val="357960"/>
                </a:solidFill>
                <a:effectLst/>
                <a:latin typeface="Nunito" pitchFamily="2" charset="0"/>
              </a:rPr>
              <a:t>Convolutional Neural Networks (CNNs)</a:t>
            </a:r>
            <a:r>
              <a:rPr lang="en-US" sz="1800" b="0" i="0" dirty="0">
                <a:solidFill>
                  <a:srgbClr val="273239"/>
                </a:solidFill>
                <a:effectLst/>
                <a:latin typeface="Nunito" pitchFamily="2" charset="0"/>
              </a:rPr>
              <a:t> are neural networks used for processing image data. Kernels also known as </a:t>
            </a:r>
            <a:r>
              <a:rPr lang="en-US" sz="1800" b="1" i="0" dirty="0">
                <a:solidFill>
                  <a:srgbClr val="273239"/>
                </a:solidFill>
                <a:effectLst/>
                <a:latin typeface="Nunito" pitchFamily="2" charset="0"/>
              </a:rPr>
              <a:t>filters </a:t>
            </a:r>
            <a:r>
              <a:rPr lang="en-US" sz="1800" b="0" i="0" dirty="0">
                <a:solidFill>
                  <a:srgbClr val="273239"/>
                </a:solidFill>
                <a:effectLst/>
                <a:latin typeface="Nunito" pitchFamily="2" charset="0"/>
              </a:rPr>
              <a:t>are an important part of CNNs which helps them to extract important features from images such as edges, textures and patterns. In this article, we will see more about kernels</a:t>
            </a:r>
            <a:r>
              <a:rPr lang="en-US" sz="1800" b="1" i="1" dirty="0">
                <a:solidFill>
                  <a:srgbClr val="273239"/>
                </a:solidFill>
                <a:effectLst/>
                <a:latin typeface="Nunito" pitchFamily="2" charset="0"/>
              </a:rPr>
              <a:t>.</a:t>
            </a:r>
            <a:endParaRPr lang="en-US" sz="1800" b="0" i="0" dirty="0">
              <a:solidFill>
                <a:srgbClr val="273239"/>
              </a:solidFill>
              <a:effectLst/>
              <a:latin typeface="Nunito" pitchFamily="2" charset="0"/>
            </a:endParaRPr>
          </a:p>
        </p:txBody>
      </p:sp>
      <p:pic>
        <p:nvPicPr>
          <p:cNvPr id="7" name="Image 6">
            <a:extLst>
              <a:ext uri="{FF2B5EF4-FFF2-40B4-BE49-F238E27FC236}">
                <a16:creationId xmlns:a16="http://schemas.microsoft.com/office/drawing/2014/main" id="{3D0FC7BB-654E-4B9A-8CDD-DCC6855274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9975" y="2871787"/>
            <a:ext cx="7029450" cy="3514725"/>
          </a:xfrm>
          <a:prstGeom prst="rect">
            <a:avLst/>
          </a:prstGeom>
        </p:spPr>
      </p:pic>
    </p:spTree>
    <p:extLst>
      <p:ext uri="{BB962C8B-B14F-4D97-AF65-F5344CB8AC3E}">
        <p14:creationId xmlns:p14="http://schemas.microsoft.com/office/powerpoint/2010/main" val="277118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en-US" b="1" i="0" dirty="0">
                <a:solidFill>
                  <a:srgbClr val="273239"/>
                </a:solidFill>
                <a:effectLst/>
                <a:latin typeface="Source Sans 3"/>
              </a:rPr>
              <a:t>Kernels (Filters) in convolutional neural network</a:t>
            </a:r>
            <a:endParaRPr lang="fr-FR" dirty="0"/>
          </a:p>
        </p:txBody>
      </p:sp>
      <p:sp>
        <p:nvSpPr>
          <p:cNvPr id="3" name="Espace réservé du contenu 2">
            <a:extLst>
              <a:ext uri="{FF2B5EF4-FFF2-40B4-BE49-F238E27FC236}">
                <a16:creationId xmlns:a16="http://schemas.microsoft.com/office/drawing/2014/main" id="{E8760B50-D65C-61AF-350F-8F19F5D296E4}"/>
              </a:ext>
            </a:extLst>
          </p:cNvPr>
          <p:cNvSpPr>
            <a:spLocks noGrp="1"/>
          </p:cNvSpPr>
          <p:nvPr>
            <p:ph idx="1"/>
          </p:nvPr>
        </p:nvSpPr>
        <p:spPr/>
        <p:txBody>
          <a:bodyPr>
            <a:normAutofit/>
          </a:bodyPr>
          <a:lstStyle/>
          <a:p>
            <a:pPr algn="l" rtl="0" fontAlgn="base"/>
            <a:r>
              <a:rPr lang="en-US" sz="1800" b="1" i="0" u="sng" dirty="0">
                <a:solidFill>
                  <a:srgbClr val="357960"/>
                </a:solidFill>
                <a:effectLst/>
                <a:latin typeface="Nunito" pitchFamily="2" charset="0"/>
              </a:rPr>
              <a:t>Convolutional Neural Networks (CNNs)</a:t>
            </a:r>
            <a:r>
              <a:rPr lang="en-US" sz="1800" b="0" i="0" dirty="0">
                <a:solidFill>
                  <a:srgbClr val="273239"/>
                </a:solidFill>
                <a:effectLst/>
                <a:latin typeface="Nunito" pitchFamily="2" charset="0"/>
              </a:rPr>
              <a:t> are neural networks used for processing image data. Kernels also known as </a:t>
            </a:r>
            <a:r>
              <a:rPr lang="en-US" sz="1800" b="1" i="0" dirty="0">
                <a:solidFill>
                  <a:srgbClr val="273239"/>
                </a:solidFill>
                <a:effectLst/>
                <a:latin typeface="Nunito" pitchFamily="2" charset="0"/>
              </a:rPr>
              <a:t>filters </a:t>
            </a:r>
            <a:r>
              <a:rPr lang="en-US" sz="1800" b="0" i="0" dirty="0">
                <a:solidFill>
                  <a:srgbClr val="273239"/>
                </a:solidFill>
                <a:effectLst/>
                <a:latin typeface="Nunito" pitchFamily="2" charset="0"/>
              </a:rPr>
              <a:t>are an important part of CNNs which helps them to extract important features from images such as edges, textures and patterns. In this article, we will see more about kernels</a:t>
            </a:r>
            <a:r>
              <a:rPr lang="en-US" sz="1800" b="1" i="1" dirty="0">
                <a:solidFill>
                  <a:srgbClr val="273239"/>
                </a:solidFill>
                <a:effectLst/>
                <a:latin typeface="Nunito" pitchFamily="2" charset="0"/>
              </a:rPr>
              <a:t>.</a:t>
            </a:r>
            <a:endParaRPr lang="en-US" sz="1800" b="0" i="0" dirty="0">
              <a:solidFill>
                <a:srgbClr val="273239"/>
              </a:solidFill>
              <a:effectLst/>
              <a:latin typeface="Nunito" pitchFamily="2" charset="0"/>
            </a:endParaRPr>
          </a:p>
        </p:txBody>
      </p:sp>
      <p:pic>
        <p:nvPicPr>
          <p:cNvPr id="7" name="Image 6">
            <a:extLst>
              <a:ext uri="{FF2B5EF4-FFF2-40B4-BE49-F238E27FC236}">
                <a16:creationId xmlns:a16="http://schemas.microsoft.com/office/drawing/2014/main" id="{3D0FC7BB-654E-4B9A-8CDD-DCC6855274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9975" y="2871787"/>
            <a:ext cx="7029450" cy="3514725"/>
          </a:xfrm>
          <a:prstGeom prst="rect">
            <a:avLst/>
          </a:prstGeom>
        </p:spPr>
      </p:pic>
    </p:spTree>
    <p:extLst>
      <p:ext uri="{BB962C8B-B14F-4D97-AF65-F5344CB8AC3E}">
        <p14:creationId xmlns:p14="http://schemas.microsoft.com/office/powerpoint/2010/main" val="19837985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fontAlgn="base"/>
            <a:r>
              <a:rPr lang="fr-FR" b="1" i="0" dirty="0" err="1">
                <a:solidFill>
                  <a:srgbClr val="273239"/>
                </a:solidFill>
                <a:effectLst/>
                <a:latin typeface="Nunito" pitchFamily="2" charset="0"/>
              </a:rPr>
              <a:t>Padding</a:t>
            </a:r>
            <a:r>
              <a:rPr lang="fr-FR" b="1" i="0" dirty="0">
                <a:solidFill>
                  <a:srgbClr val="273239"/>
                </a:solidFill>
                <a:effectLst/>
                <a:latin typeface="Nunito" pitchFamily="2" charset="0"/>
              </a:rPr>
              <a:t> in </a:t>
            </a:r>
            <a:r>
              <a:rPr lang="fr-FR" b="1" i="0" dirty="0" err="1">
                <a:solidFill>
                  <a:srgbClr val="273239"/>
                </a:solidFill>
                <a:effectLst/>
                <a:latin typeface="Nunito" pitchFamily="2" charset="0"/>
              </a:rPr>
              <a:t>CNNs</a:t>
            </a:r>
            <a:endParaRPr lang="fr-FR" dirty="0"/>
          </a:p>
        </p:txBody>
      </p:sp>
      <p:sp>
        <p:nvSpPr>
          <p:cNvPr id="3" name="Espace réservé du contenu 2">
            <a:extLst>
              <a:ext uri="{FF2B5EF4-FFF2-40B4-BE49-F238E27FC236}">
                <a16:creationId xmlns:a16="http://schemas.microsoft.com/office/drawing/2014/main" id="{E8760B50-D65C-61AF-350F-8F19F5D296E4}"/>
              </a:ext>
            </a:extLst>
          </p:cNvPr>
          <p:cNvSpPr>
            <a:spLocks noGrp="1"/>
          </p:cNvSpPr>
          <p:nvPr>
            <p:ph idx="1"/>
          </p:nvPr>
        </p:nvSpPr>
        <p:spPr/>
        <p:txBody>
          <a:bodyPr>
            <a:normAutofit/>
          </a:bodyPr>
          <a:lstStyle/>
          <a:p>
            <a:pPr algn="l" rtl="0" fontAlgn="base"/>
            <a:r>
              <a:rPr lang="en-US" sz="2000" b="0" i="0" dirty="0">
                <a:solidFill>
                  <a:srgbClr val="273239"/>
                </a:solidFill>
                <a:effectLst/>
                <a:latin typeface="Nunito" pitchFamily="2" charset="0"/>
              </a:rPr>
              <a:t>Padding is a technique used to preserve the spatial dimensions of the input image after convolution operations on a feature map. Padding involves adding extra pixels around the border of the input feature map before convolution. </a:t>
            </a:r>
          </a:p>
        </p:txBody>
      </p:sp>
      <p:pic>
        <p:nvPicPr>
          <p:cNvPr id="4098" name="Picture 2" descr="Padding and Strides in CNN. In Convolutional Neural Networks… | by Minhaz  Chowdhury | Medium">
            <a:extLst>
              <a:ext uri="{FF2B5EF4-FFF2-40B4-BE49-F238E27FC236}">
                <a16:creationId xmlns:a16="http://schemas.microsoft.com/office/drawing/2014/main" id="{4FB7A21C-3413-9C85-25FB-55B0E0C85A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925" y="2654905"/>
            <a:ext cx="7010400" cy="3945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6158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fr-FR" b="1" i="0" dirty="0" err="1">
                <a:solidFill>
                  <a:srgbClr val="273239"/>
                </a:solidFill>
                <a:effectLst/>
                <a:latin typeface="Source Sans 3"/>
              </a:rPr>
              <a:t>Pooling</a:t>
            </a:r>
            <a:r>
              <a:rPr lang="fr-FR" b="1" i="0" dirty="0">
                <a:solidFill>
                  <a:srgbClr val="273239"/>
                </a:solidFill>
                <a:effectLst/>
                <a:latin typeface="Source Sans 3"/>
              </a:rPr>
              <a:t> Layer in CNN</a:t>
            </a:r>
          </a:p>
        </p:txBody>
      </p:sp>
      <p:sp>
        <p:nvSpPr>
          <p:cNvPr id="3" name="Espace réservé du contenu 2">
            <a:extLst>
              <a:ext uri="{FF2B5EF4-FFF2-40B4-BE49-F238E27FC236}">
                <a16:creationId xmlns:a16="http://schemas.microsoft.com/office/drawing/2014/main" id="{E8760B50-D65C-61AF-350F-8F19F5D296E4}"/>
              </a:ext>
            </a:extLst>
          </p:cNvPr>
          <p:cNvSpPr>
            <a:spLocks noGrp="1"/>
          </p:cNvSpPr>
          <p:nvPr>
            <p:ph idx="1"/>
          </p:nvPr>
        </p:nvSpPr>
        <p:spPr/>
        <p:txBody>
          <a:bodyPr>
            <a:normAutofit/>
          </a:bodyPr>
          <a:lstStyle/>
          <a:p>
            <a:pPr algn="l" rtl="0" fontAlgn="base"/>
            <a:r>
              <a:rPr lang="en-US" sz="2000" b="0" i="0" dirty="0">
                <a:solidFill>
                  <a:srgbClr val="273239"/>
                </a:solidFill>
                <a:effectLst/>
                <a:latin typeface="Nunito" pitchFamily="2" charset="0"/>
              </a:rPr>
              <a:t>A pooling layer is used to reduce the spatial dimensions (width and height) of feature maps while keeping the most important information.</a:t>
            </a:r>
          </a:p>
        </p:txBody>
      </p:sp>
      <p:pic>
        <p:nvPicPr>
          <p:cNvPr id="5122" name="Picture 2" descr="Illustration of Max/Avg/Min/MAM pooling with a pooling area of size 2 × 2 |  Download Scientific Diagram">
            <a:extLst>
              <a:ext uri="{FF2B5EF4-FFF2-40B4-BE49-F238E27FC236}">
                <a16:creationId xmlns:a16="http://schemas.microsoft.com/office/drawing/2014/main" id="{7BFD4E9C-85E4-E7F1-707B-15551E3D0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0" y="2778125"/>
            <a:ext cx="4876800"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779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fr-FR" b="1" i="0" dirty="0" err="1">
                <a:solidFill>
                  <a:srgbClr val="273239"/>
                </a:solidFill>
                <a:effectLst/>
                <a:latin typeface="Source Sans 3"/>
              </a:rPr>
              <a:t>Flattering</a:t>
            </a:r>
            <a:r>
              <a:rPr lang="fr-FR" b="1" i="0" dirty="0">
                <a:solidFill>
                  <a:srgbClr val="273239"/>
                </a:solidFill>
                <a:effectLst/>
                <a:latin typeface="Source Sans 3"/>
              </a:rPr>
              <a:t> and </a:t>
            </a:r>
            <a:r>
              <a:rPr lang="fr-FR" b="1" i="0" dirty="0" err="1">
                <a:solidFill>
                  <a:srgbClr val="273239"/>
                </a:solidFill>
                <a:effectLst/>
                <a:latin typeface="Source Sans 3"/>
              </a:rPr>
              <a:t>Fuly</a:t>
            </a:r>
            <a:r>
              <a:rPr lang="fr-FR" b="1" i="0" dirty="0">
                <a:solidFill>
                  <a:srgbClr val="273239"/>
                </a:solidFill>
                <a:effectLst/>
                <a:latin typeface="Source Sans 3"/>
              </a:rPr>
              <a:t> </a:t>
            </a:r>
            <a:r>
              <a:rPr lang="fr-FR" b="1" i="0" dirty="0" err="1">
                <a:solidFill>
                  <a:srgbClr val="273239"/>
                </a:solidFill>
                <a:effectLst/>
                <a:latin typeface="Source Sans 3"/>
              </a:rPr>
              <a:t>connected</a:t>
            </a:r>
            <a:r>
              <a:rPr lang="fr-FR" b="1" i="0" dirty="0">
                <a:solidFill>
                  <a:srgbClr val="273239"/>
                </a:solidFill>
                <a:effectLst/>
                <a:latin typeface="Source Sans 3"/>
              </a:rPr>
              <a:t> </a:t>
            </a:r>
            <a:r>
              <a:rPr lang="fr-FR" b="1" i="0" dirty="0" err="1">
                <a:solidFill>
                  <a:srgbClr val="273239"/>
                </a:solidFill>
                <a:effectLst/>
                <a:latin typeface="Source Sans 3"/>
              </a:rPr>
              <a:t>layers</a:t>
            </a:r>
            <a:endParaRPr lang="fr-FR" b="1" i="0" dirty="0">
              <a:solidFill>
                <a:srgbClr val="273239"/>
              </a:solidFill>
              <a:effectLst/>
              <a:latin typeface="Source Sans 3"/>
            </a:endParaRPr>
          </a:p>
        </p:txBody>
      </p:sp>
      <p:pic>
        <p:nvPicPr>
          <p:cNvPr id="7" name="Espace réservé du contenu 6">
            <a:extLst>
              <a:ext uri="{FF2B5EF4-FFF2-40B4-BE49-F238E27FC236}">
                <a16:creationId xmlns:a16="http://schemas.microsoft.com/office/drawing/2014/main" id="{DF300C2D-91C8-A5B8-5B50-1D0C89A03D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1637" y="1690688"/>
            <a:ext cx="8215313" cy="4395247"/>
          </a:xfrm>
        </p:spPr>
      </p:pic>
      <mc:AlternateContent xmlns:mc="http://schemas.openxmlformats.org/markup-compatibility/2006" xmlns:p14="http://schemas.microsoft.com/office/powerpoint/2010/main">
        <mc:Choice Requires="p14">
          <p:contentPart p14:bwMode="auto" r:id="rId3">
            <p14:nvContentPartPr>
              <p14:cNvPr id="3" name="Encre 2">
                <a:extLst>
                  <a:ext uri="{FF2B5EF4-FFF2-40B4-BE49-F238E27FC236}">
                    <a16:creationId xmlns:a16="http://schemas.microsoft.com/office/drawing/2014/main" id="{6E4D0739-1422-CACC-10D0-5946ED7EF47C}"/>
                  </a:ext>
                </a:extLst>
              </p14:cNvPr>
              <p14:cNvContentPartPr/>
              <p14:nvPr/>
            </p14:nvContentPartPr>
            <p14:xfrm>
              <a:off x="9227175" y="3321540"/>
              <a:ext cx="395640" cy="348480"/>
            </p14:xfrm>
          </p:contentPart>
        </mc:Choice>
        <mc:Fallback xmlns="">
          <p:pic>
            <p:nvPicPr>
              <p:cNvPr id="3" name="Encre 2">
                <a:extLst>
                  <a:ext uri="{FF2B5EF4-FFF2-40B4-BE49-F238E27FC236}">
                    <a16:creationId xmlns:a16="http://schemas.microsoft.com/office/drawing/2014/main" id="{6E4D0739-1422-CACC-10D0-5946ED7EF47C}"/>
                  </a:ext>
                </a:extLst>
              </p:cNvPr>
              <p:cNvPicPr/>
              <p:nvPr/>
            </p:nvPicPr>
            <p:blipFill>
              <a:blip r:embed="rId4"/>
              <a:stretch>
                <a:fillRect/>
              </a:stretch>
            </p:blipFill>
            <p:spPr>
              <a:xfrm>
                <a:off x="9218535" y="3312900"/>
                <a:ext cx="413280" cy="366120"/>
              </a:xfrm>
              <a:prstGeom prst="rect">
                <a:avLst/>
              </a:prstGeom>
            </p:spPr>
          </p:pic>
        </mc:Fallback>
      </mc:AlternateContent>
    </p:spTree>
    <p:extLst>
      <p:ext uri="{BB962C8B-B14F-4D97-AF65-F5344CB8AC3E}">
        <p14:creationId xmlns:p14="http://schemas.microsoft.com/office/powerpoint/2010/main" val="20780358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fr-FR" b="1" i="0" dirty="0">
                <a:solidFill>
                  <a:srgbClr val="273239"/>
                </a:solidFill>
                <a:effectLst/>
                <a:latin typeface="Source Sans 3"/>
              </a:rPr>
              <a:t>CNN </a:t>
            </a:r>
            <a:r>
              <a:rPr lang="fr-FR" b="1" i="0" dirty="0" err="1">
                <a:solidFill>
                  <a:srgbClr val="273239"/>
                </a:solidFill>
                <a:effectLst/>
                <a:latin typeface="Source Sans 3"/>
              </a:rPr>
              <a:t>with</a:t>
            </a:r>
            <a:r>
              <a:rPr lang="fr-FR" b="1" i="0" dirty="0">
                <a:solidFill>
                  <a:srgbClr val="273239"/>
                </a:solidFill>
                <a:effectLst/>
                <a:latin typeface="Source Sans 3"/>
              </a:rPr>
              <a:t> RGB</a:t>
            </a:r>
          </a:p>
        </p:txBody>
      </p:sp>
      <p:pic>
        <p:nvPicPr>
          <p:cNvPr id="6" name="Espace réservé du contenu 5">
            <a:extLst>
              <a:ext uri="{FF2B5EF4-FFF2-40B4-BE49-F238E27FC236}">
                <a16:creationId xmlns:a16="http://schemas.microsoft.com/office/drawing/2014/main" id="{E81D6B59-9756-C223-0F2F-606CF1822C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7370" y="1825625"/>
            <a:ext cx="9737259" cy="4351338"/>
          </a:xfrm>
        </p:spPr>
      </p:pic>
    </p:spTree>
    <p:extLst>
      <p:ext uri="{BB962C8B-B14F-4D97-AF65-F5344CB8AC3E}">
        <p14:creationId xmlns:p14="http://schemas.microsoft.com/office/powerpoint/2010/main" val="4651156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fontAlgn="base"/>
            <a:r>
              <a:rPr lang="en-US" b="1" i="0" dirty="0">
                <a:solidFill>
                  <a:srgbClr val="273239"/>
                </a:solidFill>
                <a:effectLst/>
                <a:latin typeface="Nunito" pitchFamily="2" charset="0"/>
              </a:rPr>
              <a:t>What is Sequential Data in Data Science?</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lnSpcReduction="10000"/>
          </a:bodyPr>
          <a:lstStyle/>
          <a:p>
            <a:pPr algn="just" rtl="0" fontAlgn="base"/>
            <a:r>
              <a:rPr lang="en-US" b="0" i="0" dirty="0">
                <a:solidFill>
                  <a:srgbClr val="273239"/>
                </a:solidFill>
                <a:effectLst/>
                <a:latin typeface="Nunito" pitchFamily="2" charset="0"/>
              </a:rPr>
              <a:t>Sequential data is a type of data where the order of observations matters. Each data point is part of a sequence, and the sequence’s integrity is crucial for analysis. Examples include sequences of words in a sentence, sequences of actions in a process, or sequences of genes in DNA.</a:t>
            </a:r>
          </a:p>
          <a:p>
            <a:pPr algn="just" rtl="0" fontAlgn="base"/>
            <a:r>
              <a:rPr lang="en-US" b="0" i="0" dirty="0">
                <a:solidFill>
                  <a:srgbClr val="273239"/>
                </a:solidFill>
                <a:effectLst/>
                <a:latin typeface="Nunito" pitchFamily="2" charset="0"/>
              </a:rPr>
              <a:t>Analyzing sequential data is vital for uncovering underlying patterns, dependencies, and structures in various fields. It helps in tasks such as</a:t>
            </a:r>
            <a:r>
              <a:rPr lang="en-US" b="0" i="0" u="sng" dirty="0">
                <a:solidFill>
                  <a:srgbClr val="357960"/>
                </a:solidFill>
                <a:effectLst/>
                <a:latin typeface="Nunito" pitchFamily="2" charset="0"/>
              </a:rPr>
              <a:t> natural language processing,</a:t>
            </a:r>
            <a:r>
              <a:rPr lang="en-US" b="0" i="0" dirty="0">
                <a:solidFill>
                  <a:srgbClr val="273239"/>
                </a:solidFill>
                <a:effectLst/>
                <a:latin typeface="Nunito" pitchFamily="2" charset="0"/>
              </a:rPr>
              <a:t> bioinformatics, and user behavior analysis, enabling better predictions, classifications, and understanding of sequential patterns.</a:t>
            </a:r>
          </a:p>
          <a:p>
            <a:endParaRPr lang="fr-FR" dirty="0"/>
          </a:p>
        </p:txBody>
      </p:sp>
    </p:spTree>
    <p:extLst>
      <p:ext uri="{BB962C8B-B14F-4D97-AF65-F5344CB8AC3E}">
        <p14:creationId xmlns:p14="http://schemas.microsoft.com/office/powerpoint/2010/main" val="27123892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fontAlgn="base"/>
            <a:r>
              <a:rPr lang="fr-FR" b="1" i="0" dirty="0">
                <a:solidFill>
                  <a:srgbClr val="273239"/>
                </a:solidFill>
                <a:effectLst/>
                <a:latin typeface="Nunito" pitchFamily="2" charset="0"/>
              </a:rPr>
              <a:t>Types of </a:t>
            </a:r>
            <a:r>
              <a:rPr lang="fr-FR" b="1" i="0" dirty="0" err="1">
                <a:solidFill>
                  <a:srgbClr val="273239"/>
                </a:solidFill>
                <a:effectLst/>
                <a:latin typeface="Nunito" pitchFamily="2" charset="0"/>
              </a:rPr>
              <a:t>Sequential</a:t>
            </a:r>
            <a:r>
              <a:rPr lang="fr-FR" b="1" i="0" dirty="0">
                <a:solidFill>
                  <a:srgbClr val="273239"/>
                </a:solidFill>
                <a:effectLst/>
                <a:latin typeface="Nunito" pitchFamily="2" charset="0"/>
              </a:rPr>
              <a:t> Data</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fontScale="70000" lnSpcReduction="20000"/>
          </a:bodyPr>
          <a:lstStyle/>
          <a:p>
            <a:pPr algn="l" fontAlgn="base"/>
            <a:r>
              <a:rPr lang="en-US" b="1" i="0" dirty="0">
                <a:solidFill>
                  <a:srgbClr val="273239"/>
                </a:solidFill>
                <a:effectLst/>
                <a:latin typeface="Nunito" pitchFamily="2" charset="0"/>
              </a:rPr>
              <a:t>1. Time Series Data</a:t>
            </a:r>
          </a:p>
          <a:p>
            <a:pPr marL="0" indent="0" algn="l" rtl="0" fontAlgn="base">
              <a:buNone/>
            </a:pPr>
            <a:r>
              <a:rPr lang="en-US" b="0" i="0" dirty="0">
                <a:solidFill>
                  <a:srgbClr val="273239"/>
                </a:solidFill>
                <a:effectLst/>
                <a:latin typeface="Nunito" pitchFamily="2" charset="0"/>
              </a:rPr>
              <a:t>Time series data consists of observations recorded at specific time intervals. This type of data is crucial for tracking changes over time and is widely used in fields such as finance, meteorology, and economics. Examples include stock prices, weather data, and sales figures.</a:t>
            </a:r>
          </a:p>
          <a:p>
            <a:pPr algn="l" fontAlgn="base"/>
            <a:r>
              <a:rPr lang="en-US" b="1" i="0" dirty="0">
                <a:solidFill>
                  <a:srgbClr val="273239"/>
                </a:solidFill>
                <a:effectLst/>
                <a:latin typeface="Nunito" pitchFamily="2" charset="0"/>
              </a:rPr>
              <a:t>2. Text Data</a:t>
            </a:r>
          </a:p>
          <a:p>
            <a:pPr marL="0" indent="0" algn="l" rtl="0" fontAlgn="base">
              <a:buNone/>
            </a:pPr>
            <a:r>
              <a:rPr lang="en-US" b="0" i="0" dirty="0">
                <a:solidFill>
                  <a:srgbClr val="273239"/>
                </a:solidFill>
                <a:effectLst/>
                <a:latin typeface="Nunito" pitchFamily="2" charset="0"/>
              </a:rPr>
              <a:t>Text data represents sequences of words, characters, or tokens. It is fundamental to natural language processing (NLP) tasks such as text classification,</a:t>
            </a:r>
            <a:r>
              <a:rPr lang="en-US" b="0" i="0" u="sng" dirty="0">
                <a:solidFill>
                  <a:srgbClr val="357960"/>
                </a:solidFill>
                <a:effectLst/>
                <a:latin typeface="Nunito" pitchFamily="2" charset="0"/>
                <a:hlinkClick r:id="rId2"/>
              </a:rPr>
              <a:t> sentiment analysis,</a:t>
            </a:r>
            <a:r>
              <a:rPr lang="en-US" b="0" i="0" dirty="0">
                <a:solidFill>
                  <a:srgbClr val="273239"/>
                </a:solidFill>
                <a:effectLst/>
                <a:latin typeface="Nunito" pitchFamily="2" charset="0"/>
              </a:rPr>
              <a:t> and machine translation. Examples include sentences, paragraphs, and entire documents.</a:t>
            </a:r>
          </a:p>
          <a:p>
            <a:pPr algn="l" fontAlgn="base"/>
            <a:r>
              <a:rPr lang="en-US" b="1" i="0" dirty="0">
                <a:solidFill>
                  <a:srgbClr val="273239"/>
                </a:solidFill>
                <a:effectLst/>
                <a:latin typeface="Nunito" pitchFamily="2" charset="0"/>
              </a:rPr>
              <a:t>3. Genetic Data</a:t>
            </a:r>
          </a:p>
          <a:p>
            <a:pPr marL="0" indent="0" algn="l" rtl="0" fontAlgn="base">
              <a:buNone/>
            </a:pPr>
            <a:r>
              <a:rPr lang="en-US" b="0" i="0" dirty="0">
                <a:solidFill>
                  <a:srgbClr val="273239"/>
                </a:solidFill>
                <a:effectLst/>
                <a:latin typeface="Nunito" pitchFamily="2" charset="0"/>
              </a:rPr>
              <a:t>Genetic data comprises sequences of nucleotides (DNA) or amino acids (proteins). It is essential for bioinformatics and genomic studies, enabling researchers to understand genetic variations, evolutionary relationships, and functions of genes and proteins. Examples include DNA sequences, RNA sequences, and protein sequences.</a:t>
            </a:r>
          </a:p>
        </p:txBody>
      </p:sp>
    </p:spTree>
    <p:extLst>
      <p:ext uri="{BB962C8B-B14F-4D97-AF65-F5344CB8AC3E}">
        <p14:creationId xmlns:p14="http://schemas.microsoft.com/office/powerpoint/2010/main" val="6019925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fontAlgn="base"/>
            <a:r>
              <a:rPr lang="fr-FR" b="1" i="0" dirty="0">
                <a:solidFill>
                  <a:srgbClr val="273239"/>
                </a:solidFill>
                <a:effectLst/>
                <a:latin typeface="Nunito" pitchFamily="2" charset="0"/>
              </a:rPr>
              <a:t>Types of </a:t>
            </a:r>
            <a:r>
              <a:rPr lang="fr-FR" b="1" i="0" dirty="0" err="1">
                <a:solidFill>
                  <a:srgbClr val="273239"/>
                </a:solidFill>
                <a:effectLst/>
                <a:latin typeface="Nunito" pitchFamily="2" charset="0"/>
              </a:rPr>
              <a:t>Sequential</a:t>
            </a:r>
            <a:r>
              <a:rPr lang="fr-FR" b="1" i="0" dirty="0">
                <a:solidFill>
                  <a:srgbClr val="273239"/>
                </a:solidFill>
                <a:effectLst/>
                <a:latin typeface="Nunito" pitchFamily="2" charset="0"/>
              </a:rPr>
              <a:t> Data</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fontScale="70000" lnSpcReduction="20000"/>
          </a:bodyPr>
          <a:lstStyle/>
          <a:p>
            <a:pPr algn="l" fontAlgn="base"/>
            <a:r>
              <a:rPr lang="en-US" b="1" i="0" dirty="0">
                <a:solidFill>
                  <a:srgbClr val="273239"/>
                </a:solidFill>
                <a:effectLst/>
                <a:latin typeface="Nunito" pitchFamily="2" charset="0"/>
              </a:rPr>
              <a:t>1. Time Series Data</a:t>
            </a:r>
          </a:p>
          <a:p>
            <a:pPr marL="0" indent="0" algn="l" rtl="0" fontAlgn="base">
              <a:buNone/>
            </a:pPr>
            <a:r>
              <a:rPr lang="en-US" b="0" i="0" dirty="0">
                <a:solidFill>
                  <a:srgbClr val="273239"/>
                </a:solidFill>
                <a:effectLst/>
                <a:latin typeface="Nunito" pitchFamily="2" charset="0"/>
              </a:rPr>
              <a:t>Time series data consists of observations recorded at specific time intervals. This type of data is crucial for tracking changes over time and is widely used in fields such as finance, meteorology, and economics. Examples include stock prices, weather data, and sales figures.</a:t>
            </a:r>
          </a:p>
          <a:p>
            <a:pPr algn="l" fontAlgn="base"/>
            <a:r>
              <a:rPr lang="en-US" b="1" i="0" dirty="0">
                <a:solidFill>
                  <a:srgbClr val="273239"/>
                </a:solidFill>
                <a:effectLst/>
                <a:latin typeface="Nunito" pitchFamily="2" charset="0"/>
              </a:rPr>
              <a:t>2. Text Data</a:t>
            </a:r>
          </a:p>
          <a:p>
            <a:pPr marL="0" indent="0" algn="l" rtl="0" fontAlgn="base">
              <a:buNone/>
            </a:pPr>
            <a:r>
              <a:rPr lang="en-US" b="0" i="0" dirty="0">
                <a:solidFill>
                  <a:srgbClr val="273239"/>
                </a:solidFill>
                <a:effectLst/>
                <a:latin typeface="Nunito" pitchFamily="2" charset="0"/>
              </a:rPr>
              <a:t>Text data represents sequences of words, characters, or tokens. It is fundamental to natural language processing (NLP) tasks such as text classification,</a:t>
            </a:r>
            <a:r>
              <a:rPr lang="en-US" b="0" i="0" u="sng" dirty="0">
                <a:solidFill>
                  <a:srgbClr val="357960"/>
                </a:solidFill>
                <a:effectLst/>
                <a:latin typeface="Nunito" pitchFamily="2" charset="0"/>
                <a:hlinkClick r:id="rId2"/>
              </a:rPr>
              <a:t> sentiment analysis,</a:t>
            </a:r>
            <a:r>
              <a:rPr lang="en-US" b="0" i="0" dirty="0">
                <a:solidFill>
                  <a:srgbClr val="273239"/>
                </a:solidFill>
                <a:effectLst/>
                <a:latin typeface="Nunito" pitchFamily="2" charset="0"/>
              </a:rPr>
              <a:t> and machine translation. Examples include sentences, paragraphs, and entire documents.</a:t>
            </a:r>
          </a:p>
          <a:p>
            <a:pPr algn="l" fontAlgn="base"/>
            <a:r>
              <a:rPr lang="en-US" b="1" i="0" dirty="0">
                <a:solidFill>
                  <a:srgbClr val="273239"/>
                </a:solidFill>
                <a:effectLst/>
                <a:latin typeface="Nunito" pitchFamily="2" charset="0"/>
              </a:rPr>
              <a:t>3. Genetic Data</a:t>
            </a:r>
          </a:p>
          <a:p>
            <a:pPr marL="0" indent="0" algn="l" rtl="0" fontAlgn="base">
              <a:buNone/>
            </a:pPr>
            <a:r>
              <a:rPr lang="en-US" b="0" i="0" dirty="0">
                <a:solidFill>
                  <a:srgbClr val="273239"/>
                </a:solidFill>
                <a:effectLst/>
                <a:latin typeface="Nunito" pitchFamily="2" charset="0"/>
              </a:rPr>
              <a:t>Genetic data comprises sequences of nucleotides (DNA) or amino acids (proteins). It is essential for bioinformatics and genomic studies, enabling researchers to understand genetic variations, evolutionary relationships, and functions of genes and proteins. Examples include DNA sequences, RNA sequences, and protein sequences.</a:t>
            </a:r>
          </a:p>
        </p:txBody>
      </p:sp>
    </p:spTree>
    <p:extLst>
      <p:ext uri="{BB962C8B-B14F-4D97-AF65-F5344CB8AC3E}">
        <p14:creationId xmlns:p14="http://schemas.microsoft.com/office/powerpoint/2010/main" val="39219105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rtl="0" fontAlgn="base"/>
            <a:r>
              <a:rPr lang="fr-FR" b="1" i="0" dirty="0">
                <a:solidFill>
                  <a:srgbClr val="273239"/>
                </a:solidFill>
                <a:effectLst/>
                <a:latin typeface="Source Sans 3"/>
              </a:rPr>
              <a:t>Simple </a:t>
            </a:r>
            <a:r>
              <a:rPr lang="fr-FR" b="1" i="0" dirty="0" err="1">
                <a:solidFill>
                  <a:srgbClr val="273239"/>
                </a:solidFill>
                <a:effectLst/>
                <a:latin typeface="Source Sans 3"/>
              </a:rPr>
              <a:t>Recurrent</a:t>
            </a:r>
            <a:r>
              <a:rPr lang="fr-FR" b="1" i="0" dirty="0">
                <a:solidFill>
                  <a:srgbClr val="273239"/>
                </a:solidFill>
                <a:effectLst/>
                <a:latin typeface="Source Sans 3"/>
              </a:rPr>
              <a:t> Neural Network</a:t>
            </a: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a:bodyPr>
          <a:lstStyle/>
          <a:p>
            <a:pPr algn="l" rtl="0" fontAlgn="base"/>
            <a:r>
              <a:rPr lang="en-US" sz="2000" b="0" i="0" dirty="0">
                <a:solidFill>
                  <a:srgbClr val="273239"/>
                </a:solidFill>
                <a:effectLst/>
                <a:latin typeface="Nunito" pitchFamily="2" charset="0"/>
              </a:rPr>
              <a:t>Recurrent Neural Networks (RNNs) are a class of neural networks designed to process sequential data by retaining information from previous steps. They are especially effective for tasks where context and order matter.</a:t>
            </a:r>
          </a:p>
          <a:p>
            <a:pPr marL="0" indent="0">
              <a:buNone/>
            </a:pPr>
            <a:endParaRPr lang="en-US" b="0" i="0" dirty="0">
              <a:solidFill>
                <a:srgbClr val="273239"/>
              </a:solidFill>
              <a:effectLst/>
              <a:latin typeface="Nunito" pitchFamily="2" charset="0"/>
            </a:endParaRPr>
          </a:p>
        </p:txBody>
      </p:sp>
      <p:pic>
        <p:nvPicPr>
          <p:cNvPr id="5" name="Image 4">
            <a:extLst>
              <a:ext uri="{FF2B5EF4-FFF2-40B4-BE49-F238E27FC236}">
                <a16:creationId xmlns:a16="http://schemas.microsoft.com/office/drawing/2014/main" id="{C097ED08-A35F-83C8-3F8B-7CE214E532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5175" y="2835275"/>
            <a:ext cx="7315200" cy="3657600"/>
          </a:xfrm>
          <a:prstGeom prst="rect">
            <a:avLst/>
          </a:prstGeom>
        </p:spPr>
      </p:pic>
    </p:spTree>
    <p:extLst>
      <p:ext uri="{BB962C8B-B14F-4D97-AF65-F5344CB8AC3E}">
        <p14:creationId xmlns:p14="http://schemas.microsoft.com/office/powerpoint/2010/main" val="13060984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rtl="0" fontAlgn="base"/>
            <a:r>
              <a:rPr lang="fr-FR" b="1" i="0" dirty="0" err="1">
                <a:solidFill>
                  <a:srgbClr val="273239"/>
                </a:solidFill>
                <a:effectLst/>
                <a:latin typeface="Source Sans 3"/>
              </a:rPr>
              <a:t>Forward</a:t>
            </a:r>
            <a:r>
              <a:rPr lang="fr-FR" b="1" i="0" dirty="0">
                <a:solidFill>
                  <a:srgbClr val="273239"/>
                </a:solidFill>
                <a:effectLst/>
                <a:latin typeface="Source Sans 3"/>
              </a:rPr>
              <a:t> and Back </a:t>
            </a:r>
            <a:r>
              <a:rPr lang="fr-FR" b="1" i="0" dirty="0" err="1">
                <a:solidFill>
                  <a:srgbClr val="273239"/>
                </a:solidFill>
                <a:effectLst/>
                <a:latin typeface="Source Sans 3"/>
              </a:rPr>
              <a:t>Propogation</a:t>
            </a:r>
            <a:r>
              <a:rPr lang="fr-FR" b="1" i="0" dirty="0">
                <a:solidFill>
                  <a:srgbClr val="273239"/>
                </a:solidFill>
                <a:effectLst/>
                <a:latin typeface="Source Sans 3"/>
              </a:rPr>
              <a:t> in RNN</a:t>
            </a: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a:bodyPr>
          <a:lstStyle/>
          <a:p>
            <a:pPr algn="l" rtl="0" fontAlgn="base"/>
            <a:r>
              <a:rPr lang="en-US" sz="2000" b="0" u="none" strike="noStrike" dirty="0">
                <a:effectLst/>
                <a:latin typeface="Google Sans"/>
              </a:rPr>
              <a:t>In a Recurrent Neural Network (RNN), </a:t>
            </a:r>
            <a:r>
              <a:rPr lang="en-US" sz="2000" b="1" u="none" strike="noStrike" dirty="0">
                <a:effectLst/>
                <a:latin typeface="Google Sans"/>
              </a:rPr>
              <a:t>forward propagation</a:t>
            </a:r>
            <a:r>
              <a:rPr lang="en-US" sz="2000" dirty="0"/>
              <a:t> passes sequential data through time steps to compute hidden states and outputs, while </a:t>
            </a:r>
            <a:r>
              <a:rPr lang="en-US" sz="2000" b="1" u="none" strike="noStrike" dirty="0">
                <a:effectLst/>
                <a:latin typeface="Google Sans"/>
              </a:rPr>
              <a:t>backpropagation through time (BPTT)</a:t>
            </a:r>
            <a:r>
              <a:rPr lang="en-US" sz="2000" dirty="0"/>
              <a:t> calculates gradients by unfolding the network in reverse to update shared parameters.</a:t>
            </a:r>
            <a:endParaRPr lang="en-US" sz="4000" b="0" i="0" dirty="0">
              <a:solidFill>
                <a:srgbClr val="273239"/>
              </a:solidFill>
              <a:effectLst/>
              <a:latin typeface="Nunito" pitchFamily="2" charset="0"/>
            </a:endParaRPr>
          </a:p>
        </p:txBody>
      </p:sp>
      <p:pic>
        <p:nvPicPr>
          <p:cNvPr id="6" name="Image 5">
            <a:extLst>
              <a:ext uri="{FF2B5EF4-FFF2-40B4-BE49-F238E27FC236}">
                <a16:creationId xmlns:a16="http://schemas.microsoft.com/office/drawing/2014/main" id="{69844F8E-1135-1937-ADDD-5D40C7345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2975" y="2738129"/>
            <a:ext cx="5810250" cy="3858216"/>
          </a:xfrm>
          <a:prstGeom prst="rect">
            <a:avLst/>
          </a:prstGeom>
        </p:spPr>
      </p:pic>
    </p:spTree>
    <p:extLst>
      <p:ext uri="{BB962C8B-B14F-4D97-AF65-F5344CB8AC3E}">
        <p14:creationId xmlns:p14="http://schemas.microsoft.com/office/powerpoint/2010/main" val="23803945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rtl="0" fontAlgn="base"/>
            <a:r>
              <a:rPr lang="fr-FR" b="1" i="0" dirty="0" err="1">
                <a:solidFill>
                  <a:srgbClr val="273239"/>
                </a:solidFill>
                <a:effectLst/>
                <a:latin typeface="Source Sans 3"/>
              </a:rPr>
              <a:t>Vanishin</a:t>
            </a:r>
            <a:r>
              <a:rPr lang="fr-FR" b="1" dirty="0" err="1">
                <a:solidFill>
                  <a:srgbClr val="273239"/>
                </a:solidFill>
                <a:latin typeface="Source Sans 3"/>
              </a:rPr>
              <a:t>g</a:t>
            </a:r>
            <a:r>
              <a:rPr lang="fr-FR" b="1" dirty="0">
                <a:solidFill>
                  <a:srgbClr val="273239"/>
                </a:solidFill>
                <a:latin typeface="Source Sans 3"/>
              </a:rPr>
              <a:t> Gradient in RNN</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a:bodyPr>
          <a:lstStyle/>
          <a:p>
            <a:pPr algn="l" rtl="0" fontAlgn="base"/>
            <a:r>
              <a:rPr lang="en-US" sz="2000" b="0" u="none" strike="noStrike" dirty="0">
                <a:effectLst/>
                <a:latin typeface="Google Sans"/>
              </a:rPr>
              <a:t>The vanishing gradient problem in Recurrent Neural Networks (RNNs) </a:t>
            </a:r>
            <a:r>
              <a:rPr lang="en-US" sz="2000" dirty="0"/>
              <a:t>occurs when error gradients shrink exponentially toward zero during backpropagation through time. This happens due to repeated multiplication of small recurrent weights and activation function derivatives across many time steps, preventing the network from learning long-term dependencies</a:t>
            </a:r>
            <a:endParaRPr lang="en-US" sz="5400" b="0" i="0" dirty="0">
              <a:solidFill>
                <a:srgbClr val="273239"/>
              </a:solidFill>
              <a:effectLst/>
              <a:latin typeface="Nunito" pitchFamily="2" charset="0"/>
            </a:endParaRPr>
          </a:p>
        </p:txBody>
      </p:sp>
      <p:pic>
        <p:nvPicPr>
          <p:cNvPr id="1026" name="Picture 2" descr="Recurrent Neural Networks (RNN) - The Vanishing Gradient Problem">
            <a:extLst>
              <a:ext uri="{FF2B5EF4-FFF2-40B4-BE49-F238E27FC236}">
                <a16:creationId xmlns:a16="http://schemas.microsoft.com/office/drawing/2014/main" id="{2B5AE861-0E33-9C4A-B1E8-42CB4081D7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805"/>
          <a:stretch/>
        </p:blipFill>
        <p:spPr bwMode="auto">
          <a:xfrm>
            <a:off x="3362325" y="3087687"/>
            <a:ext cx="7505700" cy="3647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4748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en-US" b="1" i="0" dirty="0">
                <a:solidFill>
                  <a:srgbClr val="333333"/>
                </a:solidFill>
                <a:effectLst/>
                <a:latin typeface="CMS"/>
              </a:rPr>
              <a:t>The Problem of Long-Term Dependencies</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a:bodyPr>
          <a:lstStyle/>
          <a:p>
            <a:pPr algn="just"/>
            <a:r>
              <a:rPr lang="en-US" sz="2000" b="0" i="0" dirty="0">
                <a:solidFill>
                  <a:srgbClr val="333333"/>
                </a:solidFill>
                <a:effectLst/>
                <a:latin typeface="CMS"/>
              </a:rPr>
              <a:t>One of the appeals of RNNs is the idea that they might be able to connect previous information to the present task, such as using previous video frames might inform the understanding of the present frame. If RNNs could do this, they’d be extremely useful. But can they? It depends.</a:t>
            </a:r>
          </a:p>
        </p:txBody>
      </p:sp>
      <p:pic>
        <p:nvPicPr>
          <p:cNvPr id="5" name="Image 4">
            <a:extLst>
              <a:ext uri="{FF2B5EF4-FFF2-40B4-BE49-F238E27FC236}">
                <a16:creationId xmlns:a16="http://schemas.microsoft.com/office/drawing/2014/main" id="{A3C6E4EB-6D28-0C97-AE9B-5C605A47AF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3892" y="2992967"/>
            <a:ext cx="9244215" cy="3183996"/>
          </a:xfrm>
          <a:prstGeom prst="rect">
            <a:avLst/>
          </a:prstGeom>
        </p:spPr>
      </p:pic>
    </p:spTree>
    <p:extLst>
      <p:ext uri="{BB962C8B-B14F-4D97-AF65-F5344CB8AC3E}">
        <p14:creationId xmlns:p14="http://schemas.microsoft.com/office/powerpoint/2010/main" val="14627434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fr-FR" b="1" i="0" dirty="0">
                <a:solidFill>
                  <a:srgbClr val="333333"/>
                </a:solidFill>
                <a:effectLst/>
                <a:latin typeface="CMS"/>
              </a:rPr>
              <a:t>LSTM Networks</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a:bodyPr>
          <a:lstStyle/>
          <a:p>
            <a:pPr algn="just"/>
            <a:r>
              <a:rPr lang="en-US" sz="1800" b="0" i="0" dirty="0">
                <a:solidFill>
                  <a:srgbClr val="333333"/>
                </a:solidFill>
                <a:effectLst/>
                <a:latin typeface="CMS"/>
              </a:rPr>
              <a:t>Long Short Term Memory networks – usually just called “LSTMs” – are a special kind of RNN, capable of learning long-term dependencies. They were introduced by </a:t>
            </a:r>
            <a:r>
              <a:rPr lang="en-US" sz="1800" b="0" i="0" u="none" strike="noStrike" dirty="0" err="1">
                <a:solidFill>
                  <a:srgbClr val="6D6D6D"/>
                </a:solidFill>
                <a:effectLst/>
                <a:latin typeface="CMS"/>
                <a:hlinkClick r:id="rId2"/>
              </a:rPr>
              <a:t>Hochreiter</a:t>
            </a:r>
            <a:r>
              <a:rPr lang="en-US" sz="1800" b="0" i="0" u="none" strike="noStrike" dirty="0">
                <a:solidFill>
                  <a:srgbClr val="6D6D6D"/>
                </a:solidFill>
                <a:effectLst/>
                <a:latin typeface="CMS"/>
                <a:hlinkClick r:id="rId2"/>
              </a:rPr>
              <a:t> &amp; </a:t>
            </a:r>
            <a:r>
              <a:rPr lang="en-US" sz="1800" b="0" i="0" u="none" strike="noStrike" dirty="0" err="1">
                <a:solidFill>
                  <a:srgbClr val="6D6D6D"/>
                </a:solidFill>
                <a:effectLst/>
                <a:latin typeface="CMS"/>
                <a:hlinkClick r:id="rId2"/>
              </a:rPr>
              <a:t>Schmidhuber</a:t>
            </a:r>
            <a:r>
              <a:rPr lang="en-US" sz="1800" b="0" i="0" u="none" strike="noStrike" dirty="0">
                <a:solidFill>
                  <a:srgbClr val="6D6D6D"/>
                </a:solidFill>
                <a:effectLst/>
                <a:latin typeface="CMS"/>
                <a:hlinkClick r:id="rId2"/>
              </a:rPr>
              <a:t> (1997)</a:t>
            </a:r>
            <a:r>
              <a:rPr lang="en-US" sz="1800" b="0" i="0" dirty="0">
                <a:solidFill>
                  <a:srgbClr val="333333"/>
                </a:solidFill>
                <a:effectLst/>
                <a:latin typeface="CMS"/>
              </a:rPr>
              <a:t>, and were refined and popularized by many people in following work.</a:t>
            </a:r>
            <a:r>
              <a:rPr lang="en-US" sz="1800" b="0" i="0" u="none" strike="noStrike" baseline="30000" dirty="0">
                <a:solidFill>
                  <a:srgbClr val="6D6D6D"/>
                </a:solidFill>
                <a:effectLst/>
                <a:latin typeface="CMS"/>
                <a:hlinkClick r:id="rId3"/>
              </a:rPr>
              <a:t>1</a:t>
            </a:r>
            <a:r>
              <a:rPr lang="en-US" sz="1800" b="0" i="0" dirty="0">
                <a:solidFill>
                  <a:srgbClr val="333333"/>
                </a:solidFill>
                <a:effectLst/>
                <a:latin typeface="CMS"/>
              </a:rPr>
              <a:t> They work tremendously well on a large variety of problems, and are now widely used. LSTMs are explicitly designed to avoid the long-term dependency problem. Remembering information for long periods of time is practically their default behavior, not something they struggle to learn!</a:t>
            </a:r>
          </a:p>
          <a:p>
            <a:pPr marL="0" indent="0" algn="just">
              <a:buNone/>
            </a:pPr>
            <a:br>
              <a:rPr lang="en-US" sz="1200" dirty="0"/>
            </a:br>
            <a:endParaRPr lang="en-US" sz="1800" b="0" i="0" dirty="0">
              <a:solidFill>
                <a:srgbClr val="333333"/>
              </a:solidFill>
              <a:effectLst/>
              <a:latin typeface="CMS"/>
            </a:endParaRPr>
          </a:p>
        </p:txBody>
      </p:sp>
      <p:pic>
        <p:nvPicPr>
          <p:cNvPr id="1026" name="Picture 2" descr="A LSTM neural network.">
            <a:extLst>
              <a:ext uri="{FF2B5EF4-FFF2-40B4-BE49-F238E27FC236}">
                <a16:creationId xmlns:a16="http://schemas.microsoft.com/office/drawing/2014/main" id="{A635EC3D-DE89-72DF-2961-8DB802C12C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385855"/>
            <a:ext cx="7829550" cy="2942198"/>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2703FC9B-20D1-83C2-4196-6FEE38F2B370}"/>
              </a:ext>
            </a:extLst>
          </p:cNvPr>
          <p:cNvSpPr txBox="1"/>
          <p:nvPr/>
        </p:nvSpPr>
        <p:spPr>
          <a:xfrm>
            <a:off x="2762249" y="6470035"/>
            <a:ext cx="6829425" cy="369332"/>
          </a:xfrm>
          <a:prstGeom prst="rect">
            <a:avLst/>
          </a:prstGeom>
          <a:noFill/>
        </p:spPr>
        <p:txBody>
          <a:bodyPr wrap="square">
            <a:spAutoFit/>
          </a:bodyPr>
          <a:lstStyle/>
          <a:p>
            <a:pPr algn="ctr"/>
            <a:r>
              <a:rPr lang="en-US" b="1" i="0" dirty="0">
                <a:solidFill>
                  <a:srgbClr val="333333"/>
                </a:solidFill>
                <a:effectLst/>
                <a:latin typeface="CMS"/>
              </a:rPr>
              <a:t>The repeating module in an LSTM contains four interacting layers.</a:t>
            </a:r>
            <a:endParaRPr lang="en-US" b="0" i="0" dirty="0">
              <a:solidFill>
                <a:srgbClr val="333333"/>
              </a:solidFill>
              <a:effectLst/>
              <a:latin typeface="CMS"/>
            </a:endParaRPr>
          </a:p>
        </p:txBody>
      </p:sp>
    </p:spTree>
    <p:extLst>
      <p:ext uri="{BB962C8B-B14F-4D97-AF65-F5344CB8AC3E}">
        <p14:creationId xmlns:p14="http://schemas.microsoft.com/office/powerpoint/2010/main" val="3073122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en-US" b="1" i="0" dirty="0">
                <a:solidFill>
                  <a:srgbClr val="333333"/>
                </a:solidFill>
                <a:effectLst/>
                <a:latin typeface="CMS"/>
              </a:rPr>
              <a:t>The Core Idea Behind LSTMs</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p:txBody>
          <a:bodyPr>
            <a:normAutofit/>
          </a:bodyPr>
          <a:lstStyle/>
          <a:p>
            <a:pPr algn="just"/>
            <a:r>
              <a:rPr lang="en-US" sz="2000" b="0" i="0" dirty="0">
                <a:solidFill>
                  <a:srgbClr val="333333"/>
                </a:solidFill>
                <a:effectLst/>
                <a:latin typeface="CMS"/>
              </a:rPr>
              <a:t>The key to LSTMs is the cell state, the horizontal line running through the top of the diagram.</a:t>
            </a:r>
          </a:p>
          <a:p>
            <a:pPr algn="just"/>
            <a:r>
              <a:rPr lang="en-US" sz="2000" b="0" i="0" dirty="0">
                <a:solidFill>
                  <a:srgbClr val="333333"/>
                </a:solidFill>
                <a:effectLst/>
                <a:latin typeface="CMS"/>
              </a:rPr>
              <a:t>The cell state is kind of like a conveyor belt. It runs straight down the entire chain, with only some minor linear interactions. It’s very easy for information to just flow along it unchanged.</a:t>
            </a:r>
          </a:p>
        </p:txBody>
      </p:sp>
      <p:pic>
        <p:nvPicPr>
          <p:cNvPr id="2050" name="Picture 2">
            <a:extLst>
              <a:ext uri="{FF2B5EF4-FFF2-40B4-BE49-F238E27FC236}">
                <a16:creationId xmlns:a16="http://schemas.microsoft.com/office/drawing/2014/main" id="{320D7B4D-DA11-FF6F-D4C7-7B1791A1D6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31" y="3222927"/>
            <a:ext cx="9461659" cy="295403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STM go_backwards() - Unravelling its 'hidden' secrets | Towards Data  Science">
            <a:extLst>
              <a:ext uri="{FF2B5EF4-FFF2-40B4-BE49-F238E27FC236}">
                <a16:creationId xmlns:a16="http://schemas.microsoft.com/office/drawing/2014/main" id="{51CD2079-19FB-EDA6-30B0-2A2C9DFB69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6063" y="2979095"/>
            <a:ext cx="4286454" cy="3332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5161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fr-FR" b="1" i="0" dirty="0" err="1">
                <a:solidFill>
                  <a:srgbClr val="333333"/>
                </a:solidFill>
                <a:effectLst/>
                <a:latin typeface="CMS"/>
              </a:rPr>
              <a:t>Step</a:t>
            </a:r>
            <a:r>
              <a:rPr lang="fr-FR" b="1" i="0" dirty="0">
                <a:solidFill>
                  <a:srgbClr val="333333"/>
                </a:solidFill>
                <a:effectLst/>
                <a:latin typeface="CMS"/>
              </a:rPr>
              <a:t>-by-</a:t>
            </a:r>
            <a:r>
              <a:rPr lang="fr-FR" b="1" i="0" dirty="0" err="1">
                <a:solidFill>
                  <a:srgbClr val="333333"/>
                </a:solidFill>
                <a:effectLst/>
                <a:latin typeface="CMS"/>
              </a:rPr>
              <a:t>Step</a:t>
            </a:r>
            <a:r>
              <a:rPr lang="fr-FR" b="1" i="0" dirty="0">
                <a:solidFill>
                  <a:srgbClr val="333333"/>
                </a:solidFill>
                <a:effectLst/>
                <a:latin typeface="CMS"/>
              </a:rPr>
              <a:t> LSTM </a:t>
            </a:r>
            <a:r>
              <a:rPr lang="fr-FR" b="1" i="0" dirty="0" err="1">
                <a:solidFill>
                  <a:srgbClr val="333333"/>
                </a:solidFill>
                <a:effectLst/>
                <a:latin typeface="CMS"/>
              </a:rPr>
              <a:t>Walk</a:t>
            </a:r>
            <a:r>
              <a:rPr lang="fr-FR" b="1" i="0" dirty="0">
                <a:solidFill>
                  <a:srgbClr val="333333"/>
                </a:solidFill>
                <a:effectLst/>
                <a:latin typeface="CMS"/>
              </a:rPr>
              <a:t> </a:t>
            </a:r>
            <a:r>
              <a:rPr lang="fr-FR" b="1" i="0" dirty="0" err="1">
                <a:solidFill>
                  <a:srgbClr val="333333"/>
                </a:solidFill>
                <a:effectLst/>
                <a:latin typeface="CMS"/>
              </a:rPr>
              <a:t>Through</a:t>
            </a:r>
            <a:r>
              <a:rPr lang="fr-FR" b="1" i="0" dirty="0">
                <a:solidFill>
                  <a:srgbClr val="333333"/>
                </a:solidFill>
                <a:effectLst/>
                <a:latin typeface="CMS"/>
              </a:rPr>
              <a:t>: Forget </a:t>
            </a:r>
            <a:r>
              <a:rPr lang="fr-FR" b="1" i="0" dirty="0" err="1">
                <a:solidFill>
                  <a:srgbClr val="333333"/>
                </a:solidFill>
                <a:effectLst/>
                <a:latin typeface="CMS"/>
              </a:rPr>
              <a:t>Gate</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a:xfrm>
            <a:off x="609600" y="1524882"/>
            <a:ext cx="10515600" cy="4351338"/>
          </a:xfrm>
        </p:spPr>
        <p:txBody>
          <a:bodyPr>
            <a:normAutofit/>
          </a:bodyPr>
          <a:lstStyle/>
          <a:p>
            <a:pPr algn="just"/>
            <a:r>
              <a:rPr lang="en-US" sz="2000" b="0" i="0" dirty="0">
                <a:solidFill>
                  <a:srgbClr val="333333"/>
                </a:solidFill>
                <a:effectLst/>
                <a:latin typeface="CMS"/>
              </a:rPr>
              <a:t>The first step in our LSTM is to decide what information we’re going to throw away from the cell state. This decision is made by a sigmoid layer called the “forget gate layer.” It looks at ht−1 and </a:t>
            </a:r>
            <a:r>
              <a:rPr lang="en-US" sz="2000" b="0" i="0" dirty="0" err="1">
                <a:solidFill>
                  <a:srgbClr val="333333"/>
                </a:solidFill>
                <a:effectLst/>
                <a:latin typeface="CMS"/>
              </a:rPr>
              <a:t>xt</a:t>
            </a:r>
            <a:r>
              <a:rPr lang="en-US" sz="2000" b="0" i="0" dirty="0">
                <a:solidFill>
                  <a:srgbClr val="333333"/>
                </a:solidFill>
                <a:effectLst/>
                <a:latin typeface="CMS"/>
              </a:rPr>
              <a:t>, and outputs a number between 0 and 1 for each number in the cell state Ct−1.</a:t>
            </a:r>
          </a:p>
        </p:txBody>
      </p:sp>
      <p:pic>
        <p:nvPicPr>
          <p:cNvPr id="3074" name="Picture 2">
            <a:extLst>
              <a:ext uri="{FF2B5EF4-FFF2-40B4-BE49-F238E27FC236}">
                <a16:creationId xmlns:a16="http://schemas.microsoft.com/office/drawing/2014/main" id="{A617F0F2-A6BE-5266-A1CC-4707D8695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 y="2478741"/>
            <a:ext cx="7658100" cy="2365236"/>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7BEC6F66-FF68-0585-49EC-14980BAB926A}"/>
              </a:ext>
            </a:extLst>
          </p:cNvPr>
          <p:cNvSpPr txBox="1"/>
          <p:nvPr/>
        </p:nvSpPr>
        <p:spPr>
          <a:xfrm>
            <a:off x="657226" y="4826675"/>
            <a:ext cx="11048999" cy="2031325"/>
          </a:xfrm>
          <a:prstGeom prst="rect">
            <a:avLst/>
          </a:prstGeom>
          <a:noFill/>
        </p:spPr>
        <p:txBody>
          <a:bodyPr wrap="square">
            <a:spAutoFit/>
          </a:bodyPr>
          <a:lstStyle/>
          <a:p>
            <a:r>
              <a:rPr lang="en-US" sz="1400" b="0" u="none" strike="noStrike" dirty="0">
                <a:effectLst/>
                <a:latin typeface="Google Sans"/>
              </a:rPr>
              <a:t>Imagine an AI reading this customer review: </a:t>
            </a:r>
            <a:r>
              <a:rPr lang="en-US" sz="1400" b="0" i="1" u="none" strike="noStrike" dirty="0">
                <a:effectLst/>
                <a:latin typeface="Google Sans"/>
              </a:rPr>
              <a:t>"I initially thought this phone was </a:t>
            </a:r>
            <a:r>
              <a:rPr lang="en-US" sz="1400" b="1" i="1" u="none" strike="noStrike" dirty="0">
                <a:effectLst/>
                <a:latin typeface="Google Sans"/>
              </a:rPr>
              <a:t>terrible</a:t>
            </a:r>
            <a:r>
              <a:rPr lang="en-US" sz="1400" b="0" i="1" u="none" strike="noStrike" dirty="0">
                <a:effectLst/>
                <a:latin typeface="Google Sans"/>
              </a:rPr>
              <a:t> because the battery died in two hours, but after updating the software, it works flawlessly and is </a:t>
            </a:r>
            <a:r>
              <a:rPr lang="en-US" sz="1400" b="1" i="1" u="none" strike="noStrike" dirty="0">
                <a:effectLst/>
                <a:latin typeface="Google Sans"/>
              </a:rPr>
              <a:t>amazing</a:t>
            </a:r>
            <a:r>
              <a:rPr lang="en-US" sz="1400" b="0" i="1" u="none" strike="noStrike" dirty="0">
                <a:effectLst/>
                <a:latin typeface="Google Sans"/>
              </a:rPr>
              <a:t>."</a:t>
            </a:r>
            <a:endParaRPr lang="en-US" sz="1400" b="0" u="none" strike="noStrike" dirty="0">
              <a:effectLst/>
              <a:latin typeface="Google Sans"/>
            </a:endParaRPr>
          </a:p>
          <a:p>
            <a:r>
              <a:rPr lang="en-US" sz="1400" b="1" u="none" strike="noStrike" dirty="0">
                <a:effectLst/>
                <a:latin typeface="Google Sans"/>
              </a:rPr>
              <a:t>The Shift in Context</a:t>
            </a:r>
          </a:p>
          <a:p>
            <a:pPr>
              <a:buFont typeface="Arial" panose="020B0604020202020204" pitchFamily="34" charset="0"/>
              <a:buChar char="•"/>
            </a:pPr>
            <a:r>
              <a:rPr lang="en-US" sz="1400" b="1" u="none" strike="noStrike" dirty="0">
                <a:effectLst/>
                <a:latin typeface="Google Sans"/>
              </a:rPr>
              <a:t>Initial State</a:t>
            </a:r>
            <a:r>
              <a:rPr lang="en-US" sz="1400" b="0" u="none" strike="noStrike" dirty="0">
                <a:effectLst/>
                <a:latin typeface="Google Sans"/>
              </a:rPr>
              <a:t>: The network reads </a:t>
            </a:r>
            <a:r>
              <a:rPr lang="en-US" sz="1400" b="0" i="1" u="none" strike="noStrike" dirty="0">
                <a:effectLst/>
                <a:latin typeface="Google Sans"/>
              </a:rPr>
              <a:t>"terrible"</a:t>
            </a:r>
            <a:r>
              <a:rPr lang="en-US" sz="1400" b="0" u="none" strike="noStrike" dirty="0">
                <a:effectLst/>
                <a:latin typeface="Google Sans"/>
              </a:rPr>
              <a:t> and </a:t>
            </a:r>
            <a:r>
              <a:rPr lang="en-US" sz="1400" b="0" i="1" u="none" strike="noStrike" dirty="0">
                <a:effectLst/>
                <a:latin typeface="Google Sans"/>
              </a:rPr>
              <a:t>"battery died."</a:t>
            </a:r>
            <a:r>
              <a:rPr lang="en-US" sz="1400" b="0" u="none" strike="noStrike" dirty="0">
                <a:effectLst/>
                <a:latin typeface="Google Sans"/>
              </a:rPr>
              <a:t> It stores a </a:t>
            </a:r>
            <a:r>
              <a:rPr lang="en-US" sz="1400" b="1" u="none" strike="noStrike" dirty="0">
                <a:effectLst/>
                <a:latin typeface="Google Sans"/>
              </a:rPr>
              <a:t>strongly negative</a:t>
            </a:r>
            <a:r>
              <a:rPr lang="en-US" sz="1400" b="0" u="none" strike="noStrike" dirty="0">
                <a:effectLst/>
                <a:latin typeface="Google Sans"/>
              </a:rPr>
              <a:t> sentiment in its memory cell.</a:t>
            </a:r>
          </a:p>
          <a:p>
            <a:pPr>
              <a:buFont typeface="Arial" panose="020B0604020202020204" pitchFamily="34" charset="0"/>
              <a:buChar char="•"/>
            </a:pPr>
            <a:r>
              <a:rPr lang="en-US" sz="1400" b="1" u="none" strike="noStrike" dirty="0">
                <a:effectLst/>
                <a:latin typeface="Google Sans"/>
              </a:rPr>
              <a:t>The Turn</a:t>
            </a:r>
            <a:r>
              <a:rPr lang="en-US" sz="1400" b="0" u="none" strike="noStrike" dirty="0">
                <a:effectLst/>
                <a:latin typeface="Google Sans"/>
              </a:rPr>
              <a:t>: The word </a:t>
            </a:r>
            <a:r>
              <a:rPr lang="en-US" sz="1400" b="0" i="1" u="none" strike="noStrike" dirty="0">
                <a:effectLst/>
                <a:latin typeface="Google Sans"/>
              </a:rPr>
              <a:t>"but"</a:t>
            </a:r>
            <a:r>
              <a:rPr lang="en-US" sz="1400" b="0" u="none" strike="noStrike" dirty="0">
                <a:effectLst/>
                <a:latin typeface="Google Sans"/>
              </a:rPr>
              <a:t> signals a major shift in the story.</a:t>
            </a:r>
          </a:p>
          <a:p>
            <a:pPr>
              <a:buFont typeface="Arial" panose="020B0604020202020204" pitchFamily="34" charset="0"/>
              <a:buChar char="•"/>
            </a:pPr>
            <a:r>
              <a:rPr lang="en-US" sz="1400" b="1" u="none" strike="noStrike" dirty="0">
                <a:effectLst/>
                <a:latin typeface="Google Sans"/>
              </a:rPr>
              <a:t>Why We Forget</a:t>
            </a:r>
            <a:r>
              <a:rPr lang="en-US" sz="1400" b="0" u="none" strike="noStrike" dirty="0">
                <a:effectLst/>
                <a:latin typeface="Google Sans"/>
              </a:rPr>
              <a:t>: If the network keeps the strong negative context, it will misinterpret the final rating. It needs to clear out the old complaint because the user's situation changed.</a:t>
            </a:r>
          </a:p>
          <a:p>
            <a:pPr>
              <a:buFont typeface="Arial" panose="020B0604020202020204" pitchFamily="34" charset="0"/>
              <a:buChar char="•"/>
            </a:pPr>
            <a:r>
              <a:rPr lang="en-US" sz="1400" b="1" u="none" strike="noStrike" dirty="0">
                <a:effectLst/>
                <a:latin typeface="Google Sans"/>
              </a:rPr>
              <a:t>The Action</a:t>
            </a:r>
            <a:r>
              <a:rPr lang="en-US" sz="1400" b="0" u="none" strike="noStrike" dirty="0">
                <a:effectLst/>
                <a:latin typeface="Google Sans"/>
              </a:rPr>
              <a:t>: The </a:t>
            </a:r>
            <a:r>
              <a:rPr lang="en-US" sz="1400" b="1" u="none" strike="noStrike" dirty="0">
                <a:effectLst/>
                <a:latin typeface="Google Sans"/>
              </a:rPr>
              <a:t>forget gate</a:t>
            </a:r>
            <a:r>
              <a:rPr lang="en-US" sz="1400" b="0" u="none" strike="noStrike" dirty="0">
                <a:effectLst/>
                <a:latin typeface="Google Sans"/>
              </a:rPr>
              <a:t> encounters </a:t>
            </a:r>
            <a:r>
              <a:rPr lang="en-US" sz="1400" b="0" i="1" u="none" strike="noStrike" dirty="0">
                <a:effectLst/>
                <a:latin typeface="Google Sans"/>
              </a:rPr>
              <a:t>"but after updating..."</a:t>
            </a:r>
            <a:r>
              <a:rPr lang="en-US" sz="1400" b="0" u="none" strike="noStrike" dirty="0">
                <a:effectLst/>
                <a:latin typeface="Google Sans"/>
              </a:rPr>
              <a:t> and drops the old "terrible battery" context (outputs close to 0). At the same time, the input gate adds the new, positive context (</a:t>
            </a:r>
            <a:r>
              <a:rPr lang="en-US" sz="1400" b="0" i="1" u="none" strike="noStrike" dirty="0">
                <a:effectLst/>
                <a:latin typeface="Google Sans"/>
              </a:rPr>
              <a:t>"flawlessly"</a:t>
            </a:r>
            <a:r>
              <a:rPr lang="en-US" sz="1400" b="0" u="none" strike="noStrike" dirty="0">
                <a:effectLst/>
                <a:latin typeface="Google Sans"/>
              </a:rPr>
              <a:t>, </a:t>
            </a:r>
            <a:r>
              <a:rPr lang="en-US" sz="1400" b="0" i="1" u="none" strike="noStrike" dirty="0">
                <a:effectLst/>
                <a:latin typeface="Google Sans"/>
              </a:rPr>
              <a:t>"amazing"</a:t>
            </a:r>
            <a:r>
              <a:rPr lang="en-US" sz="1400" b="0" u="none" strike="noStrike" dirty="0">
                <a:effectLst/>
                <a:latin typeface="Google Sans"/>
              </a:rPr>
              <a:t>).</a:t>
            </a:r>
          </a:p>
        </p:txBody>
      </p:sp>
    </p:spTree>
    <p:extLst>
      <p:ext uri="{BB962C8B-B14F-4D97-AF65-F5344CB8AC3E}">
        <p14:creationId xmlns:p14="http://schemas.microsoft.com/office/powerpoint/2010/main" val="8817073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fr-FR" b="1" i="0" dirty="0">
                <a:solidFill>
                  <a:srgbClr val="333333"/>
                </a:solidFill>
                <a:effectLst/>
                <a:latin typeface="CMS"/>
              </a:rPr>
              <a:t>Input </a:t>
            </a:r>
            <a:r>
              <a:rPr lang="fr-FR" b="1" i="0" dirty="0" err="1">
                <a:solidFill>
                  <a:srgbClr val="333333"/>
                </a:solidFill>
                <a:effectLst/>
                <a:latin typeface="CMS"/>
              </a:rPr>
              <a:t>Gate</a:t>
            </a:r>
            <a:r>
              <a:rPr lang="fr-FR" b="1" i="0" dirty="0">
                <a:solidFill>
                  <a:srgbClr val="333333"/>
                </a:solidFill>
                <a:effectLst/>
                <a:latin typeface="CMS"/>
              </a:rPr>
              <a:t> and Candidate Memory</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a:xfrm>
            <a:off x="609600" y="1524882"/>
            <a:ext cx="10515600" cy="4351338"/>
          </a:xfrm>
        </p:spPr>
        <p:txBody>
          <a:bodyPr>
            <a:normAutofit/>
          </a:bodyPr>
          <a:lstStyle/>
          <a:p>
            <a:pPr algn="just"/>
            <a:r>
              <a:rPr lang="en-US" sz="1800" b="0" u="none" strike="noStrike" dirty="0">
                <a:effectLst/>
                <a:latin typeface="Google Sans"/>
              </a:rPr>
              <a:t>The second step of an LSTM cell updates the state with new data</a:t>
            </a:r>
            <a:r>
              <a:rPr lang="en-US" sz="1800" dirty="0"/>
              <a:t>. A sigmoid input gate picks which values to change. A tanh layer makes a vector of new candidate values Ct Both parts work together to shape the future memory.</a:t>
            </a:r>
            <a:endParaRPr lang="en-US" b="0" i="0" dirty="0">
              <a:solidFill>
                <a:srgbClr val="333333"/>
              </a:solidFill>
              <a:effectLst/>
              <a:latin typeface="CMS"/>
            </a:endParaRPr>
          </a:p>
        </p:txBody>
      </p:sp>
      <p:pic>
        <p:nvPicPr>
          <p:cNvPr id="4098" name="Picture 2">
            <a:extLst>
              <a:ext uri="{FF2B5EF4-FFF2-40B4-BE49-F238E27FC236}">
                <a16:creationId xmlns:a16="http://schemas.microsoft.com/office/drawing/2014/main" id="{92D8D313-4247-9EBB-5895-9663DD9CA4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925" y="2850445"/>
            <a:ext cx="9258300" cy="2859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43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fr-FR" b="1" i="0" dirty="0">
                <a:solidFill>
                  <a:srgbClr val="333333"/>
                </a:solidFill>
                <a:effectLst/>
                <a:latin typeface="CMS"/>
              </a:rPr>
              <a:t>Input </a:t>
            </a:r>
            <a:r>
              <a:rPr lang="fr-FR" b="1" i="0" dirty="0" err="1">
                <a:solidFill>
                  <a:srgbClr val="333333"/>
                </a:solidFill>
                <a:effectLst/>
                <a:latin typeface="CMS"/>
              </a:rPr>
              <a:t>Gate</a:t>
            </a:r>
            <a:r>
              <a:rPr lang="fr-FR" b="1" i="0" dirty="0">
                <a:solidFill>
                  <a:srgbClr val="333333"/>
                </a:solidFill>
                <a:effectLst/>
                <a:latin typeface="CMS"/>
              </a:rPr>
              <a:t> and Candidate Memory</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a:xfrm>
            <a:off x="609600" y="1524882"/>
            <a:ext cx="10515600" cy="4351338"/>
          </a:xfrm>
        </p:spPr>
        <p:txBody>
          <a:bodyPr>
            <a:normAutofit/>
          </a:bodyPr>
          <a:lstStyle/>
          <a:p>
            <a:pPr algn="just"/>
            <a:r>
              <a:rPr lang="en-US" sz="1800" b="0" u="none" strike="noStrike" dirty="0">
                <a:effectLst/>
                <a:latin typeface="Google Sans"/>
              </a:rPr>
              <a:t>an LSTM cell updates its memory state Ct- 1 </a:t>
            </a:r>
            <a:r>
              <a:rPr lang="en-US" sz="1800" dirty="0"/>
              <a:t>to Ct by forgetting old information using the forget gate F(t) and adding new scaled information. It completes the core memory update mechanism of a recurrent neural network.</a:t>
            </a:r>
            <a:endParaRPr lang="en-US" sz="4000" b="0" i="0" dirty="0">
              <a:solidFill>
                <a:srgbClr val="333333"/>
              </a:solidFill>
              <a:effectLst/>
              <a:latin typeface="CMS"/>
            </a:endParaRPr>
          </a:p>
        </p:txBody>
      </p:sp>
      <p:pic>
        <p:nvPicPr>
          <p:cNvPr id="5122" name="Picture 2">
            <a:extLst>
              <a:ext uri="{FF2B5EF4-FFF2-40B4-BE49-F238E27FC236}">
                <a16:creationId xmlns:a16="http://schemas.microsoft.com/office/drawing/2014/main" id="{918B225C-648F-5488-7427-A903ABEBF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8300" y="2850445"/>
            <a:ext cx="9391650" cy="290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7317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fr-FR" b="1" i="0" dirty="0">
                <a:solidFill>
                  <a:srgbClr val="333333"/>
                </a:solidFill>
                <a:effectLst/>
                <a:latin typeface="CMS"/>
              </a:rPr>
              <a:t>Output </a:t>
            </a:r>
            <a:r>
              <a:rPr lang="fr-FR" b="1" i="0" dirty="0" err="1">
                <a:solidFill>
                  <a:srgbClr val="333333"/>
                </a:solidFill>
                <a:effectLst/>
                <a:latin typeface="CMS"/>
              </a:rPr>
              <a:t>Gate</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a:xfrm>
            <a:off x="609600" y="1524882"/>
            <a:ext cx="10515600" cy="4351338"/>
          </a:xfrm>
        </p:spPr>
        <p:txBody>
          <a:bodyPr>
            <a:normAutofit/>
          </a:bodyPr>
          <a:lstStyle/>
          <a:p>
            <a:pPr algn="just"/>
            <a:r>
              <a:rPr lang="en-US" sz="1800" b="0" u="none" strike="noStrike" dirty="0">
                <a:effectLst/>
                <a:latin typeface="Google Sans"/>
              </a:rPr>
              <a:t>The final step of an LSTM cell determines its output through a two-step filtering process: </a:t>
            </a:r>
          </a:p>
          <a:p>
            <a:pPr algn="just"/>
            <a:r>
              <a:rPr lang="en-US" sz="1800" b="0" u="none" strike="noStrike" dirty="0">
                <a:effectLst/>
                <a:latin typeface="Google Sans"/>
              </a:rPr>
              <a:t>Sigmoid Gate: Selects which parts of the cell state to output.</a:t>
            </a:r>
          </a:p>
          <a:p>
            <a:pPr algn="just"/>
            <a:r>
              <a:rPr lang="en-US" sz="1800" b="0" u="none" strike="noStrike" dirty="0">
                <a:effectLst/>
                <a:latin typeface="Google Sans"/>
              </a:rPr>
              <a:t>Tanh Transformation &amp; Filtering: Pushes the cell state values between -1 and 1, then multiplies them by the sigmoid output so only the chosen features are passed through.</a:t>
            </a:r>
          </a:p>
          <a:p>
            <a:pPr algn="just"/>
            <a:endParaRPr lang="en-US" sz="1800" i="0" dirty="0">
              <a:solidFill>
                <a:srgbClr val="333333"/>
              </a:solidFill>
              <a:latin typeface="Google Sans"/>
            </a:endParaRPr>
          </a:p>
          <a:p>
            <a:pPr marL="0" indent="0" algn="just">
              <a:buNone/>
            </a:pPr>
            <a:endParaRPr lang="en-US" sz="4000" b="0" i="0" dirty="0">
              <a:solidFill>
                <a:srgbClr val="333333"/>
              </a:solidFill>
              <a:effectLst/>
              <a:latin typeface="CMS"/>
            </a:endParaRPr>
          </a:p>
        </p:txBody>
      </p:sp>
      <p:pic>
        <p:nvPicPr>
          <p:cNvPr id="1027" name="Picture 3">
            <a:extLst>
              <a:ext uri="{FF2B5EF4-FFF2-40B4-BE49-F238E27FC236}">
                <a16:creationId xmlns:a16="http://schemas.microsoft.com/office/drawing/2014/main" id="{9DD5613A-DD63-751B-44F1-AD2F563292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237" y="3203575"/>
            <a:ext cx="9153525" cy="2827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8160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en-US" b="1" i="0" dirty="0">
                <a:solidFill>
                  <a:srgbClr val="333333"/>
                </a:solidFill>
                <a:effectLst/>
                <a:latin typeface="CMS"/>
              </a:rPr>
              <a:t>Variants on Long Short Term Memory</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a:xfrm>
            <a:off x="609600" y="1524882"/>
            <a:ext cx="10515600" cy="4351338"/>
          </a:xfrm>
        </p:spPr>
        <p:txBody>
          <a:bodyPr>
            <a:normAutofit/>
          </a:bodyPr>
          <a:lstStyle/>
          <a:p>
            <a:pPr algn="just">
              <a:lnSpc>
                <a:spcPct val="100000"/>
              </a:lnSpc>
            </a:pPr>
            <a:r>
              <a:rPr lang="en-US" sz="1800" dirty="0">
                <a:latin typeface="Google Sans"/>
              </a:rPr>
              <a:t>While standard LSTMs follow a common structure, minor variations frequently appear across academic research. A notable example is the "peephole connections" variant introduced by </a:t>
            </a:r>
            <a:r>
              <a:rPr lang="en-US" sz="1800" dirty="0">
                <a:latin typeface="Google Sans"/>
                <a:hlinkClick r:id="rId3"/>
              </a:rPr>
              <a:t>Gers &amp; </a:t>
            </a:r>
            <a:r>
              <a:rPr lang="en-US" sz="1800" dirty="0" err="1">
                <a:latin typeface="Google Sans"/>
                <a:hlinkClick r:id="rId3"/>
              </a:rPr>
              <a:t>Schmidhuber</a:t>
            </a:r>
            <a:r>
              <a:rPr lang="en-US" sz="1800" dirty="0">
                <a:latin typeface="Google Sans"/>
                <a:hlinkClick r:id="rId3"/>
              </a:rPr>
              <a:t> (2000), </a:t>
            </a:r>
            <a:r>
              <a:rPr lang="en-US" sz="1800" dirty="0">
                <a:latin typeface="Google Sans"/>
              </a:rPr>
              <a:t>which modifies the traditional architecture by allowing the internal gate layers to directly observe the cell state when making decisions.</a:t>
            </a:r>
          </a:p>
          <a:p>
            <a:pPr marL="0" indent="0" algn="just">
              <a:lnSpc>
                <a:spcPct val="100000"/>
              </a:lnSpc>
              <a:buNone/>
            </a:pPr>
            <a:endParaRPr lang="en-US" sz="1800" dirty="0">
              <a:latin typeface="Google Sans"/>
            </a:endParaRPr>
          </a:p>
        </p:txBody>
      </p:sp>
      <p:pic>
        <p:nvPicPr>
          <p:cNvPr id="2051" name="Picture 3">
            <a:extLst>
              <a:ext uri="{FF2B5EF4-FFF2-40B4-BE49-F238E27FC236}">
                <a16:creationId xmlns:a16="http://schemas.microsoft.com/office/drawing/2014/main" id="{6B150BBB-D080-C152-4BDE-E6B7311086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025" y="2888545"/>
            <a:ext cx="9673417" cy="298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7938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en-US" b="1" i="0" dirty="0">
                <a:solidFill>
                  <a:srgbClr val="333333"/>
                </a:solidFill>
                <a:effectLst/>
                <a:latin typeface="CMS"/>
              </a:rPr>
              <a:t>Variants on Long Short Term Memory</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a:xfrm>
            <a:off x="609600" y="1524882"/>
            <a:ext cx="10515600" cy="4351338"/>
          </a:xfrm>
        </p:spPr>
        <p:txBody>
          <a:bodyPr>
            <a:normAutofit/>
          </a:bodyPr>
          <a:lstStyle/>
          <a:p>
            <a:pPr algn="just">
              <a:lnSpc>
                <a:spcPct val="100000"/>
              </a:lnSpc>
            </a:pPr>
            <a:r>
              <a:rPr lang="en-US" sz="1800" dirty="0">
                <a:latin typeface="Google Sans"/>
              </a:rPr>
              <a:t>Another variation is to use coupled forget and input gates. Instead of separately deciding what to forget and what we should add new information to, we make those decisions together. We only forget when we’re going to input something in its place. We only input new values to the state when we forget something older.</a:t>
            </a:r>
          </a:p>
          <a:p>
            <a:pPr algn="just">
              <a:lnSpc>
                <a:spcPct val="100000"/>
              </a:lnSpc>
            </a:pPr>
            <a:endParaRPr lang="en-US" sz="1800" dirty="0">
              <a:latin typeface="Google Sans"/>
            </a:endParaRPr>
          </a:p>
          <a:p>
            <a:pPr marL="0" indent="0" algn="just">
              <a:lnSpc>
                <a:spcPct val="100000"/>
              </a:lnSpc>
              <a:buNone/>
            </a:pPr>
            <a:endParaRPr lang="en-US" sz="1800" dirty="0">
              <a:latin typeface="Google Sans"/>
            </a:endParaRPr>
          </a:p>
        </p:txBody>
      </p:sp>
      <p:pic>
        <p:nvPicPr>
          <p:cNvPr id="3074" name="Picture 2">
            <a:extLst>
              <a:ext uri="{FF2B5EF4-FFF2-40B4-BE49-F238E27FC236}">
                <a16:creationId xmlns:a16="http://schemas.microsoft.com/office/drawing/2014/main" id="{8DA8DBB7-95CA-A780-FD9D-27B2EB978F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637" y="3041650"/>
            <a:ext cx="9610725" cy="296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2381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CE719-1F7D-0866-21E3-CAEE04DFE214}"/>
              </a:ext>
            </a:extLst>
          </p:cNvPr>
          <p:cNvSpPr>
            <a:spLocks noGrp="1"/>
          </p:cNvSpPr>
          <p:nvPr>
            <p:ph type="title"/>
          </p:nvPr>
        </p:nvSpPr>
        <p:spPr/>
        <p:txBody>
          <a:bodyPr>
            <a:normAutofit/>
          </a:bodyPr>
          <a:lstStyle/>
          <a:p>
            <a:pPr algn="l"/>
            <a:r>
              <a:rPr lang="en-US" b="1" i="0" dirty="0">
                <a:solidFill>
                  <a:srgbClr val="333333"/>
                </a:solidFill>
                <a:effectLst/>
                <a:latin typeface="CMS"/>
              </a:rPr>
              <a:t>Gated Recurrent Unit GRU</a:t>
            </a:r>
            <a:endParaRPr lang="fr-FR" b="1" i="0" dirty="0">
              <a:solidFill>
                <a:srgbClr val="273239"/>
              </a:solidFill>
              <a:effectLst/>
              <a:latin typeface="Source Sans 3"/>
            </a:endParaRPr>
          </a:p>
        </p:txBody>
      </p:sp>
      <p:sp>
        <p:nvSpPr>
          <p:cNvPr id="4" name="Espace réservé du contenu 3">
            <a:extLst>
              <a:ext uri="{FF2B5EF4-FFF2-40B4-BE49-F238E27FC236}">
                <a16:creationId xmlns:a16="http://schemas.microsoft.com/office/drawing/2014/main" id="{F6CC0639-15F7-C66C-3F80-BFAC43AC0A20}"/>
              </a:ext>
            </a:extLst>
          </p:cNvPr>
          <p:cNvSpPr>
            <a:spLocks noGrp="1"/>
          </p:cNvSpPr>
          <p:nvPr>
            <p:ph idx="1"/>
          </p:nvPr>
        </p:nvSpPr>
        <p:spPr>
          <a:xfrm>
            <a:off x="609600" y="1524882"/>
            <a:ext cx="10515600" cy="4351338"/>
          </a:xfrm>
        </p:spPr>
        <p:txBody>
          <a:bodyPr>
            <a:normAutofit/>
          </a:bodyPr>
          <a:lstStyle/>
          <a:p>
            <a:pPr algn="just">
              <a:lnSpc>
                <a:spcPct val="100000"/>
              </a:lnSpc>
            </a:pPr>
            <a:r>
              <a:rPr lang="en-US" sz="1600" dirty="0">
                <a:latin typeface="Google Sans"/>
              </a:rPr>
              <a:t>The Gated Recurrent Unit (GRU), introduced by </a:t>
            </a:r>
            <a:r>
              <a:rPr lang="en-US" sz="1600" dirty="0">
                <a:latin typeface="Google Sans"/>
                <a:hlinkClick r:id="rId3"/>
              </a:rPr>
              <a:t>Cho et al. (2014), </a:t>
            </a:r>
            <a:r>
              <a:rPr lang="en-US" sz="1600" dirty="0">
                <a:latin typeface="Google Sans"/>
              </a:rPr>
              <a:t>simplifies the standard LSTM architecture by merging its core components:</a:t>
            </a:r>
          </a:p>
          <a:p>
            <a:pPr algn="just">
              <a:lnSpc>
                <a:spcPct val="100000"/>
              </a:lnSpc>
            </a:pPr>
            <a:r>
              <a:rPr lang="en-US" sz="1600" b="1" dirty="0">
                <a:latin typeface="Google Sans"/>
              </a:rPr>
              <a:t>Unified Update Gate</a:t>
            </a:r>
            <a:r>
              <a:rPr lang="en-US" sz="1600" dirty="0">
                <a:latin typeface="Google Sans"/>
              </a:rPr>
              <a:t>: Combines the separate forget and input gates into a single gate that simultaneously determines what to retain and what to update.</a:t>
            </a:r>
          </a:p>
          <a:p>
            <a:pPr algn="just">
              <a:lnSpc>
                <a:spcPct val="100000"/>
              </a:lnSpc>
            </a:pPr>
            <a:r>
              <a:rPr lang="en-US" sz="1600" b="1" dirty="0">
                <a:latin typeface="Google Sans"/>
              </a:rPr>
              <a:t>Merged State</a:t>
            </a:r>
            <a:r>
              <a:rPr lang="en-US" sz="1600" dirty="0">
                <a:latin typeface="Google Sans"/>
              </a:rPr>
              <a:t>: Merges the cell state (</a:t>
            </a:r>
            <a:r>
              <a:rPr lang="en-US" sz="1600" dirty="0" err="1">
                <a:latin typeface="Google Sans"/>
              </a:rPr>
              <a:t>C_t</a:t>
            </a:r>
            <a:r>
              <a:rPr lang="en-US" sz="1600" dirty="0">
                <a:latin typeface="Google Sans"/>
              </a:rPr>
              <a:t>) and hidden state (</a:t>
            </a:r>
            <a:r>
              <a:rPr lang="en-US" sz="1600" dirty="0" err="1">
                <a:latin typeface="Google Sans"/>
              </a:rPr>
              <a:t>h_t</a:t>
            </a:r>
            <a:r>
              <a:rPr lang="en-US" sz="1600" dirty="0">
                <a:latin typeface="Google Sans"/>
              </a:rPr>
              <a:t>) into a single hidden state representation.</a:t>
            </a:r>
          </a:p>
          <a:p>
            <a:pPr algn="just">
              <a:lnSpc>
                <a:spcPct val="100000"/>
              </a:lnSpc>
            </a:pPr>
            <a:r>
              <a:rPr lang="en-US" sz="1600" b="1" dirty="0">
                <a:latin typeface="Google Sans"/>
              </a:rPr>
              <a:t>Efficiency</a:t>
            </a:r>
            <a:r>
              <a:rPr lang="en-US" sz="1600" dirty="0">
                <a:latin typeface="Google Sans"/>
              </a:rPr>
              <a:t>: Eliminates internal parameters compared to the LSTM, making it computationally lighter and widely popular for sequence modeling.</a:t>
            </a:r>
          </a:p>
          <a:p>
            <a:pPr marL="0" indent="0" algn="just">
              <a:lnSpc>
                <a:spcPct val="100000"/>
              </a:lnSpc>
              <a:buNone/>
            </a:pPr>
            <a:endParaRPr lang="en-US" sz="1800" dirty="0">
              <a:latin typeface="Google Sans"/>
            </a:endParaRPr>
          </a:p>
        </p:txBody>
      </p:sp>
      <p:pic>
        <p:nvPicPr>
          <p:cNvPr id="4098" name="Picture 2" descr="A gated recurrent unit neural network.">
            <a:extLst>
              <a:ext uri="{FF2B5EF4-FFF2-40B4-BE49-F238E27FC236}">
                <a16:creationId xmlns:a16="http://schemas.microsoft.com/office/drawing/2014/main" id="{BAFFACDC-4F5F-1417-A94B-D5929A75E4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3550" y="3784600"/>
            <a:ext cx="8470664"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23619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2153</TotalTime>
  <Words>3640</Words>
  <Application>Microsoft Office PowerPoint</Application>
  <PresentationFormat>Grand écran</PresentationFormat>
  <Paragraphs>230</Paragraphs>
  <Slides>64</Slides>
  <Notes>8</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64</vt:i4>
      </vt:variant>
    </vt:vector>
  </HeadingPairs>
  <TitlesOfParts>
    <vt:vector size="75" baseType="lpstr">
      <vt:lpstr>-apple-system</vt:lpstr>
      <vt:lpstr>Arial</vt:lpstr>
      <vt:lpstr>Calibri</vt:lpstr>
      <vt:lpstr>Calibri Light</vt:lpstr>
      <vt:lpstr>Cambria Math</vt:lpstr>
      <vt:lpstr>CMS</vt:lpstr>
      <vt:lpstr>Google Sans</vt:lpstr>
      <vt:lpstr>Google Sans Text</vt:lpstr>
      <vt:lpstr>Nunito</vt:lpstr>
      <vt:lpstr>Source Sans 3</vt:lpstr>
      <vt:lpstr>Thème Office</vt:lpstr>
      <vt:lpstr>Deep Learning</vt:lpstr>
      <vt:lpstr>Machine Learning vs Deep Learning</vt:lpstr>
      <vt:lpstr>Deep Learning</vt:lpstr>
      <vt:lpstr>From Perceptron to Transformers</vt:lpstr>
      <vt:lpstr>ALEXNET </vt:lpstr>
      <vt:lpstr>RNN vs Transformers</vt:lpstr>
      <vt:lpstr>Deep Learning Applications</vt:lpstr>
      <vt:lpstr>Tools </vt:lpstr>
      <vt:lpstr>Tools </vt:lpstr>
      <vt:lpstr>Présentation PowerPoint</vt:lpstr>
      <vt:lpstr>What is Perceptron (Input/Output Layer Neural Network)?</vt:lpstr>
      <vt:lpstr>Présentation PowerPoint</vt:lpstr>
      <vt:lpstr>What is a neuron?</vt:lpstr>
      <vt:lpstr>What is Perceptron</vt:lpstr>
      <vt:lpstr>Advantages and Disadvantages of Perceptron</vt:lpstr>
      <vt:lpstr>Multi Layered Neural Network</vt:lpstr>
      <vt:lpstr>Forward propogation:</vt:lpstr>
      <vt:lpstr>Forward Propogation</vt:lpstr>
      <vt:lpstr>Backward Propogation</vt:lpstr>
      <vt:lpstr>Example of Back Propagation in Machine Learning </vt:lpstr>
      <vt:lpstr>Backward Propogation: Weight Update</vt:lpstr>
      <vt:lpstr>Backward Propogation: Chain rule of Derivatives</vt:lpstr>
      <vt:lpstr>Activation Functions</vt:lpstr>
      <vt:lpstr>The vanishing gradient problem and Sigmoid </vt:lpstr>
      <vt:lpstr>Weight Initialization Techniques for Deep Neural Networks</vt:lpstr>
      <vt:lpstr>Sigmoid Activation Function</vt:lpstr>
      <vt:lpstr>Tanh Activation Function</vt:lpstr>
      <vt:lpstr>ReLU Activation Function</vt:lpstr>
      <vt:lpstr>Leaky ReLU Activation Function</vt:lpstr>
      <vt:lpstr>ELU Activation Function</vt:lpstr>
      <vt:lpstr>Softmax Activation Function </vt:lpstr>
      <vt:lpstr>Loss Function vs Cost Function</vt:lpstr>
      <vt:lpstr>Optimizers</vt:lpstr>
      <vt:lpstr>Gradient Descent</vt:lpstr>
      <vt:lpstr>Stochastic Gradient Descent (SGD)</vt:lpstr>
      <vt:lpstr>Mini Batch Stochastic Gradient Descent (SGD)</vt:lpstr>
      <vt:lpstr>Stochastic Gradient Descent (SGD) Momentum</vt:lpstr>
      <vt:lpstr>Adaptive Gradient Descent (Adagrad)</vt:lpstr>
      <vt:lpstr>Adam (Adaptive Moment Estimation) optimizer</vt:lpstr>
      <vt:lpstr>Convolutional Neural Network (CNN) in Deep Learning</vt:lpstr>
      <vt:lpstr>Convolutional Neural Network (CNN) in Deep Learning</vt:lpstr>
      <vt:lpstr>Differentiate Between Grayscale and RGB Images</vt:lpstr>
      <vt:lpstr>Kernels (Filters) in convolutional neural network</vt:lpstr>
      <vt:lpstr>Kernels (Filters) in convolutional neural network</vt:lpstr>
      <vt:lpstr>Padding in CNNs</vt:lpstr>
      <vt:lpstr>Pooling Layer in CNN</vt:lpstr>
      <vt:lpstr>Flattering and Fuly connected layers</vt:lpstr>
      <vt:lpstr>CNN with RGB</vt:lpstr>
      <vt:lpstr>What is Sequential Data in Data Science?</vt:lpstr>
      <vt:lpstr>Types of Sequential Data</vt:lpstr>
      <vt:lpstr>Types of Sequential Data</vt:lpstr>
      <vt:lpstr>Simple Recurrent Neural Network</vt:lpstr>
      <vt:lpstr>Forward and Back Propogation in RNN</vt:lpstr>
      <vt:lpstr>Vanishing Gradient in RNN</vt:lpstr>
      <vt:lpstr>The Problem of Long-Term Dependencies</vt:lpstr>
      <vt:lpstr>LSTM Networks</vt:lpstr>
      <vt:lpstr>The Core Idea Behind LSTMs</vt:lpstr>
      <vt:lpstr>Step-by-Step LSTM Walk Through: Forget Gate</vt:lpstr>
      <vt:lpstr>Input Gate and Candidate Memory</vt:lpstr>
      <vt:lpstr>Input Gate and Candidate Memory</vt:lpstr>
      <vt:lpstr>Output Gate</vt:lpstr>
      <vt:lpstr>Variants on Long Short Term Memory</vt:lpstr>
      <vt:lpstr>Variants on Long Short Term Memory</vt:lpstr>
      <vt:lpstr>Gated Recurrent Unit GRU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dc:creator>brahim zirari</dc:creator>
  <cp:lastModifiedBy>brahim zirari</cp:lastModifiedBy>
  <cp:revision>40</cp:revision>
  <dcterms:created xsi:type="dcterms:W3CDTF">2026-08-11T21:18:45Z</dcterms:created>
  <dcterms:modified xsi:type="dcterms:W3CDTF">2026-09-08T13:39:01Z</dcterms:modified>
</cp:coreProperties>
</file>