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64" r:id="rId3"/>
    <p:sldId id="420" r:id="rId4"/>
    <p:sldId id="269" r:id="rId5"/>
    <p:sldId id="400" r:id="rId6"/>
    <p:sldId id="423" r:id="rId7"/>
    <p:sldId id="421" r:id="rId8"/>
    <p:sldId id="416" r:id="rId9"/>
    <p:sldId id="422" r:id="rId10"/>
    <p:sldId id="392" r:id="rId11"/>
    <p:sldId id="393" r:id="rId12"/>
    <p:sldId id="257" r:id="rId13"/>
    <p:sldId id="434" r:id="rId14"/>
    <p:sldId id="431" r:id="rId15"/>
    <p:sldId id="397" r:id="rId16"/>
    <p:sldId id="404" r:id="rId17"/>
    <p:sldId id="425" r:id="rId18"/>
    <p:sldId id="427" r:id="rId19"/>
    <p:sldId id="424" r:id="rId20"/>
    <p:sldId id="428" r:id="rId21"/>
    <p:sldId id="429" r:id="rId22"/>
    <p:sldId id="430" r:id="rId23"/>
    <p:sldId id="432" r:id="rId24"/>
    <p:sldId id="260" r:id="rId25"/>
    <p:sldId id="435" r:id="rId26"/>
    <p:sldId id="261" r:id="rId27"/>
    <p:sldId id="437" r:id="rId28"/>
    <p:sldId id="438" r:id="rId29"/>
    <p:sldId id="439" r:id="rId30"/>
    <p:sldId id="270" r:id="rId31"/>
    <p:sldId id="272" r:id="rId32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29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E95"/>
    <a:srgbClr val="DE9A00"/>
    <a:srgbClr val="EFDCA8"/>
    <a:srgbClr val="DED712"/>
    <a:srgbClr val="FF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660"/>
  </p:normalViewPr>
  <p:slideViewPr>
    <p:cSldViewPr showGuides="1">
      <p:cViewPr>
        <p:scale>
          <a:sx n="110" d="100"/>
          <a:sy n="110" d="100"/>
        </p:scale>
        <p:origin x="533" y="-590"/>
      </p:cViewPr>
      <p:guideLst>
        <p:guide orient="horz" pos="2224"/>
        <p:guide pos="29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for examples before revealing the cards. Trap to point out: 'predict the exam grade 0-20' is regression, 'predict pass/fail' is classification — same data, different question. Also flag that Logistic Regression is a CLASSIFIER despite its name; we'll get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39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ea typeface="SimSun" panose="02010600030101010101" pitchFamily="2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ea typeface="SimSun" panose="02010600030101010101" pitchFamily="2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ea typeface="SimSun" panose="02010600030101010101" pitchFamily="2" charset="-122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evelopers.google.com/machine-learning/crash-course/fitter/graph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2852936"/>
            <a:ext cx="7704856" cy="1790700"/>
          </a:xfrm>
        </p:spPr>
        <p:txBody>
          <a:bodyPr anchor="b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fr-FR" altLang="fr-FR" sz="4800" b="0" i="0" u="none" strike="noStrike" kern="1200" cap="none" spc="0" normalizeH="0" baseline="0" noProof="1">
                <a:solidFill>
                  <a:srgbClr val="DE9A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09: Supervised Learning</a:t>
            </a:r>
            <a:br>
              <a:rPr kumimoji="0" lang="ar-DZ" altLang="fr-FR" sz="5400" b="0" i="0" u="none" strike="noStrike" kern="1200" cap="none" spc="0" normalizeH="0" baseline="0" noProof="1">
                <a:solidFill>
                  <a:srgbClr val="DE9A00"/>
                </a:solidFill>
                <a:latin typeface="Cambria" panose="02040503050406030204" charset="0"/>
                <a:cs typeface="Simplified Arabic" panose="02020603050405020304" pitchFamily="18" charset="-78"/>
              </a:rPr>
            </a:br>
            <a:br>
              <a:rPr lang="fr-FR" altLang="en-GB" sz="2700" dirty="0">
                <a:latin typeface="Cambria" panose="02040503050406030204" charset="0"/>
                <a:cs typeface="Simplified Arabic" panose="02020603050405020304" pitchFamily="18" charset="-78"/>
              </a:rPr>
            </a:br>
            <a:br>
              <a:rPr lang="fr-FR" altLang="en-GB" sz="2700" dirty="0">
                <a:latin typeface="Cambria" panose="02040503050406030204" charset="0"/>
                <a:cs typeface="Simplified Arabic" panose="02020603050405020304" pitchFamily="18" charset="-78"/>
              </a:rPr>
            </a:br>
            <a:r>
              <a:rPr kumimoji="0" lang="ar-DZ" altLang="en-GB" sz="6600" b="1" i="1" u="none" strike="noStrike" kern="1200" cap="none" spc="0" normalizeH="0" baseline="0" noProof="1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التعلم بالإشراف</a:t>
            </a:r>
            <a:endParaRPr kumimoji="0" lang="fr-FR" altLang="en-GB" sz="2700" b="1" i="1" u="none" strike="noStrike" kern="1200" cap="none" spc="0" normalizeH="0" baseline="0" noProof="1">
              <a:solidFill>
                <a:schemeClr val="tx2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CBEF1C0-CD85-C855-8735-66DAD2A527C0}"/>
              </a:ext>
            </a:extLst>
          </p:cNvPr>
          <p:cNvSpPr txBox="1"/>
          <p:nvPr/>
        </p:nvSpPr>
        <p:spPr>
          <a:xfrm>
            <a:off x="719572" y="6165304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Data </a:t>
            </a:r>
            <a:r>
              <a:rPr lang="fr-FR" b="1" dirty="0" err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Scientist</a:t>
            </a:r>
            <a:r>
              <a:rPr lang="fr-FR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fr-FR" b="1" dirty="0" err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using</a:t>
            </a:r>
            <a:r>
              <a:rPr lang="fr-FR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Python | Jun 2026                                                    Algiers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5770" y="531495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cultures of modeling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4350" y="1337310"/>
            <a:ext cx="8298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(2001), “Statistical Modeling: The Two Cultures”  ·  Shmueli (2010), “To Explain or to Predict?”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2331720"/>
            <a:ext cx="4080510" cy="3329528"/>
          </a:xfrm>
          <a:prstGeom prst="roundRect">
            <a:avLst>
              <a:gd name="adj" fmla="val 1702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03170"/>
            <a:ext cx="35661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2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analysis</a:t>
            </a:r>
            <a:endParaRPr lang="en-US" sz="1425" dirty="0"/>
          </a:p>
          <a:p>
            <a:r>
              <a:rPr lang="en-US" sz="1425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(econometrics)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85800" y="3188970"/>
            <a:ext cx="35661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explanation &amp; causal inference — estimate β, test hypotheses</a:t>
            </a:r>
            <a:endParaRPr lang="en-US" sz="140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specified a priori from theory</a:t>
            </a:r>
            <a:endParaRPr lang="en-US" sz="140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curated samples; small-to-medium n</a:t>
            </a:r>
            <a:endParaRPr lang="en-US" sz="140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in-sample fit, diagnostics, robustness</a:t>
            </a:r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(EViews, SPSS, JASP, Stata)</a:t>
            </a:r>
            <a:endParaRPr lang="en-US" sz="140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paper or report with parameters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331720"/>
            <a:ext cx="4080510" cy="3329528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503170"/>
            <a:ext cx="35661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425" dirty="0"/>
          </a:p>
          <a:p>
            <a:r>
              <a:rPr lang="en-US" sz="14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(algorithmic culture)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4937760" y="318897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prediction &amp; decision support — minimize out-of-sample error</a:t>
            </a:r>
            <a:endParaRPr lang="en-US" sz="140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selected by validation performance</a:t>
            </a:r>
            <a:endParaRPr lang="en-US" sz="140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unstructured data; massive n and p</a:t>
            </a:r>
            <a:endParaRPr lang="en-US" sz="140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held-out test sets, cross-validation</a:t>
            </a:r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(Python, R, Julia)</a:t>
            </a:r>
            <a:endParaRPr lang="en-US" sz="1400" dirty="0"/>
          </a:p>
          <a:p>
            <a:pPr marL="257175" indent="-257175">
              <a:spcAft>
                <a:spcPts val="675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deployed model, dashboard, decision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2910" y="5942424"/>
            <a:ext cx="8298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prediction ≠ causation (Mullainathan &amp; Spiess, 2017) — and the cultures are now converging in causal ML.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611505" y="260985"/>
            <a:ext cx="76288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altLang="fr-FR" sz="40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Machine Learning Workflow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6B3311-F48C-8650-D5CA-787ADB83F4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462" b="6462"/>
          <a:stretch/>
        </p:blipFill>
        <p:spPr>
          <a:xfrm>
            <a:off x="1043608" y="747514"/>
            <a:ext cx="62103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3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4659" y="377190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steps of a data science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5780" y="1097280"/>
            <a:ext cx="82981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heritage (Shearer, 2000)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1480" y="2297430"/>
            <a:ext cx="1975104" cy="1405890"/>
          </a:xfrm>
          <a:prstGeom prst="roundRect">
            <a:avLst>
              <a:gd name="adj" fmla="val 3902"/>
            </a:avLst>
          </a:prstGeom>
          <a:solidFill>
            <a:srgbClr val="F4F7F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34590"/>
            <a:ext cx="288036" cy="288036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0874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448306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2356" y="284607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2356" y="3257550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success metric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92324" y="2297430"/>
            <a:ext cx="1975104" cy="1405890"/>
          </a:xfrm>
          <a:prstGeom prst="roundRect">
            <a:avLst>
              <a:gd name="adj" fmla="val 3902"/>
            </a:avLst>
          </a:prstGeom>
          <a:solidFill>
            <a:srgbClr val="F4F7FE"/>
          </a:solidFill>
          <a:ln/>
        </p:spPr>
      </p:sp>
      <p:sp>
        <p:nvSpPr>
          <p:cNvPr id="12" name="Shape 10"/>
          <p:cNvSpPr/>
          <p:nvPr/>
        </p:nvSpPr>
        <p:spPr>
          <a:xfrm>
            <a:off x="2729484" y="2434590"/>
            <a:ext cx="288036" cy="288036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3" name="Text 11"/>
          <p:cNvSpPr/>
          <p:nvPr/>
        </p:nvSpPr>
        <p:spPr>
          <a:xfrm>
            <a:off x="2729484" y="2420874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2444" y="2448306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84607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data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43200" y="3257550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databases, scraping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73168" y="2297430"/>
            <a:ext cx="1975104" cy="140589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4910328" y="2434590"/>
            <a:ext cx="288036" cy="2880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420874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33288" y="2448306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24044" y="284607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24044" y="3257550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54012" y="2297430"/>
            <a:ext cx="1975104" cy="1405890"/>
          </a:xfrm>
          <a:prstGeom prst="roundRect">
            <a:avLst>
              <a:gd name="adj" fmla="val 3902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22"/>
          <p:cNvSpPr/>
          <p:nvPr/>
        </p:nvSpPr>
        <p:spPr>
          <a:xfrm>
            <a:off x="7091172" y="2434590"/>
            <a:ext cx="288036" cy="288036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091172" y="2420874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14132" y="2448306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04888" y="284607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(EDA)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04888" y="3257550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statistics, distributions, correlation 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874770"/>
            <a:ext cx="1975104" cy="1405890"/>
          </a:xfrm>
          <a:prstGeom prst="roundRect">
            <a:avLst>
              <a:gd name="adj" fmla="val 3902"/>
            </a:avLst>
          </a:prstGeom>
          <a:solidFill>
            <a:srgbClr val="F4F7FE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011930"/>
            <a:ext cx="288036" cy="288036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998214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4025646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" y="442341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2356" y="4834890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pays here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92324" y="3874770"/>
            <a:ext cx="1975104" cy="1405890"/>
          </a:xfrm>
          <a:prstGeom prst="roundRect">
            <a:avLst>
              <a:gd name="adj" fmla="val 3902"/>
            </a:avLst>
          </a:prstGeom>
          <a:solidFill>
            <a:srgbClr val="F4F7FE"/>
          </a:solidFill>
          <a:ln/>
        </p:spPr>
      </p:sp>
      <p:sp>
        <p:nvSpPr>
          <p:cNvPr id="36" name="Shape 34"/>
          <p:cNvSpPr/>
          <p:nvPr/>
        </p:nvSpPr>
        <p:spPr>
          <a:xfrm>
            <a:off x="2729484" y="4011930"/>
            <a:ext cx="288036" cy="288036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37" name="Text 35"/>
          <p:cNvSpPr/>
          <p:nvPr/>
        </p:nvSpPr>
        <p:spPr>
          <a:xfrm>
            <a:off x="2729484" y="3998214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52444" y="4025646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743200" y="442341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743200" y="4834890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first, then compare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73168" y="3874770"/>
            <a:ext cx="1975104" cy="1405890"/>
          </a:xfrm>
          <a:prstGeom prst="roundRect">
            <a:avLst>
              <a:gd name="adj" fmla="val 3902"/>
            </a:avLst>
          </a:prstGeom>
          <a:solidFill>
            <a:srgbClr val="F4F7FE"/>
          </a:solidFill>
          <a:ln/>
        </p:spPr>
      </p:sp>
      <p:sp>
        <p:nvSpPr>
          <p:cNvPr id="42" name="Shape 40"/>
          <p:cNvSpPr/>
          <p:nvPr/>
        </p:nvSpPr>
        <p:spPr>
          <a:xfrm>
            <a:off x="4910328" y="4011930"/>
            <a:ext cx="288036" cy="288036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43" name="Text 41"/>
          <p:cNvSpPr/>
          <p:nvPr/>
        </p:nvSpPr>
        <p:spPr>
          <a:xfrm>
            <a:off x="4910328" y="3998214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733288" y="4025646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24044" y="442341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4044" y="4834890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vs. naive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54012" y="3874770"/>
            <a:ext cx="1975104" cy="1405890"/>
          </a:xfrm>
          <a:prstGeom prst="roundRect">
            <a:avLst>
              <a:gd name="adj" fmla="val 3902"/>
            </a:avLst>
          </a:prstGeom>
          <a:solidFill>
            <a:srgbClr val="F4F7FE"/>
          </a:solidFill>
          <a:ln/>
        </p:spPr>
      </p:sp>
      <p:sp>
        <p:nvSpPr>
          <p:cNvPr id="48" name="Shape 46"/>
          <p:cNvSpPr/>
          <p:nvPr/>
        </p:nvSpPr>
        <p:spPr>
          <a:xfrm>
            <a:off x="7091172" y="4011930"/>
            <a:ext cx="288036" cy="288036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49" name="Text 47"/>
          <p:cNvSpPr/>
          <p:nvPr/>
        </p:nvSpPr>
        <p:spPr>
          <a:xfrm>
            <a:off x="7091172" y="3998214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914132" y="4025646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104888" y="442341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&amp; deploy</a:t>
            </a: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04888" y="4834890"/>
            <a:ext cx="16802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dashboard, API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11480" y="5949280"/>
            <a:ext cx="82981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takes 30–50% of real project time — budget for it.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2267585" y="260985"/>
            <a:ext cx="482409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altLang="fr-FR" sz="3000">
                <a:solidFill>
                  <a:srgbClr val="DE9A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ML Vocabulary</a:t>
            </a:r>
          </a:p>
        </p:txBody>
      </p:sp>
      <p:graphicFrame>
        <p:nvGraphicFramePr>
          <p:cNvPr id="7" name="Table 6"/>
          <p:cNvGraphicFramePr/>
          <p:nvPr>
            <p:extLst>
              <p:ext uri="{D42A27DB-BD31-4B8C-83A1-F6EECF244321}">
                <p14:modId xmlns:p14="http://schemas.microsoft.com/office/powerpoint/2010/main" val="2271309610"/>
              </p:ext>
            </p:extLst>
          </p:nvPr>
        </p:nvGraphicFramePr>
        <p:xfrm>
          <a:off x="1372235" y="2095500"/>
          <a:ext cx="639953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9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ar-DZ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ar-DZ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 err="1"/>
                        <a:t>Rows</a:t>
                      </a:r>
                      <a:endParaRPr lang="fr-FR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 err="1"/>
                        <a:t>Features</a:t>
                      </a:r>
                      <a:endParaRPr lang="fr-FR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/>
                        <a:t>Xi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/>
                        <a:t>h(x)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/>
                        <a:t>Prediction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 err="1"/>
                        <a:t>Cost</a:t>
                      </a:r>
                      <a:r>
                        <a:rPr lang="fr-FR" altLang="en-GB" dirty="0"/>
                        <a:t>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 err="1"/>
                        <a:t>Cost</a:t>
                      </a:r>
                      <a:r>
                        <a:rPr lang="fr-FR" altLang="en-GB" dirty="0"/>
                        <a:t> </a:t>
                      </a:r>
                      <a:r>
                        <a:rPr lang="fr-FR" altLang="en-GB" dirty="0" err="1"/>
                        <a:t>function</a:t>
                      </a:r>
                      <a:endParaRPr lang="fr-FR" alt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 err="1"/>
                        <a:t>Theta</a:t>
                      </a:r>
                      <a:endParaRPr lang="fr-FR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GB" dirty="0" err="1"/>
                        <a:t>Weights</a:t>
                      </a:r>
                      <a:endParaRPr lang="fr-FR" alt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78B07-5851-5764-CA38-63DFDF1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Scikit</a:t>
            </a:r>
            <a:r>
              <a:rPr lang="fr-FR" dirty="0"/>
              <a:t> </a:t>
            </a:r>
            <a:r>
              <a:rPr lang="fr-FR" dirty="0" err="1"/>
              <a:t>Learn</a:t>
            </a:r>
            <a:endParaRPr lang="fr-FR" dirty="0"/>
          </a:p>
        </p:txBody>
      </p:sp>
      <p:pic>
        <p:nvPicPr>
          <p:cNvPr id="1026" name="Picture 2" descr="What is Sklearn? Scikit Learn in Python | Domino.ai">
            <a:extLst>
              <a:ext uri="{FF2B5EF4-FFF2-40B4-BE49-F238E27FC236}">
                <a16:creationId xmlns:a16="http://schemas.microsoft.com/office/drawing/2014/main" id="{679DD5F9-7ED7-CA9B-08B5-9753AED3FE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7" y="2515394"/>
            <a:ext cx="671512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173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31D395-D630-51E0-1AEA-CBE2DD4E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Prediction</a:t>
            </a:r>
            <a:r>
              <a:rPr lang="fr-FR" dirty="0"/>
              <a:t>?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6BFE5FA-1176-81A0-C2BC-9B95BB637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153" y="1600200"/>
            <a:ext cx="2539694" cy="4525963"/>
          </a:xfrm>
        </p:spPr>
      </p:pic>
    </p:spTree>
    <p:extLst>
      <p:ext uri="{BB962C8B-B14F-4D97-AF65-F5344CB8AC3E}">
        <p14:creationId xmlns:p14="http://schemas.microsoft.com/office/powerpoint/2010/main" val="266273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/>
          <p:cNvSpPr txBox="1"/>
          <p:nvPr/>
        </p:nvSpPr>
        <p:spPr>
          <a:xfrm>
            <a:off x="2339975" y="323215"/>
            <a:ext cx="457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914400">
              <a:lnSpc>
                <a:spcPct val="180000"/>
              </a:lnSpc>
              <a:spcBef>
                <a:spcPts val="25"/>
              </a:spcBef>
              <a:buClrTx/>
              <a:buSzTx/>
              <a:buFontTx/>
            </a:pPr>
            <a:r>
              <a:rPr lang="fr-FR" altLang="en-GB" sz="3000" b="1">
                <a:solidFill>
                  <a:srgbClr val="DE9A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Types of Data ?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211580" y="1777365"/>
            <a:ext cx="7360285" cy="326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ctr">
              <a:buFont typeface="Wingdings" panose="05000000000000000000" charset="0"/>
              <a:buChar char="ü"/>
            </a:pPr>
            <a:r>
              <a:rPr lang="fr-FR" altLang="en-GB" sz="2400" dirty="0" err="1">
                <a:solidFill>
                  <a:srgbClr val="FF0000"/>
                </a:solidFill>
                <a:latin typeface="Traditional Arabic" panose="02020603050405020304" charset="0"/>
                <a:cs typeface="Traditional Arabic" panose="02020603050405020304" charset="0"/>
              </a:rPr>
              <a:t>Structured</a:t>
            </a:r>
            <a:r>
              <a:rPr lang="fr-FR" altLang="en-GB" sz="2400" dirty="0">
                <a:solidFill>
                  <a:srgbClr val="FF0000"/>
                </a:solidFill>
                <a:latin typeface="Traditional Arabic" panose="02020603050405020304" charset="0"/>
                <a:cs typeface="Traditional Arabic" panose="02020603050405020304" charset="0"/>
              </a:rPr>
              <a:t> </a:t>
            </a:r>
            <a:r>
              <a:rPr lang="fr-FR" altLang="en-GB" sz="2400" dirty="0">
                <a:latin typeface="Traditional Arabic" panose="02020603050405020304" charset="0"/>
                <a:cs typeface="Traditional Arabic" panose="02020603050405020304" charset="0"/>
              </a:rPr>
              <a:t>and </a:t>
            </a:r>
            <a:r>
              <a:rPr lang="fr-FR" altLang="en-GB" sz="2400" dirty="0" err="1">
                <a:solidFill>
                  <a:schemeClr val="accent1">
                    <a:lumMod val="75000"/>
                  </a:schemeClr>
                </a:solidFill>
                <a:latin typeface="Traditional Arabic" panose="02020603050405020304" charset="0"/>
                <a:cs typeface="Traditional Arabic" panose="02020603050405020304" charset="0"/>
              </a:rPr>
              <a:t>Unstructured</a:t>
            </a:r>
            <a:r>
              <a:rPr lang="fr-FR" altLang="en-GB" sz="2400" dirty="0">
                <a:solidFill>
                  <a:schemeClr val="accent1">
                    <a:lumMod val="75000"/>
                  </a:schemeClr>
                </a:solidFill>
                <a:latin typeface="Traditional Arabic" panose="02020603050405020304" charset="0"/>
                <a:cs typeface="Traditional Arabic" panose="02020603050405020304" charset="0"/>
              </a:rPr>
              <a:t> </a:t>
            </a:r>
            <a:r>
              <a:rPr lang="fr-FR" altLang="en-GB" sz="2400" dirty="0">
                <a:latin typeface="Traditional Arabic" panose="02020603050405020304" charset="0"/>
                <a:cs typeface="Traditional Arabic" panose="02020603050405020304" charset="0"/>
              </a:rPr>
              <a:t>data </a:t>
            </a:r>
          </a:p>
          <a:p>
            <a:pPr algn="ctr"/>
            <a:r>
              <a:rPr lang="fr-FR" altLang="en-GB" sz="2400" dirty="0">
                <a:latin typeface="Traditional Arabic" panose="02020603050405020304" charset="0"/>
                <a:cs typeface="Traditional Arabic" panose="02020603050405020304" charset="0"/>
              </a:rPr>
              <a:t>(</a:t>
            </a:r>
            <a:r>
              <a:rPr lang="ar-DZ" altLang="fr-FR" sz="2400" dirty="0">
                <a:latin typeface="Traditional Arabic" panose="02020603050405020304" charset="0"/>
                <a:cs typeface="Traditional Arabic" panose="02020603050405020304" charset="0"/>
              </a:rPr>
              <a:t>(</a:t>
            </a:r>
            <a:r>
              <a:rPr lang="ar-DZ" altLang="en-GB" sz="2400" dirty="0">
                <a:latin typeface="Traditional Arabic" panose="02020603050405020304" charset="0"/>
                <a:cs typeface="Traditional Arabic" panose="02020603050405020304" charset="0"/>
              </a:rPr>
              <a:t>بيانات </a:t>
            </a:r>
            <a:r>
              <a:rPr lang="ar-DZ" altLang="en-GB" sz="2400" dirty="0">
                <a:solidFill>
                  <a:srgbClr val="FF0000"/>
                </a:solidFill>
                <a:latin typeface="Traditional Arabic" panose="02020603050405020304" charset="0"/>
                <a:cs typeface="Traditional Arabic" panose="02020603050405020304" charset="0"/>
              </a:rPr>
              <a:t>هيكلية </a:t>
            </a:r>
            <a:r>
              <a:rPr lang="ar-DZ" altLang="en-GB" sz="2400" dirty="0">
                <a:latin typeface="Traditional Arabic" panose="02020603050405020304" charset="0"/>
                <a:cs typeface="Traditional Arabic" panose="02020603050405020304" charset="0"/>
              </a:rPr>
              <a:t>و بيانات </a:t>
            </a:r>
            <a:r>
              <a:rPr lang="ar-DZ" altLang="en-GB" sz="2400" dirty="0">
                <a:solidFill>
                  <a:schemeClr val="accent1">
                    <a:lumMod val="75000"/>
                  </a:schemeClr>
                </a:solidFill>
                <a:latin typeface="Traditional Arabic" panose="02020603050405020304" charset="0"/>
                <a:cs typeface="Traditional Arabic" panose="02020603050405020304" charset="0"/>
              </a:rPr>
              <a:t>غير هيكلية</a:t>
            </a:r>
            <a:endParaRPr lang="fr-FR" altLang="en-GB" sz="2400" dirty="0">
              <a:solidFill>
                <a:schemeClr val="accent1">
                  <a:lumMod val="75000"/>
                </a:schemeClr>
              </a:solidFill>
              <a:latin typeface="Traditional Arabic" panose="02020603050405020304" charset="0"/>
              <a:cs typeface="Traditional Arabic" panose="02020603050405020304" charset="0"/>
            </a:endParaRPr>
          </a:p>
          <a:p>
            <a:pPr algn="ctr"/>
            <a:endParaRPr lang="ar-DZ" altLang="en-GB" sz="2400" dirty="0">
              <a:latin typeface="Traditional Arabic" panose="02020603050405020304" charset="0"/>
              <a:cs typeface="Traditional Arabic" panose="02020603050405020304" charset="0"/>
            </a:endParaRPr>
          </a:p>
          <a:p>
            <a:pPr marL="285750" indent="-285750" algn="ctr">
              <a:buFont typeface="Wingdings" panose="05000000000000000000" charset="0"/>
              <a:buChar char="ü"/>
            </a:pPr>
            <a:r>
              <a:rPr lang="fr-FR" altLang="ar-DZ" sz="2400" dirty="0" err="1">
                <a:solidFill>
                  <a:schemeClr val="accent2">
                    <a:lumMod val="75000"/>
                  </a:schemeClr>
                </a:solidFill>
                <a:latin typeface="Traditional Arabic" panose="02020603050405020304" charset="0"/>
                <a:cs typeface="Traditional Arabic" panose="02020603050405020304" charset="0"/>
              </a:rPr>
              <a:t>Labeled</a:t>
            </a:r>
            <a:r>
              <a:rPr lang="fr-FR" altLang="ar-DZ" sz="2400" dirty="0">
                <a:solidFill>
                  <a:schemeClr val="accent2">
                    <a:lumMod val="75000"/>
                  </a:schemeClr>
                </a:solidFill>
                <a:latin typeface="Traditional Arabic" panose="02020603050405020304" charset="0"/>
                <a:cs typeface="Traditional Arabic" panose="02020603050405020304" charset="0"/>
              </a:rPr>
              <a:t> </a:t>
            </a:r>
            <a:r>
              <a:rPr lang="fr-FR" altLang="ar-DZ" sz="2400" dirty="0">
                <a:latin typeface="Traditional Arabic" panose="02020603050405020304" charset="0"/>
                <a:cs typeface="Traditional Arabic" panose="02020603050405020304" charset="0"/>
              </a:rPr>
              <a:t>and </a:t>
            </a:r>
            <a:r>
              <a:rPr lang="fr-FR" altLang="ar-DZ" sz="2400" b="1" dirty="0" err="1">
                <a:latin typeface="Traditional Arabic" panose="02020603050405020304" charset="0"/>
                <a:cs typeface="Traditional Arabic" panose="02020603050405020304" charset="0"/>
              </a:rPr>
              <a:t>Unlabeled</a:t>
            </a:r>
            <a:r>
              <a:rPr lang="fr-FR" altLang="ar-DZ" sz="2400" b="1" dirty="0">
                <a:latin typeface="Traditional Arabic" panose="02020603050405020304" charset="0"/>
                <a:cs typeface="Traditional Arabic" panose="02020603050405020304" charset="0"/>
              </a:rPr>
              <a:t> data</a:t>
            </a:r>
            <a:endParaRPr lang="fr-FR" altLang="ar-DZ" sz="2400" dirty="0">
              <a:latin typeface="Traditional Arabic" panose="02020603050405020304" charset="0"/>
              <a:cs typeface="Traditional Arabic" panose="02020603050405020304" charset="0"/>
            </a:endParaRPr>
          </a:p>
          <a:p>
            <a:pPr algn="ctr">
              <a:buFont typeface="Wingdings" panose="05000000000000000000" charset="0"/>
            </a:pPr>
            <a:r>
              <a:rPr lang="ar-DZ" altLang="ar-DZ" sz="2400" dirty="0">
                <a:solidFill>
                  <a:schemeClr val="accent2">
                    <a:lumMod val="75000"/>
                  </a:schemeClr>
                </a:solidFill>
                <a:latin typeface="Traditional Arabic" panose="02020603050405020304" charset="0"/>
                <a:cs typeface="Traditional Arabic" panose="02020603050405020304" charset="0"/>
              </a:rPr>
              <a:t>بيانات تحتوي على مدخلات و مخرجات</a:t>
            </a:r>
            <a:r>
              <a:rPr lang="ar-DZ" altLang="ar-DZ" sz="2400" dirty="0">
                <a:latin typeface="Traditional Arabic" panose="02020603050405020304" charset="0"/>
                <a:cs typeface="Traditional Arabic" panose="02020603050405020304" charset="0"/>
              </a:rPr>
              <a:t> و </a:t>
            </a:r>
            <a:r>
              <a:rPr lang="ar-DZ" altLang="ar-DZ" sz="2400" b="1" dirty="0">
                <a:latin typeface="Traditional Arabic" panose="02020603050405020304" charset="0"/>
                <a:cs typeface="Traditional Arabic" panose="02020603050405020304" charset="0"/>
              </a:rPr>
              <a:t>بيانات تحتوي على مدخلات فقط</a:t>
            </a:r>
            <a:endParaRPr lang="fr-FR" altLang="ar-DZ" sz="2400" b="1" dirty="0">
              <a:latin typeface="Traditional Arabic" panose="02020603050405020304" charset="0"/>
              <a:cs typeface="Traditional Arabic" panose="02020603050405020304" charset="0"/>
            </a:endParaRPr>
          </a:p>
          <a:p>
            <a:pPr algn="ctr">
              <a:buFont typeface="Wingdings" panose="05000000000000000000" charset="0"/>
            </a:pPr>
            <a:endParaRPr lang="ar-DZ" altLang="ar-DZ" sz="2400" dirty="0">
              <a:latin typeface="Traditional Arabic" panose="02020603050405020304" charset="0"/>
              <a:cs typeface="Traditional Arabic" panose="02020603050405020304" charset="0"/>
            </a:endParaRPr>
          </a:p>
          <a:p>
            <a:pPr marL="285750" indent="-285750" algn="ctr">
              <a:buFont typeface="Wingdings" panose="05000000000000000000" charset="0"/>
              <a:buChar char="ü"/>
            </a:pPr>
            <a:r>
              <a:rPr lang="fr-FR" altLang="ar-DZ" sz="2400" dirty="0">
                <a:solidFill>
                  <a:srgbClr val="00B050"/>
                </a:solidFill>
                <a:latin typeface="Traditional Arabic" panose="02020603050405020304" charset="0"/>
                <a:cs typeface="Traditional Arabic" panose="02020603050405020304" charset="0"/>
              </a:rPr>
              <a:t>Training data</a:t>
            </a:r>
            <a:r>
              <a:rPr lang="fr-FR" altLang="ar-DZ" sz="2400" dirty="0">
                <a:latin typeface="Traditional Arabic" panose="02020603050405020304" charset="0"/>
                <a:cs typeface="Traditional Arabic" panose="02020603050405020304" charset="0"/>
              </a:rPr>
              <a:t> and </a:t>
            </a:r>
            <a:r>
              <a:rPr lang="fr-FR" altLang="ar-DZ" sz="2400" dirty="0" err="1">
                <a:solidFill>
                  <a:srgbClr val="7030A0"/>
                </a:solidFill>
                <a:latin typeface="Traditional Arabic" panose="02020603050405020304" charset="0"/>
                <a:cs typeface="Traditional Arabic" panose="02020603050405020304" charset="0"/>
              </a:rPr>
              <a:t>Testing</a:t>
            </a:r>
            <a:r>
              <a:rPr lang="fr-FR" altLang="ar-DZ" sz="2400" dirty="0">
                <a:solidFill>
                  <a:srgbClr val="7030A0"/>
                </a:solidFill>
                <a:latin typeface="Traditional Arabic" panose="02020603050405020304" charset="0"/>
                <a:cs typeface="Traditional Arabic" panose="02020603050405020304" charset="0"/>
              </a:rPr>
              <a:t> data</a:t>
            </a:r>
          </a:p>
          <a:p>
            <a:pPr algn="ctr">
              <a:buFont typeface="Wingdings" panose="05000000000000000000" charset="0"/>
            </a:pPr>
            <a:r>
              <a:rPr lang="ar-DZ" altLang="ar-DZ" sz="2400" dirty="0">
                <a:solidFill>
                  <a:srgbClr val="00B050"/>
                </a:solidFill>
                <a:latin typeface="Traditional Arabic" panose="02020603050405020304" charset="0"/>
                <a:cs typeface="Traditional Arabic" panose="02020603050405020304" charset="0"/>
              </a:rPr>
              <a:t>بيانات التدريب </a:t>
            </a:r>
            <a:r>
              <a:rPr lang="ar-DZ" altLang="ar-DZ" sz="2400" dirty="0">
                <a:latin typeface="Traditional Arabic" panose="02020603050405020304" charset="0"/>
                <a:cs typeface="Traditional Arabic" panose="02020603050405020304" charset="0"/>
              </a:rPr>
              <a:t>و تستعمل لبناء الخوارزمية، أما </a:t>
            </a:r>
            <a:r>
              <a:rPr lang="ar-DZ" altLang="ar-DZ" sz="2400" dirty="0">
                <a:solidFill>
                  <a:srgbClr val="7030A0"/>
                </a:solidFill>
                <a:latin typeface="Traditional Arabic" panose="02020603050405020304" charset="0"/>
                <a:cs typeface="Traditional Arabic" panose="02020603050405020304" charset="0"/>
              </a:rPr>
              <a:t>بيانات التقييم</a:t>
            </a:r>
            <a:r>
              <a:rPr lang="ar-DZ" altLang="ar-DZ" sz="2400" dirty="0">
                <a:latin typeface="Traditional Arabic" panose="02020603050405020304" charset="0"/>
                <a:cs typeface="Traditional Arabic" panose="02020603050405020304" charset="0"/>
              </a:rPr>
              <a:t> فتكون بغية اختبار مدى نجاح الخوارزمية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E2674-6B50-2DAB-293D-1EC21FBE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Train and Test (Split </a:t>
            </a:r>
            <a:r>
              <a:rPr lang="fr-FR" dirty="0" err="1"/>
              <a:t>Function</a:t>
            </a:r>
            <a:r>
              <a:rPr lang="fr-FR" dirty="0"/>
              <a:t>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9A97134-275E-ABD7-A05C-B68D0A82C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5" y="2024856"/>
            <a:ext cx="6534150" cy="3676650"/>
          </a:xfrm>
        </p:spPr>
      </p:pic>
    </p:spTree>
    <p:extLst>
      <p:ext uri="{BB962C8B-B14F-4D97-AF65-F5344CB8AC3E}">
        <p14:creationId xmlns:p14="http://schemas.microsoft.com/office/powerpoint/2010/main" val="428671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2267585" y="260985"/>
            <a:ext cx="482409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altLang="fr-FR" sz="3000">
                <a:solidFill>
                  <a:srgbClr val="DE9A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Machine Learning Models</a:t>
            </a:r>
          </a:p>
        </p:txBody>
      </p:sp>
      <p:pic>
        <p:nvPicPr>
          <p:cNvPr id="11" name="Picture 10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195" y="1771650"/>
            <a:ext cx="6696075" cy="3314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2267585" y="260985"/>
            <a:ext cx="482409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altLang="fr-FR" sz="3000" b="1" u="sng" dirty="0" err="1">
                <a:solidFill>
                  <a:srgbClr val="DE9A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Supervised</a:t>
            </a:r>
            <a:r>
              <a:rPr lang="fr-FR" altLang="fr-FR" sz="3000" b="1" u="sng" dirty="0">
                <a:solidFill>
                  <a:srgbClr val="DE9A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 Learning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619672" y="2204864"/>
            <a:ext cx="1899285" cy="15716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GB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fr-FR" altLang="en-GB">
              <a:solidFill>
                <a:schemeClr val="tx1"/>
              </a:solidFill>
            </a:endParaRPr>
          </a:p>
          <a:p>
            <a:pPr algn="ctr"/>
            <a:endParaRPr lang="fr-FR" altLang="en-GB">
              <a:solidFill>
                <a:schemeClr val="tx1"/>
              </a:solidFill>
            </a:endParaRPr>
          </a:p>
          <a:p>
            <a:pPr algn="ctr"/>
            <a:r>
              <a:rPr lang="fr-FR" altLang="en-GB">
                <a:solidFill>
                  <a:srgbClr val="FF0000"/>
                </a:solidFill>
              </a:rPr>
              <a:t>Labeled data</a:t>
            </a:r>
          </a:p>
          <a:p>
            <a:pPr algn="ctr"/>
            <a:endParaRPr lang="fr-FR" altLang="en-GB">
              <a:solidFill>
                <a:schemeClr val="tx1"/>
              </a:solidFill>
            </a:endParaRPr>
          </a:p>
          <a:p>
            <a:pPr algn="ctr"/>
            <a:r>
              <a:rPr lang="fr-FR" altLang="en-GB" b="1">
                <a:solidFill>
                  <a:srgbClr val="0070C0"/>
                </a:solidFill>
              </a:rPr>
              <a:t>Quantitative</a:t>
            </a:r>
          </a:p>
          <a:p>
            <a:pPr algn="ctr"/>
            <a:r>
              <a:rPr lang="fr-FR" altLang="en-GB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0152" y="3072765"/>
            <a:ext cx="1899285" cy="162496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GB">
              <a:solidFill>
                <a:schemeClr val="tx1"/>
              </a:solidFill>
            </a:endParaRPr>
          </a:p>
          <a:p>
            <a:pPr algn="ctr"/>
            <a:r>
              <a:rPr lang="fr-FR" altLang="en-GB" b="1">
                <a:solidFill>
                  <a:schemeClr val="tx1"/>
                </a:solidFill>
              </a:rPr>
              <a:t>Classification</a:t>
            </a:r>
          </a:p>
          <a:p>
            <a:pPr algn="ctr"/>
            <a:endParaRPr lang="fr-FR" altLang="en-GB">
              <a:solidFill>
                <a:schemeClr val="tx1"/>
              </a:solidFill>
            </a:endParaRPr>
          </a:p>
          <a:p>
            <a:pPr algn="ctr"/>
            <a:r>
              <a:rPr lang="fr-FR" altLang="en-GB">
                <a:solidFill>
                  <a:srgbClr val="FF0000"/>
                </a:solidFill>
              </a:rPr>
              <a:t>Labeled data</a:t>
            </a:r>
          </a:p>
          <a:p>
            <a:pPr algn="ctr"/>
            <a:endParaRPr lang="fr-FR" altLang="en-GB">
              <a:solidFill>
                <a:schemeClr val="tx1"/>
              </a:solidFill>
            </a:endParaRPr>
          </a:p>
          <a:p>
            <a:pPr algn="ctr"/>
            <a:r>
              <a:rPr lang="fr-FR" altLang="en-GB" sz="1800" b="1">
                <a:solidFill>
                  <a:srgbClr val="0070C0"/>
                </a:solidFill>
              </a:rPr>
              <a:t>Categorical</a:t>
            </a:r>
          </a:p>
          <a:p>
            <a:pPr algn="ctr"/>
            <a:r>
              <a:rPr lang="fr-FR" altLang="en-GB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fr-FR" altLang="en-GB">
              <a:solidFill>
                <a:schemeClr val="tx1"/>
              </a:solidFill>
            </a:endParaRPr>
          </a:p>
          <a:p>
            <a:pPr algn="ctr"/>
            <a:endParaRPr lang="fr-FR" altLang="en-GB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7190" y="1145286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275070" y="1213866"/>
            <a:ext cx="248945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b="1" kern="0" spc="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863" dirty="0"/>
          </a:p>
        </p:txBody>
      </p:sp>
      <p:sp>
        <p:nvSpPr>
          <p:cNvPr id="7" name="Text 5"/>
          <p:cNvSpPr/>
          <p:nvPr/>
        </p:nvSpPr>
        <p:spPr>
          <a:xfrm>
            <a:off x="388620" y="912114"/>
            <a:ext cx="8366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E8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= we train on examples where the correct answer (the label) is already known. The only thing that changes between the two families is what kind of answer we want back.</a:t>
            </a:r>
            <a:endParaRPr lang="en-US" sz="2000" dirty="0"/>
          </a:p>
        </p:txBody>
      </p:sp>
      <p:pic>
        <p:nvPicPr>
          <p:cNvPr id="8" name="Image 0" descr="/sessions/bold-zealous-bell/mnt/outputs/figs/01_reg_vs_c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97" y="2420888"/>
            <a:ext cx="8332136" cy="31341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EE28EC9-B721-9437-A7E7-EE2CC60C9C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9" b="8639"/>
          <a:stretch/>
        </p:blipFill>
        <p:spPr>
          <a:xfrm>
            <a:off x="899592" y="25733"/>
            <a:ext cx="6984776" cy="660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107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2239F08-213B-9EB6-B3CF-4196AE85542E}"/>
              </a:ext>
            </a:extLst>
          </p:cNvPr>
          <p:cNvSpPr txBox="1"/>
          <p:nvPr/>
        </p:nvSpPr>
        <p:spPr>
          <a:xfrm>
            <a:off x="1187624" y="2204864"/>
            <a:ext cx="6912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fr-FR" sz="5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681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2267585" y="260985"/>
            <a:ext cx="4824095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altLang="fr-FR" sz="3000" dirty="0" err="1">
                <a:solidFill>
                  <a:srgbClr val="DE9A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Regression</a:t>
            </a:r>
            <a:r>
              <a:rPr lang="fr-FR" altLang="fr-FR" sz="3000" dirty="0">
                <a:solidFill>
                  <a:srgbClr val="DE9A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 : 1. Gradient </a:t>
            </a:r>
            <a:r>
              <a:rPr lang="fr-FR" altLang="fr-FR" sz="3000" dirty="0" err="1">
                <a:solidFill>
                  <a:srgbClr val="DE9A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Descent</a:t>
            </a:r>
            <a:endParaRPr lang="fr-FR" altLang="fr-FR" sz="3000" dirty="0">
              <a:solidFill>
                <a:srgbClr val="DE9A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Picture 1" descr="1_tQTcGTLZqnI5rp3JYO_4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1285"/>
            <a:ext cx="9143365" cy="40754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611505" y="260985"/>
            <a:ext cx="762889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altLang="fr-FR" sz="40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How </a:t>
            </a:r>
            <a:r>
              <a:rPr lang="fr-FR" altLang="fr-FR" sz="40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does</a:t>
            </a:r>
            <a:r>
              <a:rPr lang="fr-FR" altLang="fr-FR" sz="40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 </a:t>
            </a:r>
            <a:r>
              <a:rPr lang="fr-FR" altLang="fr-FR" sz="40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it</a:t>
            </a:r>
            <a:r>
              <a:rPr lang="fr-FR" altLang="fr-FR" sz="40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 </a:t>
            </a:r>
            <a:r>
              <a:rPr lang="fr-FR" altLang="fr-FR" sz="40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work</a:t>
            </a:r>
            <a:r>
              <a:rPr lang="fr-FR" altLang="fr-FR" sz="40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?</a:t>
            </a:r>
            <a:endParaRPr lang="ar-DZ" altLang="fr-FR" sz="4000" dirty="0">
              <a:solidFill>
                <a:srgbClr val="DE9A00"/>
              </a:solidFill>
              <a:latin typeface="Cambria" panose="02040503050406030204" charset="0"/>
              <a:ea typeface="+mj-ea"/>
              <a:cs typeface="Cambria" panose="02040503050406030204" charset="0"/>
              <a:sym typeface="+mn-ea"/>
            </a:endParaRPr>
          </a:p>
        </p:txBody>
      </p:sp>
      <p:pic>
        <p:nvPicPr>
          <p:cNvPr id="3" name="Picture 2" descr="img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32" y="1772816"/>
            <a:ext cx="7607935" cy="40252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1259632" y="332656"/>
            <a:ext cx="6984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en-US" dirty="0"/>
              <a:t>Regression: 2. KNN algorithm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0BE5A6A-D945-11DF-10ED-815F8AD596E0}"/>
              </a:ext>
            </a:extLst>
          </p:cNvPr>
          <p:cNvSpPr txBox="1"/>
          <p:nvPr/>
        </p:nvSpPr>
        <p:spPr>
          <a:xfrm>
            <a:off x="467544" y="1080040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Step 1: Selecting the optimal value of K;</a:t>
            </a:r>
          </a:p>
          <a:p>
            <a:pPr algn="just"/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2: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distance;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Step 3: Finding Nearest Neighbors;</a:t>
            </a:r>
          </a:p>
          <a:p>
            <a:pPr algn="l" fontAlgn="base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Step 4: Taking Average for Regression.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3BDEFA1-85D1-8D2E-7A27-E83148296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40" y="3356992"/>
            <a:ext cx="7329059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03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1259632" y="332656"/>
            <a:ext cx="6984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pPr algn="ctr"/>
            <a:r>
              <a:rPr lang="fr-FR" alt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How </a:t>
            </a:r>
            <a:r>
              <a:rPr lang="fr-FR" alt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does</a:t>
            </a:r>
            <a:r>
              <a:rPr lang="fr-FR" alt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 </a:t>
            </a:r>
            <a:r>
              <a:rPr lang="fr-FR" alt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it</a:t>
            </a:r>
            <a:r>
              <a:rPr lang="fr-FR" alt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 </a:t>
            </a:r>
            <a:r>
              <a:rPr lang="fr-FR" alt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work</a:t>
            </a:r>
            <a:r>
              <a:rPr lang="fr-FR" alt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?</a:t>
            </a:r>
            <a:endParaRPr lang="ar-DZ" altLang="fr-FR" sz="3200" dirty="0">
              <a:solidFill>
                <a:srgbClr val="DE9A00"/>
              </a:solidFill>
              <a:latin typeface="Cambria" panose="02040503050406030204" charset="0"/>
              <a:ea typeface="+mj-ea"/>
              <a:cs typeface="Cambria" panose="02040503050406030204" charset="0"/>
              <a:sym typeface="+mn-ea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D4F553B-755B-A812-5F36-182F02DE1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802463"/>
            <a:ext cx="6408712" cy="282565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EBC5B62-3666-86AE-61F0-A2E8079B2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037" y="1017468"/>
            <a:ext cx="4776056" cy="266590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2ADAFD0-446D-6CAC-3A92-C249AE3E39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54" y="1272245"/>
            <a:ext cx="3798676" cy="236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90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CE93D2-DEB7-747D-3D90-EDD0A719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cs typeface="+mn-cs"/>
              </a:rPr>
              <a:t>Regression</a:t>
            </a:r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cs typeface="+mn-cs"/>
              </a:rPr>
              <a:t> : 3. Ridge and Lasso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7F0C48-5A1F-98C1-2AAB-CA3B1FC3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01FEE78-E203-A04C-B9DA-701898B17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88" y="1340768"/>
            <a:ext cx="8388424" cy="471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95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286000" y="332656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fr-FR" dirty="0"/>
              <a:t>How to correct </a:t>
            </a:r>
            <a:r>
              <a:rPr lang="fr-FR" dirty="0" err="1"/>
              <a:t>overfitting</a:t>
            </a:r>
            <a:r>
              <a:rPr lang="fr-FR" dirty="0"/>
              <a:t>?</a:t>
            </a:r>
            <a:endParaRPr lang="en-GB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2198534-8F80-7C8E-55D3-0BB3FE0CE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05" y="1772816"/>
            <a:ext cx="8557970" cy="194732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D09CF89-5159-E394-D327-F12920978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69" y="4365104"/>
            <a:ext cx="8906642" cy="177863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DF79AA7-1E16-D7DD-D28F-50ADF58AB50D}"/>
              </a:ext>
            </a:extLst>
          </p:cNvPr>
          <p:cNvSpPr txBox="1"/>
          <p:nvPr/>
        </p:nvSpPr>
        <p:spPr>
          <a:xfrm>
            <a:off x="683568" y="149333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Lasso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20AB094-F801-7E15-F8ED-FC937E062071}"/>
              </a:ext>
            </a:extLst>
          </p:cNvPr>
          <p:cNvSpPr txBox="1"/>
          <p:nvPr/>
        </p:nvSpPr>
        <p:spPr>
          <a:xfrm>
            <a:off x="670273" y="399577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Ridge</a:t>
            </a:r>
          </a:p>
        </p:txBody>
      </p:sp>
    </p:spTree>
    <p:extLst>
      <p:ext uri="{BB962C8B-B14F-4D97-AF65-F5344CB8AC3E}">
        <p14:creationId xmlns:p14="http://schemas.microsoft.com/office/powerpoint/2010/main" val="1883046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286000" y="332656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fr-FR" dirty="0"/>
              <a:t>How to correct </a:t>
            </a:r>
            <a:r>
              <a:rPr lang="fr-FR" dirty="0" err="1"/>
              <a:t>underfitting</a:t>
            </a:r>
            <a:r>
              <a:rPr lang="fr-FR" dirty="0"/>
              <a:t>?</a:t>
            </a:r>
            <a:endParaRPr lang="en-GB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45264E8-8B43-B6F6-3896-59D9FA0A4196}"/>
              </a:ext>
            </a:extLst>
          </p:cNvPr>
          <p:cNvSpPr txBox="1"/>
          <p:nvPr/>
        </p:nvSpPr>
        <p:spPr>
          <a:xfrm>
            <a:off x="899592" y="191683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Optimize</a:t>
            </a:r>
            <a:r>
              <a:rPr lang="fr-FR" dirty="0"/>
              <a:t> </a:t>
            </a:r>
            <a:r>
              <a:rPr lang="fr-FR" dirty="0" err="1"/>
              <a:t>Hyperparameters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Clean </a:t>
            </a:r>
            <a:r>
              <a:rPr lang="fr-FR" dirty="0" err="1"/>
              <a:t>your</a:t>
            </a:r>
            <a:r>
              <a:rPr lang="fr-FR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Features</a:t>
            </a:r>
            <a:r>
              <a:rPr lang="fr-FR" dirty="0"/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3554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02057-1536-F1E3-A6E2-87EC8BB1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cs typeface="+mn-cs"/>
              </a:rPr>
              <a:t>Validation</a:t>
            </a:r>
            <a:r>
              <a:rPr lang="fr-FR" dirty="0"/>
              <a:t>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cs typeface="+mn-cs"/>
              </a:rPr>
              <a:t>Metrics</a:t>
            </a:r>
            <a:endParaRPr lang="fr-FR" sz="3200" dirty="0">
              <a:solidFill>
                <a:srgbClr val="DE9A00"/>
              </a:solidFill>
              <a:latin typeface="Cambria" panose="02040503050406030204" charset="0"/>
              <a:cs typeface="+mn-cs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922E6BF9-854D-1F7B-5BC2-BC1A7C1F03F8}"/>
              </a:ext>
            </a:extLst>
          </p:cNvPr>
          <p:cNvSpPr/>
          <p:nvPr/>
        </p:nvSpPr>
        <p:spPr>
          <a:xfrm>
            <a:off x="899592" y="2267712"/>
            <a:ext cx="6086528" cy="2687984"/>
          </a:xfrm>
          <a:prstGeom prst="roundRect">
            <a:avLst>
              <a:gd name="adj" fmla="val 6173"/>
            </a:avLst>
          </a:prstGeom>
          <a:solidFill>
            <a:srgbClr val="E8F2F4"/>
          </a:solidFill>
          <a:ln w="9525">
            <a:solidFill>
              <a:srgbClr val="DCE5E8"/>
            </a:solidFill>
            <a:prstDash val="solid"/>
          </a:ln>
        </p:spPr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88F405-1529-271B-233B-BAFC7E5ABB27}"/>
              </a:ext>
            </a:extLst>
          </p:cNvPr>
          <p:cNvSpPr txBox="1"/>
          <p:nvPr/>
        </p:nvSpPr>
        <p:spPr>
          <a:xfrm>
            <a:off x="1943708" y="3150039"/>
            <a:ext cx="52565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RMSE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 </a:t>
            </a:r>
            <a:r>
              <a:rPr lang="fr-FR" dirty="0" err="1"/>
              <a:t>squared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7288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2239F08-213B-9EB6-B3CF-4196AE85542E}"/>
              </a:ext>
            </a:extLst>
          </p:cNvPr>
          <p:cNvSpPr txBox="1"/>
          <p:nvPr/>
        </p:nvSpPr>
        <p:spPr>
          <a:xfrm>
            <a:off x="1187624" y="2204864"/>
            <a:ext cx="6912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i="1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fr-FR" sz="5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702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195830" y="260648"/>
            <a:ext cx="457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Classification : 1.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Logistic</a:t>
            </a:r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Regression</a:t>
            </a:r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 (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Binary</a:t>
            </a:r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 Classification)</a:t>
            </a:r>
          </a:p>
          <a:p>
            <a:pPr algn="ctr"/>
            <a:endParaRPr lang="fr-FR" sz="32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85F10D3-6EF4-96CD-F7F0-B200D2DD2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30308"/>
            <a:ext cx="8460432" cy="388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89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1691680" y="332656"/>
            <a:ext cx="62646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Classification : 2.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Decision</a:t>
            </a:r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Tree</a:t>
            </a:r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74A5F1-5472-65FD-EC31-3B422B0B2DD5}"/>
              </a:ext>
            </a:extLst>
          </p:cNvPr>
          <p:cNvSpPr txBox="1"/>
          <p:nvPr/>
        </p:nvSpPr>
        <p:spPr>
          <a:xfrm>
            <a:off x="827584" y="1052736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en-US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Decision Trees (DTs) are a non-parametric supervised learning method used for classification and regression. The goal is to create a model that predicts the value of a target variable by learning simple decision rules inferred from the data features. 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E412AFC-F22F-30E0-C046-49ED77906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924944"/>
            <a:ext cx="5796136" cy="34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4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1700808" y="346602"/>
            <a:ext cx="5742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fr-FR" dirty="0" err="1"/>
              <a:t>Componenets</a:t>
            </a:r>
            <a:r>
              <a:rPr lang="fr-FR" dirty="0"/>
              <a:t> of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74A5F1-5472-65FD-EC31-3B422B0B2DD5}"/>
              </a:ext>
            </a:extLst>
          </p:cNvPr>
          <p:cNvSpPr txBox="1"/>
          <p:nvPr/>
        </p:nvSpPr>
        <p:spPr>
          <a:xfrm>
            <a:off x="827584" y="1052736"/>
            <a:ext cx="7488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0" fontAlgn="base">
              <a:buFont typeface="+mj-lt"/>
              <a:buAutoNum type="arabicPeriod"/>
            </a:pPr>
            <a:r>
              <a:rPr lang="en-US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Root Node</a:t>
            </a:r>
            <a:r>
              <a:rPr lang="en-US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Starting point representing the whole dataset.</a:t>
            </a:r>
          </a:p>
          <a:p>
            <a:pPr marL="342900" indent="-342900" algn="just" rtl="0" fontAlgn="base">
              <a:buFont typeface="+mj-lt"/>
              <a:buAutoNum type="arabicPeriod"/>
            </a:pPr>
            <a:r>
              <a:rPr lang="en-US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Branches</a:t>
            </a:r>
            <a:r>
              <a:rPr lang="en-US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Lines connecting nodes showing the flow from one decision to another.</a:t>
            </a:r>
          </a:p>
          <a:p>
            <a:pPr marL="342900" indent="-342900" algn="just" rtl="0" fontAlgn="base">
              <a:buFont typeface="+mj-lt"/>
              <a:buAutoNum type="arabicPeriod"/>
            </a:pPr>
            <a:r>
              <a:rPr lang="en-US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Leaf Nodes</a:t>
            </a:r>
            <a:r>
              <a:rPr lang="en-US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End points of the tree where the final decision or prediction is made.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4976F2C-F59A-DEAA-E1BD-274FA7A677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205420"/>
            <a:ext cx="6156176" cy="346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28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1700808" y="346602"/>
            <a:ext cx="5742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fr-FR" dirty="0"/>
              <a:t>Pure and Impure </a:t>
            </a:r>
            <a:r>
              <a:rPr lang="fr-FR" dirty="0" err="1"/>
              <a:t>Nodes</a:t>
            </a:r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2EB7CB-7C92-D313-5C85-DC2DA9F898B5}"/>
              </a:ext>
            </a:extLst>
          </p:cNvPr>
          <p:cNvSpPr txBox="1"/>
          <p:nvPr/>
        </p:nvSpPr>
        <p:spPr>
          <a:xfrm>
            <a:off x="467544" y="5057817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endParaRPr lang="en-US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rtl="0" fontAlgn="base">
              <a:buFont typeface="+mj-lt"/>
              <a:buAutoNum type="arabicPeriod"/>
            </a:pPr>
            <a:r>
              <a:rPr lang="en-US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Purity (Pure split or Not) ?</a:t>
            </a:r>
          </a:p>
          <a:p>
            <a:pPr marL="342900" indent="-342900" algn="just" rtl="0" fontAlgn="base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Features Selection?</a:t>
            </a:r>
            <a:endParaRPr lang="en-US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560E300-132E-EB9B-2631-2C661D66E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260598"/>
            <a:ext cx="5613224" cy="342900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9665839-6B61-66BC-77F7-3A25775C8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31378"/>
            <a:ext cx="4593659" cy="326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13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8F62FA5-95DA-025D-B6CA-B6E9E24028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" t="3778" r="15405" b="-3778"/>
          <a:stretch/>
        </p:blipFill>
        <p:spPr>
          <a:xfrm>
            <a:off x="611560" y="1340768"/>
            <a:ext cx="646276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26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02057-1536-F1E3-A6E2-87EC8BB1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cs typeface="+mn-cs"/>
              </a:rPr>
              <a:t>Validation</a:t>
            </a:r>
            <a:r>
              <a:rPr lang="fr-FR" dirty="0"/>
              <a:t>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cs typeface="+mn-cs"/>
              </a:rPr>
              <a:t>Metrics</a:t>
            </a:r>
            <a:endParaRPr lang="fr-FR" sz="3200" dirty="0">
              <a:solidFill>
                <a:srgbClr val="DE9A00"/>
              </a:solidFill>
              <a:latin typeface="Cambria" panose="02040503050406030204" charset="0"/>
              <a:cs typeface="+mn-cs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922E6BF9-854D-1F7B-5BC2-BC1A7C1F03F8}"/>
              </a:ext>
            </a:extLst>
          </p:cNvPr>
          <p:cNvSpPr/>
          <p:nvPr/>
        </p:nvSpPr>
        <p:spPr>
          <a:xfrm>
            <a:off x="899592" y="2267712"/>
            <a:ext cx="6086528" cy="2687984"/>
          </a:xfrm>
          <a:prstGeom prst="roundRect">
            <a:avLst>
              <a:gd name="adj" fmla="val 6173"/>
            </a:avLst>
          </a:prstGeom>
          <a:solidFill>
            <a:srgbClr val="E8F2F4"/>
          </a:solidFill>
          <a:ln w="9525">
            <a:solidFill>
              <a:srgbClr val="DCE5E8"/>
            </a:solidFill>
            <a:prstDash val="solid"/>
          </a:ln>
        </p:spPr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88F405-1529-271B-233B-BAFC7E5ABB27}"/>
              </a:ext>
            </a:extLst>
          </p:cNvPr>
          <p:cNvSpPr txBox="1"/>
          <p:nvPr/>
        </p:nvSpPr>
        <p:spPr>
          <a:xfrm>
            <a:off x="1943708" y="3150039"/>
            <a:ext cx="52565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Accuracy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Recall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Precision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4483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195830" y="26064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Logistic</a:t>
            </a:r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Regression</a:t>
            </a:r>
            <a:endParaRPr lang="fr-FR" sz="3200" dirty="0">
              <a:solidFill>
                <a:srgbClr val="DE9A00"/>
              </a:solidFill>
              <a:latin typeface="Cambria" panose="02040503050406030204" charset="0"/>
              <a:ea typeface="+mj-ea"/>
            </a:endParaRPr>
          </a:p>
          <a:p>
            <a:pPr algn="ctr"/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 (Confusion  Matrix)</a:t>
            </a:r>
          </a:p>
          <a:p>
            <a:pPr algn="ctr"/>
            <a:endParaRPr lang="fr-FR" sz="3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B3E6F6-B928-739F-7A65-A3198FC4445D}"/>
              </a:ext>
            </a:extLst>
          </p:cNvPr>
          <p:cNvSpPr txBox="1"/>
          <p:nvPr/>
        </p:nvSpPr>
        <p:spPr>
          <a:xfrm>
            <a:off x="611560" y="1988840"/>
            <a:ext cx="7920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confusion matrix is a table used to evaluate the performance of a classification model (like logistic regression).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3671FFE-516B-C4E2-56D6-443B370F4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445" y="2996952"/>
            <a:ext cx="4328770" cy="324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38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195830" y="26064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Logistic</a:t>
            </a:r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Regression</a:t>
            </a:r>
            <a:endParaRPr lang="fr-FR" sz="3200" dirty="0">
              <a:solidFill>
                <a:srgbClr val="DE9A00"/>
              </a:solidFill>
              <a:latin typeface="Cambria" panose="02040503050406030204" charset="0"/>
              <a:ea typeface="+mj-ea"/>
            </a:endParaRPr>
          </a:p>
          <a:p>
            <a:pPr algn="ctr"/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 (Performance </a:t>
            </a:r>
            <a:r>
              <a:rPr 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Metrics</a:t>
            </a:r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)</a:t>
            </a:r>
          </a:p>
          <a:p>
            <a:pPr algn="ctr"/>
            <a:endParaRPr lang="fr-FR" sz="3200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640D22AC-79B1-522F-D5C4-4BB85E6EFAE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0848"/>
          <a:ext cx="8229600" cy="3596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509425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585489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9458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2000" b="1" i="0" u="none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Metric</a:t>
                      </a:r>
                      <a:endParaRPr lang="fr-FR" sz="2000" b="1" i="0" u="none" kern="1200" baseline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2000" b="1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2000" b="1" i="0" u="none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Interpretation</a:t>
                      </a:r>
                      <a:endParaRPr lang="fr-FR" sz="2000" b="1" i="0" u="none" kern="1200" baseline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157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2000" b="1" i="0" u="none" kern="1200" baseline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(TP + TN) / (TP + TN + FP + FN)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800" b="0" i="0" u="none" kern="1200" baseline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% of correct predictions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59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2000" b="1" i="0" u="none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Precision</a:t>
                      </a:r>
                      <a:endParaRPr lang="fr-FR" sz="2000" b="1" i="0" u="none" kern="1200" baseline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TP / (TP + FP)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% of predicted positives that are actually 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821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2000" b="1" i="0" u="none" kern="1200" baseline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Recall (Sensitivity)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800" b="0" i="0" u="none" kern="1200" baseline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TP / (TP + FN)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% of actual positives correctly detected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77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2000" b="1" i="0" u="none" kern="1200" baseline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Specificity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800" b="0" i="0" u="none" kern="1200" baseline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TN / (TN + FP)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% of actual negatives correctly detected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992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2000" b="1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F1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 × (</a:t>
                      </a:r>
                      <a:r>
                        <a:rPr lang="fr-FR" sz="1800" b="0" i="0" u="none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Precision</a:t>
                      </a:r>
                      <a:r>
                        <a:rPr lang="fr-FR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× </a:t>
                      </a:r>
                      <a:r>
                        <a:rPr lang="fr-FR" sz="1800" b="0" i="0" u="none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Recall</a:t>
                      </a:r>
                      <a:r>
                        <a:rPr lang="fr-FR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) / (</a:t>
                      </a:r>
                      <a:r>
                        <a:rPr lang="fr-FR" sz="1800" b="0" i="0" u="none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Precision</a:t>
                      </a:r>
                      <a:r>
                        <a:rPr lang="fr-FR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fr-FR" sz="1800" b="0" i="0" u="none" kern="1200" baseline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Recall</a:t>
                      </a:r>
                      <a:r>
                        <a:rPr lang="fr-FR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800" b="0" i="0" u="none" kern="120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Harmonic mean of precision and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802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36469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3337</TotalTime>
  <Words>827</Words>
  <Application>Microsoft Office PowerPoint</Application>
  <PresentationFormat>Affichage à l'écran (4:3)</PresentationFormat>
  <Paragraphs>166</Paragraphs>
  <Slides>31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Cambria</vt:lpstr>
      <vt:lpstr>Times New Roman</vt:lpstr>
      <vt:lpstr>Traditional Arabic</vt:lpstr>
      <vt:lpstr>Wingdings</vt:lpstr>
      <vt:lpstr>Default Design</vt:lpstr>
      <vt:lpstr>Day 09: Supervised Learning   التعلم بالإشراف</vt:lpstr>
      <vt:lpstr>Présentation PowerPoint</vt:lpstr>
      <vt:lpstr>Présentation PowerPoint</vt:lpstr>
      <vt:lpstr>Présentation PowerPoint</vt:lpstr>
      <vt:lpstr>Présentation PowerPoint</vt:lpstr>
      <vt:lpstr>Scikit Learn</vt:lpstr>
      <vt:lpstr>What is Prediction?</vt:lpstr>
      <vt:lpstr>Présentation PowerPoint</vt:lpstr>
      <vt:lpstr>Train and Test (Split Function)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Regression : 3. Ridge and Lasso</vt:lpstr>
      <vt:lpstr>Présentation PowerPoint</vt:lpstr>
      <vt:lpstr>Présentation PowerPoint</vt:lpstr>
      <vt:lpstr>Validation Metrics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Validation Metrics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01: Artificial Intilligence Basics  Brahim Zirari1   September, 7, 15, 2023</dc:title>
  <dc:creator>Brahim</dc:creator>
  <cp:lastModifiedBy>brahim zirari</cp:lastModifiedBy>
  <cp:revision>129</cp:revision>
  <dcterms:created xsi:type="dcterms:W3CDTF">2023-09-07T11:11:00Z</dcterms:created>
  <dcterms:modified xsi:type="dcterms:W3CDTF">2026-09-22T13:22:25Z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2057-12.2.0.18586</vt:lpwstr>
  </property>
  <property fmtid="{D5CDD505-2E9C-101B-9397-08002B2CF9AE}" pid="3" name="ICV">
    <vt:lpwstr>CECBDBAC5B584404BBE065D2653FE0A9_13</vt:lpwstr>
  </property>
</Properties>
</file>