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425" r:id="rId2"/>
    <p:sldId id="262" r:id="rId3"/>
    <p:sldId id="261" r:id="rId4"/>
    <p:sldId id="427" r:id="rId5"/>
    <p:sldId id="442" r:id="rId6"/>
    <p:sldId id="443" r:id="rId7"/>
    <p:sldId id="424" r:id="rId8"/>
    <p:sldId id="428" r:id="rId9"/>
    <p:sldId id="429" r:id="rId10"/>
    <p:sldId id="256" r:id="rId11"/>
    <p:sldId id="257" r:id="rId12"/>
    <p:sldId id="273" r:id="rId13"/>
    <p:sldId id="275" r:id="rId14"/>
    <p:sldId id="276" r:id="rId15"/>
    <p:sldId id="277" r:id="rId16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4" userDrawn="1">
          <p15:clr>
            <a:srgbClr val="A4A3A4"/>
          </p15:clr>
        </p15:guide>
        <p15:guide id="2" pos="293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E95"/>
    <a:srgbClr val="DE9A00"/>
    <a:srgbClr val="EFDCA8"/>
    <a:srgbClr val="DED712"/>
    <a:srgbClr val="FF9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339" autoAdjust="0"/>
    <p:restoredTop sz="94660"/>
  </p:normalViewPr>
  <p:slideViewPr>
    <p:cSldViewPr showGuides="1">
      <p:cViewPr varScale="1">
        <p:scale>
          <a:sx n="80" d="100"/>
          <a:sy n="80" d="100"/>
        </p:scale>
        <p:origin x="1397" y="58"/>
      </p:cViewPr>
      <p:guideLst>
        <p:guide orient="horz" pos="2224"/>
        <p:guide pos="293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‹N°›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‹N°›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‹N°›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‹N°›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‹N°›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‹N°›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‹N°›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‹N°›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‹N°›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‹N°›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‹N°›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Date Placeholder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>
                <a:ea typeface="SimSun" panose="02010600030101010101" pitchFamily="2" charset="-122"/>
              </a:defRPr>
            </a:lvl1pPr>
          </a:lstStyle>
          <a:p>
            <a:pPr lvl="0" fontAlgn="base"/>
            <a:endParaRPr lang="zh-CN" altLang="en-US" strike="noStrike" noProof="1"/>
          </a:p>
        </p:txBody>
      </p:sp>
      <p:sp>
        <p:nvSpPr>
          <p:cNvPr id="1029" name="Footer Placeholder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>
                <a:ea typeface="SimSun" panose="02010600030101010101" pitchFamily="2" charset="-122"/>
              </a:defRPr>
            </a:lvl1pPr>
          </a:lstStyle>
          <a:p>
            <a:pPr lvl="0" fontAlgn="base"/>
            <a:endParaRPr lang="zh-CN" altLang="en-US" strike="noStrike" noProof="1"/>
          </a:p>
        </p:txBody>
      </p:sp>
      <p:sp>
        <p:nvSpPr>
          <p:cNvPr id="1030" name="Slide Number Placeholder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>
                <a:ea typeface="SimSun" panose="02010600030101010101" pitchFamily="2" charset="-122"/>
              </a:defRPr>
            </a:lvl1pPr>
          </a:lstStyle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‹N°›</a:t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C29ED8C9-B09F-27A3-9C0F-02B29A27FBAC}"/>
              </a:ext>
            </a:extLst>
          </p:cNvPr>
          <p:cNvSpPr txBox="1"/>
          <p:nvPr/>
        </p:nvSpPr>
        <p:spPr>
          <a:xfrm>
            <a:off x="1259632" y="332656"/>
            <a:ext cx="69847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3200">
                <a:solidFill>
                  <a:srgbClr val="DE9A00"/>
                </a:solidFill>
                <a:latin typeface="Cambria" panose="02040503050406030204" charset="0"/>
                <a:ea typeface="+mj-ea"/>
              </a:defRPr>
            </a:lvl1pPr>
          </a:lstStyle>
          <a:p>
            <a:r>
              <a:rPr lang="en-US" dirty="0"/>
              <a:t>KNN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0BE5A6A-D945-11DF-10ED-815F8AD596E0}"/>
              </a:ext>
            </a:extLst>
          </p:cNvPr>
          <p:cNvSpPr txBox="1"/>
          <p:nvPr/>
        </p:nvSpPr>
        <p:spPr>
          <a:xfrm>
            <a:off x="467544" y="1080040"/>
            <a:ext cx="74888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0" fontAlgn="base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Step 1: Selecting the optimal value of K;</a:t>
            </a:r>
          </a:p>
          <a:p>
            <a:pPr algn="just"/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Step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2: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Calculating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distance;</a:t>
            </a:r>
          </a:p>
          <a:p>
            <a:pPr algn="just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Step 3: Finding Nearest Neighbors;</a:t>
            </a:r>
          </a:p>
          <a:p>
            <a:pPr algn="l" fontAlgn="base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Step 4: Taking Average for Regression.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3BDEFA1-85D1-8D2E-7A27-E831482961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040" y="3356992"/>
            <a:ext cx="7329059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203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F19B3BE5-31E7-F91A-D4CF-3C706B1DF7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497" y="2226469"/>
            <a:ext cx="6527006" cy="3263504"/>
          </a:xfrm>
        </p:spPr>
      </p:pic>
    </p:spTree>
    <p:extLst>
      <p:ext uri="{BB962C8B-B14F-4D97-AF65-F5344CB8AC3E}">
        <p14:creationId xmlns:p14="http://schemas.microsoft.com/office/powerpoint/2010/main" val="1092366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C97F37-2C11-46EA-6D12-433F841E9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K-</a:t>
            </a:r>
            <a:r>
              <a:rPr lang="fr-FR" dirty="0" err="1"/>
              <a:t>Means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4B0D44A-0C63-FAA0-A8E9-98FDBE061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 fontAlgn="base"/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K-Means Clustering groups similar data points into clusters without needing labeled data. It is used to uncover hidden patterns when the goal is to organize data based on similarity.</a:t>
            </a:r>
          </a:p>
          <a:p>
            <a:pPr marL="0" indent="0">
              <a:buNone/>
            </a:pPr>
            <a:br>
              <a:rPr lang="en-US" dirty="0"/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69466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C29ED8C9-B09F-27A3-9C0F-02B29A27FBAC}"/>
              </a:ext>
            </a:extLst>
          </p:cNvPr>
          <p:cNvSpPr txBox="1"/>
          <p:nvPr/>
        </p:nvSpPr>
        <p:spPr>
          <a:xfrm>
            <a:off x="1259632" y="332656"/>
            <a:ext cx="69847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3200">
                <a:solidFill>
                  <a:srgbClr val="DE9A00"/>
                </a:solidFill>
                <a:latin typeface="Cambria" panose="02040503050406030204" charset="0"/>
                <a:ea typeface="+mj-ea"/>
              </a:defRPr>
            </a:lvl1pPr>
          </a:lstStyle>
          <a:p>
            <a:pPr algn="ctr"/>
            <a:r>
              <a:rPr lang="fr-FR" altLang="fr-FR" sz="3200" dirty="0">
                <a:solidFill>
                  <a:srgbClr val="DE9A00"/>
                </a:solidFill>
                <a:latin typeface="Cambria" panose="02040503050406030204" charset="0"/>
                <a:ea typeface="+mj-ea"/>
                <a:cs typeface="Cambria" panose="02040503050406030204" charset="0"/>
                <a:sym typeface="+mn-ea"/>
              </a:rPr>
              <a:t>How </a:t>
            </a:r>
            <a:r>
              <a:rPr lang="fr-FR" altLang="fr-FR" sz="3200" dirty="0" err="1">
                <a:solidFill>
                  <a:srgbClr val="DE9A00"/>
                </a:solidFill>
                <a:latin typeface="Cambria" panose="02040503050406030204" charset="0"/>
                <a:ea typeface="+mj-ea"/>
                <a:cs typeface="Cambria" panose="02040503050406030204" charset="0"/>
                <a:sym typeface="+mn-ea"/>
              </a:rPr>
              <a:t>does</a:t>
            </a:r>
            <a:r>
              <a:rPr lang="fr-FR" altLang="fr-FR" sz="3200" dirty="0">
                <a:solidFill>
                  <a:srgbClr val="DE9A00"/>
                </a:solidFill>
                <a:latin typeface="Cambria" panose="02040503050406030204" charset="0"/>
                <a:ea typeface="+mj-ea"/>
                <a:cs typeface="Cambria" panose="02040503050406030204" charset="0"/>
                <a:sym typeface="+mn-ea"/>
              </a:rPr>
              <a:t> </a:t>
            </a:r>
            <a:r>
              <a:rPr lang="fr-FR" altLang="fr-FR" sz="3200" dirty="0" err="1">
                <a:solidFill>
                  <a:srgbClr val="DE9A00"/>
                </a:solidFill>
                <a:latin typeface="Cambria" panose="02040503050406030204" charset="0"/>
                <a:ea typeface="+mj-ea"/>
                <a:cs typeface="Cambria" panose="02040503050406030204" charset="0"/>
                <a:sym typeface="+mn-ea"/>
              </a:rPr>
              <a:t>it</a:t>
            </a:r>
            <a:r>
              <a:rPr lang="fr-FR" altLang="fr-FR" sz="3200" dirty="0">
                <a:solidFill>
                  <a:srgbClr val="DE9A00"/>
                </a:solidFill>
                <a:latin typeface="Cambria" panose="02040503050406030204" charset="0"/>
                <a:ea typeface="+mj-ea"/>
                <a:cs typeface="Cambria" panose="02040503050406030204" charset="0"/>
                <a:sym typeface="+mn-ea"/>
              </a:rPr>
              <a:t> </a:t>
            </a:r>
            <a:r>
              <a:rPr lang="fr-FR" altLang="fr-FR" sz="3200" dirty="0" err="1">
                <a:solidFill>
                  <a:srgbClr val="DE9A00"/>
                </a:solidFill>
                <a:latin typeface="Cambria" panose="02040503050406030204" charset="0"/>
                <a:ea typeface="+mj-ea"/>
                <a:cs typeface="Cambria" panose="02040503050406030204" charset="0"/>
                <a:sym typeface="+mn-ea"/>
              </a:rPr>
              <a:t>work</a:t>
            </a:r>
            <a:r>
              <a:rPr lang="fr-FR" altLang="fr-FR" sz="3200" dirty="0">
                <a:solidFill>
                  <a:srgbClr val="DE9A00"/>
                </a:solidFill>
                <a:latin typeface="Cambria" panose="02040503050406030204" charset="0"/>
                <a:ea typeface="+mj-ea"/>
                <a:cs typeface="Cambria" panose="02040503050406030204" charset="0"/>
                <a:sym typeface="+mn-ea"/>
              </a:rPr>
              <a:t>?</a:t>
            </a:r>
            <a:endParaRPr lang="ar-DZ" altLang="fr-FR" sz="3200" dirty="0">
              <a:solidFill>
                <a:srgbClr val="DE9A00"/>
              </a:solidFill>
              <a:latin typeface="Cambria" panose="02040503050406030204" charset="0"/>
              <a:ea typeface="+mj-ea"/>
              <a:cs typeface="Cambria" panose="02040503050406030204" charset="0"/>
              <a:sym typeface="+mn-ea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D4F553B-755B-A812-5F36-182F02DE1E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3802463"/>
            <a:ext cx="6408712" cy="2825659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DEBC5B62-3666-86AE-61F0-A2E8079B2F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7037" y="1017468"/>
            <a:ext cx="4776056" cy="2665908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52ADAFD0-446D-6CAC-3A92-C249AE3E392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654" y="1272245"/>
            <a:ext cx="3798676" cy="2365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190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BC5946-A37F-7787-D3B5-14F2B8B67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ELBOW Method</a:t>
            </a:r>
          </a:p>
        </p:txBody>
      </p:sp>
      <p:pic>
        <p:nvPicPr>
          <p:cNvPr id="1026" name="Picture 2" descr="What is k-means clustering? | IBM">
            <a:extLst>
              <a:ext uri="{FF2B5EF4-FFF2-40B4-BE49-F238E27FC236}">
                <a16:creationId xmlns:a16="http://schemas.microsoft.com/office/drawing/2014/main" id="{CE5C6AA1-B42D-53BC-42F3-C21CCB97DE5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922" y="1600200"/>
            <a:ext cx="8046156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2993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BC5946-A37F-7787-D3B5-14F2B8B67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ELBOW Method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32FF781-F813-A070-668A-1FFB01368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 fontAlgn="base"/>
            <a:r>
              <a:rPr lang="en-US" sz="2000" b="0" i="0" dirty="0">
                <a:solidFill>
                  <a:srgbClr val="273239"/>
                </a:solidFill>
                <a:effectLst/>
                <a:latin typeface="Nunito" pitchFamily="2" charset="0"/>
              </a:rPr>
              <a:t>Correspondence analysis is a statistical methodology utilized for identifying and visualizing the hidden patterns and associations between </a:t>
            </a:r>
            <a:r>
              <a:rPr lang="en-US" sz="2000" b="1" i="0" dirty="0">
                <a:solidFill>
                  <a:srgbClr val="273239"/>
                </a:solidFill>
                <a:effectLst/>
                <a:latin typeface="Nunito" pitchFamily="2" charset="0"/>
              </a:rPr>
              <a:t>categorical</a:t>
            </a:r>
            <a:r>
              <a:rPr lang="en-US" sz="2000" b="0" i="0" dirty="0">
                <a:solidFill>
                  <a:srgbClr val="273239"/>
                </a:solidFill>
                <a:effectLst/>
                <a:latin typeface="Nunito" pitchFamily="2" charset="0"/>
              </a:rPr>
              <a:t> </a:t>
            </a:r>
            <a:r>
              <a:rPr lang="en-US" sz="2000" b="1" i="0" dirty="0">
                <a:solidFill>
                  <a:srgbClr val="273239"/>
                </a:solidFill>
                <a:effectLst/>
                <a:latin typeface="Nunito" pitchFamily="2" charset="0"/>
              </a:rPr>
              <a:t>variables (Nominal and Ordinal)</a:t>
            </a:r>
            <a:r>
              <a:rPr lang="en-US" sz="2000" b="0" i="0" dirty="0">
                <a:solidFill>
                  <a:srgbClr val="273239"/>
                </a:solidFill>
                <a:effectLst/>
                <a:latin typeface="Nunito" pitchFamily="2" charset="0"/>
              </a:rPr>
              <a:t> in multivariate data where variables have discrete categories rather than numerical values·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1318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CE93D2-DEB7-747D-3D90-EDD0A7196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fr-FR" sz="3200" dirty="0">
                <a:solidFill>
                  <a:srgbClr val="DE9A00"/>
                </a:solidFill>
                <a:latin typeface="Cambria" panose="02040503050406030204" charset="0"/>
                <a:cs typeface="+mn-cs"/>
              </a:rPr>
              <a:t>Ridge and Lasso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D7F0C48-5A1F-98C1-2AAB-CA3B1FC35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01FEE78-E203-A04C-B9DA-701898B170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788" y="1340768"/>
            <a:ext cx="8388424" cy="4718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1959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C29ED8C9-B09F-27A3-9C0F-02B29A27FBAC}"/>
              </a:ext>
            </a:extLst>
          </p:cNvPr>
          <p:cNvSpPr txBox="1"/>
          <p:nvPr/>
        </p:nvSpPr>
        <p:spPr>
          <a:xfrm>
            <a:off x="2286000" y="332656"/>
            <a:ext cx="4572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3200">
                <a:solidFill>
                  <a:srgbClr val="DE9A00"/>
                </a:solidFill>
                <a:latin typeface="Cambria" panose="02040503050406030204" charset="0"/>
                <a:ea typeface="+mj-ea"/>
              </a:defRPr>
            </a:lvl1pPr>
          </a:lstStyle>
          <a:p>
            <a:r>
              <a:rPr lang="fr-FR" dirty="0"/>
              <a:t>How to correct </a:t>
            </a:r>
            <a:r>
              <a:rPr lang="fr-FR" dirty="0" err="1"/>
              <a:t>overfitting</a:t>
            </a:r>
            <a:r>
              <a:rPr lang="fr-FR" dirty="0"/>
              <a:t>?</a:t>
            </a:r>
            <a:endParaRPr lang="en-GB" dirty="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32198534-8F80-7C8E-55D3-0BB3FE0CEF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605" y="1772816"/>
            <a:ext cx="8557970" cy="1947322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2D09CF89-5159-E394-D327-F129209788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269" y="4365104"/>
            <a:ext cx="8906642" cy="1778633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8DF79AA7-1E16-D7DD-D28F-50ADF58AB50D}"/>
              </a:ext>
            </a:extLst>
          </p:cNvPr>
          <p:cNvSpPr txBox="1"/>
          <p:nvPr/>
        </p:nvSpPr>
        <p:spPr>
          <a:xfrm>
            <a:off x="683568" y="1493337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Lasso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20AB094-F801-7E15-F8ED-FC937E062071}"/>
              </a:ext>
            </a:extLst>
          </p:cNvPr>
          <p:cNvSpPr txBox="1"/>
          <p:nvPr/>
        </p:nvSpPr>
        <p:spPr>
          <a:xfrm>
            <a:off x="670273" y="3995772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Ridge</a:t>
            </a:r>
          </a:p>
        </p:txBody>
      </p:sp>
    </p:spTree>
    <p:extLst>
      <p:ext uri="{BB962C8B-B14F-4D97-AF65-F5344CB8AC3E}">
        <p14:creationId xmlns:p14="http://schemas.microsoft.com/office/powerpoint/2010/main" val="1883046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C29ED8C9-B09F-27A3-9C0F-02B29A27FBAC}"/>
              </a:ext>
            </a:extLst>
          </p:cNvPr>
          <p:cNvSpPr txBox="1"/>
          <p:nvPr/>
        </p:nvSpPr>
        <p:spPr>
          <a:xfrm>
            <a:off x="2286000" y="332656"/>
            <a:ext cx="4572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3200">
                <a:solidFill>
                  <a:srgbClr val="DE9A00"/>
                </a:solidFill>
                <a:latin typeface="Cambria" panose="02040503050406030204" charset="0"/>
                <a:ea typeface="+mj-ea"/>
              </a:defRPr>
            </a:lvl1pPr>
          </a:lstStyle>
          <a:p>
            <a:r>
              <a:rPr lang="fr-FR" dirty="0"/>
              <a:t>How to correct </a:t>
            </a:r>
            <a:r>
              <a:rPr lang="fr-FR" dirty="0" err="1"/>
              <a:t>underfitting</a:t>
            </a:r>
            <a:r>
              <a:rPr lang="fr-FR" dirty="0"/>
              <a:t>?</a:t>
            </a:r>
            <a:endParaRPr lang="en-GB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45264E8-8B43-B6F6-3896-59D9FA0A4196}"/>
              </a:ext>
            </a:extLst>
          </p:cNvPr>
          <p:cNvSpPr txBox="1"/>
          <p:nvPr/>
        </p:nvSpPr>
        <p:spPr>
          <a:xfrm>
            <a:off x="899592" y="1916832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Optimize</a:t>
            </a:r>
            <a:r>
              <a:rPr lang="fr-FR" dirty="0"/>
              <a:t> </a:t>
            </a:r>
            <a:r>
              <a:rPr lang="fr-FR" dirty="0" err="1"/>
              <a:t>Hyperparameters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Clean </a:t>
            </a:r>
            <a:r>
              <a:rPr lang="fr-FR" dirty="0" err="1"/>
              <a:t>your</a:t>
            </a:r>
            <a:r>
              <a:rPr lang="fr-FR" dirty="0"/>
              <a:t>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Features</a:t>
            </a:r>
            <a:r>
              <a:rPr lang="fr-FR" dirty="0"/>
              <a:t> engineering</a:t>
            </a:r>
          </a:p>
        </p:txBody>
      </p:sp>
    </p:spTree>
    <p:extLst>
      <p:ext uri="{BB962C8B-B14F-4D97-AF65-F5344CB8AC3E}">
        <p14:creationId xmlns:p14="http://schemas.microsoft.com/office/powerpoint/2010/main" val="1513554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0284E5-3188-D5B6-43D4-B8E5D4C7FA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Machine Learning Techniques</a:t>
            </a:r>
          </a:p>
        </p:txBody>
      </p:sp>
    </p:spTree>
    <p:extLst>
      <p:ext uri="{BB962C8B-B14F-4D97-AF65-F5344CB8AC3E}">
        <p14:creationId xmlns:p14="http://schemas.microsoft.com/office/powerpoint/2010/main" val="431347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C4FECC-9EE6-E1DE-D200-1E021FC00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Machine Learning Techniques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86FD6C-411F-626B-D96F-CA3F45836EBF}"/>
              </a:ext>
            </a:extLst>
          </p:cNvPr>
          <p:cNvSpPr/>
          <p:nvPr/>
        </p:nvSpPr>
        <p:spPr>
          <a:xfrm>
            <a:off x="3500438" y="2289572"/>
            <a:ext cx="1971675" cy="6607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 Techniques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CFF80F-38A9-BB81-8636-03517F32A022}"/>
              </a:ext>
            </a:extLst>
          </p:cNvPr>
          <p:cNvSpPr/>
          <p:nvPr/>
        </p:nvSpPr>
        <p:spPr>
          <a:xfrm>
            <a:off x="6372225" y="4032647"/>
            <a:ext cx="1971675" cy="6607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 Validation</a:t>
            </a:r>
          </a:p>
          <a:p>
            <a:pPr algn="ctr"/>
            <a:endParaRPr lang="en-GB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9B67F5-B669-4B8D-2620-0C9B2C5E1FF5}"/>
              </a:ext>
            </a:extLst>
          </p:cNvPr>
          <p:cNvSpPr/>
          <p:nvPr/>
        </p:nvSpPr>
        <p:spPr>
          <a:xfrm>
            <a:off x="3500438" y="4032647"/>
            <a:ext cx="1971675" cy="6607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Bagging and Boosting</a:t>
            </a:r>
            <a:endParaRPr lang="en-GB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7A7864-FF53-D5EF-50B4-E7996CE647F1}"/>
              </a:ext>
            </a:extLst>
          </p:cNvPr>
          <p:cNvSpPr/>
          <p:nvPr/>
        </p:nvSpPr>
        <p:spPr>
          <a:xfrm>
            <a:off x="628650" y="4032647"/>
            <a:ext cx="1971675" cy="6607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Regularization</a:t>
            </a:r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7E771B49-FB02-348D-F65D-76D1A90804F7}"/>
              </a:ext>
            </a:extLst>
          </p:cNvPr>
          <p:cNvCxnSpPr>
            <a:stCxn id="4" idx="1"/>
            <a:endCxn id="7" idx="0"/>
          </p:cNvCxnSpPr>
          <p:nvPr/>
        </p:nvCxnSpPr>
        <p:spPr>
          <a:xfrm flipH="1">
            <a:off x="1614488" y="2619971"/>
            <a:ext cx="1885950" cy="1412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EB0FDC86-281B-C05D-A747-A6C140370D78}"/>
              </a:ext>
            </a:extLst>
          </p:cNvPr>
          <p:cNvCxnSpPr>
            <a:stCxn id="4" idx="2"/>
            <a:endCxn id="6" idx="0"/>
          </p:cNvCxnSpPr>
          <p:nvPr/>
        </p:nvCxnSpPr>
        <p:spPr>
          <a:xfrm>
            <a:off x="4486275" y="2950369"/>
            <a:ext cx="0" cy="10822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00404FB9-098E-50A9-18AC-A9A384CFAE60}"/>
              </a:ext>
            </a:extLst>
          </p:cNvPr>
          <p:cNvCxnSpPr>
            <a:stCxn id="4" idx="3"/>
            <a:endCxn id="5" idx="0"/>
          </p:cNvCxnSpPr>
          <p:nvPr/>
        </p:nvCxnSpPr>
        <p:spPr>
          <a:xfrm>
            <a:off x="5472113" y="2619971"/>
            <a:ext cx="1885950" cy="1412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1952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C29ED8C9-B09F-27A3-9C0F-02B29A27FBAC}"/>
              </a:ext>
            </a:extLst>
          </p:cNvPr>
          <p:cNvSpPr txBox="1"/>
          <p:nvPr/>
        </p:nvSpPr>
        <p:spPr>
          <a:xfrm>
            <a:off x="2789873" y="1052737"/>
            <a:ext cx="3429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400" dirty="0">
                <a:solidFill>
                  <a:srgbClr val="DE9A00"/>
                </a:solidFill>
                <a:latin typeface="Cambria" panose="02040503050406030204" charset="0"/>
                <a:ea typeface="+mj-ea"/>
              </a:rPr>
              <a:t>Cross Validation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E4EFABA8-0FC9-C838-4F71-EF105F0AAC96}"/>
              </a:ext>
            </a:extLst>
          </p:cNvPr>
          <p:cNvSpPr txBox="1"/>
          <p:nvPr/>
        </p:nvSpPr>
        <p:spPr>
          <a:xfrm>
            <a:off x="1601670" y="1862827"/>
            <a:ext cx="594066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Cross-validation is a technique used to check how well a machine learning model performs on unseen data while preventing overfitting. It works by:</a:t>
            </a:r>
          </a:p>
          <a:p>
            <a:pPr algn="just"/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14313" indent="-214313" algn="just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Splitting the dataset into several parts.</a:t>
            </a:r>
          </a:p>
          <a:p>
            <a:pPr marL="214313" indent="-214313" algn="just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Training the model on some parts and testing it on the remaining part.</a:t>
            </a:r>
          </a:p>
          <a:p>
            <a:pPr marL="214313" indent="-214313" algn="just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Repeating this resampling process multiple times by choosing different parts of the dataset.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2C50CD8-CFCA-0A66-D552-8460D566F5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4653136"/>
            <a:ext cx="3723910" cy="1845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3677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C29ED8C9-B09F-27A3-9C0F-02B29A27FBAC}"/>
              </a:ext>
            </a:extLst>
          </p:cNvPr>
          <p:cNvSpPr txBox="1"/>
          <p:nvPr/>
        </p:nvSpPr>
        <p:spPr>
          <a:xfrm>
            <a:off x="2789873" y="1052737"/>
            <a:ext cx="3429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400" dirty="0">
                <a:solidFill>
                  <a:srgbClr val="DE9A00"/>
                </a:solidFill>
                <a:latin typeface="Cambria" panose="02040503050406030204" charset="0"/>
                <a:ea typeface="+mj-ea"/>
              </a:rPr>
              <a:t>Types of Cross Validation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E4EFABA8-0FC9-C838-4F71-EF105F0AAC96}"/>
              </a:ext>
            </a:extLst>
          </p:cNvPr>
          <p:cNvSpPr txBox="1"/>
          <p:nvPr/>
        </p:nvSpPr>
        <p:spPr>
          <a:xfrm>
            <a:off x="1601670" y="1862826"/>
            <a:ext cx="594066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K-Fold</a:t>
            </a:r>
          </a:p>
          <a:p>
            <a:pPr algn="ctr"/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K-Fold Cross Validation splits the dataset into k equal-sized folds. The model is trained on k-1 folds and tested on the remaining fold. This process is repeated k times each time using a different fold for testing.</a:t>
            </a:r>
          </a:p>
          <a:p>
            <a:r>
              <a:rPr lang="en-US" b="1" u="sng" dirty="0">
                <a:latin typeface="Cambria" panose="02040503050406030204" pitchFamily="18" charset="0"/>
                <a:ea typeface="Cambria" panose="02040503050406030204" pitchFamily="18" charset="0"/>
              </a:rPr>
              <a:t>Disadvantages:</a:t>
            </a:r>
          </a:p>
          <a:p>
            <a:endParaRPr lang="en-US" b="1" u="sng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57175" indent="-257175">
              <a:buFont typeface="+mj-lt"/>
              <a:buAutoNum type="arabicPeriod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Low accuracy  in case unbalanced data.</a:t>
            </a:r>
          </a:p>
          <a:p>
            <a:pPr marL="257175" indent="-257175">
              <a:buFont typeface="+mj-lt"/>
              <a:buAutoNum type="arabicPeriod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57175" indent="-257175">
              <a:buFont typeface="+mj-lt"/>
              <a:buAutoNum type="arabicPeriod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57175" indent="-257175">
              <a:buFont typeface="+mj-lt"/>
              <a:buAutoNum type="arabicPeriod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57175" indent="-257175">
              <a:buFont typeface="+mj-lt"/>
              <a:buAutoNum type="arabicPeriod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57175" indent="-257175">
              <a:buFont typeface="+mj-lt"/>
              <a:buAutoNum type="arabicPeriod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57175" indent="-257175">
              <a:buFont typeface="+mj-lt"/>
              <a:buAutoNum type="arabicPeriod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57175" indent="-257175">
              <a:buFont typeface="+mj-lt"/>
              <a:buAutoNum type="arabicPeriod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57175" indent="-257175">
              <a:buFont typeface="+mj-lt"/>
              <a:buAutoNum type="arabicPeriod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AF64205-35EA-AA27-75E6-7B3E974F808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187"/>
          <a:stretch/>
        </p:blipFill>
        <p:spPr>
          <a:xfrm>
            <a:off x="2735796" y="3624486"/>
            <a:ext cx="4326350" cy="23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2118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C29ED8C9-B09F-27A3-9C0F-02B29A27FBAC}"/>
              </a:ext>
            </a:extLst>
          </p:cNvPr>
          <p:cNvSpPr txBox="1"/>
          <p:nvPr/>
        </p:nvSpPr>
        <p:spPr>
          <a:xfrm>
            <a:off x="2789873" y="1052737"/>
            <a:ext cx="3429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400" dirty="0">
                <a:solidFill>
                  <a:srgbClr val="DE9A00"/>
                </a:solidFill>
                <a:latin typeface="Cambria" panose="02040503050406030204" charset="0"/>
                <a:ea typeface="+mj-ea"/>
              </a:rPr>
              <a:t>Types of Cross Validation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E4EFABA8-0FC9-C838-4F71-EF105F0AAC96}"/>
              </a:ext>
            </a:extLst>
          </p:cNvPr>
          <p:cNvSpPr txBox="1"/>
          <p:nvPr/>
        </p:nvSpPr>
        <p:spPr>
          <a:xfrm>
            <a:off x="1601670" y="1862827"/>
            <a:ext cx="594066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Stratified K Fold Cross Validation</a:t>
            </a:r>
          </a:p>
          <a:p>
            <a:pPr algn="ctr"/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Stratified K-Fold Cross Validation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 is a technique used for evaluating a model. It is particularly useful for classification problems in which the class labels are not evenly distributed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i.e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data is imbalanced. It is a enhanced version K Fold. Key difference is that it uses 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stratification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 which allows original distribution of each class to be maintained across each fold.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57175" indent="-257175">
              <a:buFont typeface="+mj-lt"/>
              <a:buAutoNum type="arabicPeriod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57175" indent="-257175">
              <a:buFont typeface="+mj-lt"/>
              <a:buAutoNum type="arabicPeriod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57175" indent="-257175">
              <a:buFont typeface="+mj-lt"/>
              <a:buAutoNum type="arabicPeriod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57175" indent="-257175">
              <a:buFont typeface="+mj-lt"/>
              <a:buAutoNum type="arabicPeriod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57175" indent="-257175">
              <a:buFont typeface="+mj-lt"/>
              <a:buAutoNum type="arabicPeriod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57175" indent="-257175">
              <a:buFont typeface="+mj-lt"/>
              <a:buAutoNum type="arabicPeriod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57175" indent="-257175">
              <a:buFont typeface="+mj-lt"/>
              <a:buAutoNum type="arabicPeriod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74453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C29ED8C9-B09F-27A3-9C0F-02B29A27FBAC}"/>
              </a:ext>
            </a:extLst>
          </p:cNvPr>
          <p:cNvSpPr txBox="1"/>
          <p:nvPr/>
        </p:nvSpPr>
        <p:spPr>
          <a:xfrm>
            <a:off x="2789873" y="1052737"/>
            <a:ext cx="3429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400" dirty="0">
                <a:solidFill>
                  <a:srgbClr val="DE9A00"/>
                </a:solidFill>
                <a:latin typeface="Cambria" panose="02040503050406030204" charset="0"/>
                <a:ea typeface="+mj-ea"/>
              </a:rPr>
              <a:t>Types of Cross Validation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E4EFABA8-0FC9-C838-4F71-EF105F0AAC96}"/>
              </a:ext>
            </a:extLst>
          </p:cNvPr>
          <p:cNvSpPr txBox="1"/>
          <p:nvPr/>
        </p:nvSpPr>
        <p:spPr>
          <a:xfrm>
            <a:off x="1601670" y="1862827"/>
            <a:ext cx="594066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Time Series Cross Validation</a:t>
            </a:r>
          </a:p>
          <a:p>
            <a:pPr algn="ctr"/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Time Series Cross-Validation extends traditional cross-validation techniques to handle the temporal structure inherent in time series data. It ensures that the model is evaluated on past data and tested on future data, mimicking real-world scenarios.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57175" indent="-257175">
              <a:buFont typeface="+mj-lt"/>
              <a:buAutoNum type="arabicPeriod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57175" indent="-257175">
              <a:buFont typeface="+mj-lt"/>
              <a:buAutoNum type="arabicPeriod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57175" indent="-257175">
              <a:buFont typeface="+mj-lt"/>
              <a:buAutoNum type="arabicPeriod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57175" indent="-257175">
              <a:buFont typeface="+mj-lt"/>
              <a:buAutoNum type="arabicPeriod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57175" indent="-257175">
              <a:buFont typeface="+mj-lt"/>
              <a:buAutoNum type="arabicPeriod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57175" indent="-257175">
              <a:buFont typeface="+mj-lt"/>
              <a:buAutoNum type="arabicPeriod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57175" indent="-257175">
              <a:buFont typeface="+mj-lt"/>
              <a:buAutoNum type="arabicPeriod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DF6EC39-1D69-82E3-42B9-5900B6925E6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873" y="4313202"/>
            <a:ext cx="4050450" cy="2253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412335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3714</TotalTime>
  <Words>383</Words>
  <Application>Microsoft Office PowerPoint</Application>
  <PresentationFormat>Affichage à l'écran (4:3)</PresentationFormat>
  <Paragraphs>71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Cambria</vt:lpstr>
      <vt:lpstr>Nunito</vt:lpstr>
      <vt:lpstr>Times New Roman</vt:lpstr>
      <vt:lpstr>Default Design</vt:lpstr>
      <vt:lpstr>Présentation PowerPoint</vt:lpstr>
      <vt:lpstr>Présentation PowerPoint</vt:lpstr>
      <vt:lpstr>K-Means</vt:lpstr>
      <vt:lpstr>Présentation PowerPoint</vt:lpstr>
      <vt:lpstr>ELBOW Method</vt:lpstr>
      <vt:lpstr>ELBOW Method</vt:lpstr>
      <vt:lpstr>Ridge and Lasso</vt:lpstr>
      <vt:lpstr>Présentation PowerPoint</vt:lpstr>
      <vt:lpstr>Présentation PowerPoint</vt:lpstr>
      <vt:lpstr>Machine Learning Techniques</vt:lpstr>
      <vt:lpstr>Machine Learning Techniques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01: Artificial Intilligence Basics  Brahim Zirari1   September, 7, 15, 2023</dc:title>
  <dc:creator>Brahim</dc:creator>
  <cp:lastModifiedBy>brahim zirari</cp:lastModifiedBy>
  <cp:revision>131</cp:revision>
  <dcterms:created xsi:type="dcterms:W3CDTF">2023-09-07T11:11:00Z</dcterms:created>
  <dcterms:modified xsi:type="dcterms:W3CDTF">2026-09-10T16:18:12Z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2057-12.2.0.18586</vt:lpwstr>
  </property>
  <property fmtid="{D5CDD505-2E9C-101B-9397-08002B2CF9AE}" pid="3" name="ICV">
    <vt:lpwstr>CECBDBAC5B584404BBE065D2653FE0A9_13</vt:lpwstr>
  </property>
</Properties>
</file>